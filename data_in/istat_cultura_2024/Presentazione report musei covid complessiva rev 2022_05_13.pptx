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7.xml" ContentType="application/vnd.openxmlformats-officedocument.themeOverr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8.xml" ContentType="application/vnd.openxmlformats-officedocument.themeOverride+xml"/>
  <Override PartName="/ppt/drawings/drawing1.xml" ContentType="application/vnd.openxmlformats-officedocument.drawingml.chartshapes+xml"/>
  <Override PartName="/ppt/theme/themeOverride9.xml" ContentType="application/vnd.openxmlformats-officedocument.themeOverr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8.xml" ContentType="application/vnd.openxmlformats-officedocument.presentationml.notesSlide+xml"/>
  <Override PartName="/ppt/charts/chartEx2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theme/themeOverride12.xml" ContentType="application/vnd.openxmlformats-officedocument.themeOverr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15.xml" ContentType="application/vnd.openxmlformats-officedocument.themeOverride+xml"/>
  <Override PartName="/ppt/drawings/drawing2.xml" ContentType="application/vnd.openxmlformats-officedocument.drawingml.chartshapes+xml"/>
  <Override PartName="/ppt/theme/themeOverride16.xml" ContentType="application/vnd.openxmlformats-officedocument.themeOverr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17.xml" ContentType="application/vnd.openxmlformats-officedocument.themeOverride+xml"/>
  <Override PartName="/ppt/charts/chart7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20.xml" ContentType="application/vnd.openxmlformats-officedocument.themeOverride+xml"/>
  <Override PartName="/ppt/charts/chart9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notesSlides/notesSlide13.xml" ContentType="application/vnd.openxmlformats-officedocument.presentationml.notesSlide+xml"/>
  <Override PartName="/ppt/charts/chart10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23.xml" ContentType="application/vnd.openxmlformats-officedocument.themeOverride+xml"/>
  <Override PartName="/ppt/charts/chart11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4.xml" ContentType="application/vnd.openxmlformats-officedocument.presentationml.notesSlide+xml"/>
  <Override PartName="/ppt/charts/chart12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heme/themeOverride24.xml" ContentType="application/vnd.openxmlformats-officedocument.themeOverride+xml"/>
  <Override PartName="/ppt/charts/chart13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4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heme/themeOverride25.xml" ContentType="application/vnd.openxmlformats-officedocument.themeOverride+xml"/>
  <Override PartName="/ppt/notesSlides/notesSlide15.xml" ContentType="application/vnd.openxmlformats-officedocument.presentationml.notesSlide+xml"/>
  <Override PartName="/ppt/charts/chart15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notesSlides/notesSlide16.xml" ContentType="application/vnd.openxmlformats-officedocument.presentationml.notesSlide+xml"/>
  <Override PartName="/ppt/charts/chart16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theme/themeOverride28.xml" ContentType="application/vnd.openxmlformats-officedocument.themeOverride+xml"/>
  <Override PartName="/ppt/charts/chart17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notesSlides/notesSlide17.xml" ContentType="application/vnd.openxmlformats-officedocument.presentationml.notesSlide+xml"/>
  <Override PartName="/ppt/theme/themeOverride31.xml" ContentType="application/vnd.openxmlformats-officedocument.themeOverride+xml"/>
  <Override PartName="/ppt/notesSlides/notesSlide18.xml" ContentType="application/vnd.openxmlformats-officedocument.presentationml.notesSlide+xml"/>
  <Override PartName="/ppt/comments/comment1.xml" ContentType="application/vnd.openxmlformats-officedocument.presentationml.comments+xml"/>
  <Override PartName="/ppt/theme/themeOverride32.xml" ContentType="application/vnd.openxmlformats-officedocument.themeOverride+xml"/>
  <Override PartName="/ppt/notesSlides/notesSlide19.xml" ContentType="application/vnd.openxmlformats-officedocument.presentationml.notesSlide+xml"/>
  <Override PartName="/ppt/charts/chart18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theme/themeOverride33.xml" ContentType="application/vnd.openxmlformats-officedocument.themeOverride+xml"/>
  <Override PartName="/ppt/drawings/drawing3.xml" ContentType="application/vnd.openxmlformats-officedocument.drawingml.chartshapes+xml"/>
  <Override PartName="/ppt/comments/comment2.xml" ContentType="application/vnd.openxmlformats-officedocument.presentationml.comments+xml"/>
  <Override PartName="/ppt/theme/themeOverride34.xml" ContentType="application/vnd.openxmlformats-officedocument.themeOverride+xml"/>
  <Override PartName="/ppt/notesSlides/notesSlide20.xml" ContentType="application/vnd.openxmlformats-officedocument.presentationml.notesSlide+xml"/>
  <Override PartName="/ppt/charts/chart19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theme/themeOverride35.xml" ContentType="application/vnd.openxmlformats-officedocument.themeOverride+xml"/>
  <Override PartName="/ppt/charts/chart20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theme/themeOverride36.xml" ContentType="application/vnd.openxmlformats-officedocument.themeOverride+xml"/>
  <Override PartName="/ppt/theme/themeOverride37.xml" ContentType="application/vnd.openxmlformats-officedocument.themeOverride+xml"/>
  <Override PartName="/ppt/notesSlides/notesSlide21.xml" ContentType="application/vnd.openxmlformats-officedocument.presentationml.notesSlide+xml"/>
  <Override PartName="/ppt/charts/chart21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theme/themeOverride38.xml" ContentType="application/vnd.openxmlformats-officedocument.themeOverride+xml"/>
  <Override PartName="/ppt/drawings/drawing4.xml" ContentType="application/vnd.openxmlformats-officedocument.drawingml.chartshapes+xml"/>
  <Override PartName="/ppt/notesSlides/notesSlide22.xml" ContentType="application/vnd.openxmlformats-officedocument.presentationml.notesSlide+xml"/>
  <Override PartName="/ppt/charts/chart22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heme/themeOverride39.xml" ContentType="application/vnd.openxmlformats-officedocument.themeOverride+xml"/>
  <Override PartName="/ppt/charts/chart23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theme/themeOverride40.xml" ContentType="application/vnd.openxmlformats-officedocument.themeOverride+xml"/>
  <Override PartName="/ppt/notesSlides/notesSlide23.xml" ContentType="application/vnd.openxmlformats-officedocument.presentationml.notesSlide+xml"/>
  <Override PartName="/ppt/charts/chart24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theme/themeOverride41.xml" ContentType="application/vnd.openxmlformats-officedocument.themeOverride+xml"/>
  <Override PartName="/ppt/charts/chart25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theme/themeOverride42.xml" ContentType="application/vnd.openxmlformats-officedocument.themeOverride+xml"/>
  <Override PartName="/ppt/theme/themeOverride43.xml" ContentType="application/vnd.openxmlformats-officedocument.themeOverride+xml"/>
  <Override PartName="/ppt/notesSlides/notesSlide24.xml" ContentType="application/vnd.openxmlformats-officedocument.presentationml.notesSlide+xml"/>
  <Override PartName="/ppt/charts/chart26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theme/themeOverride44.xml" ContentType="application/vnd.openxmlformats-officedocument.themeOverride+xml"/>
  <Override PartName="/ppt/theme/themeOverride45.xml" ContentType="application/vnd.openxmlformats-officedocument.themeOverride+xml"/>
  <Override PartName="/ppt/notesSlides/notesSlide25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theme/themeOverride46.xml" ContentType="application/vnd.openxmlformats-officedocument.themeOverride+xml"/>
  <Override PartName="/ppt/charts/chart28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theme/themeOverride47.xml" ContentType="application/vnd.openxmlformats-officedocument.themeOverride+xml"/>
  <Override PartName="/ppt/drawings/drawing5.xml" ContentType="application/vnd.openxmlformats-officedocument.drawingml.chartshapes+xml"/>
  <Override PartName="/ppt/theme/themeOverride48.xml" ContentType="application/vnd.openxmlformats-officedocument.themeOverride+xml"/>
  <Override PartName="/ppt/notesSlides/notesSlide26.xml" ContentType="application/vnd.openxmlformats-officedocument.presentationml.notesSlide+xml"/>
  <Override PartName="/ppt/charts/chart29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theme/themeOverride49.xml" ContentType="application/vnd.openxmlformats-officedocument.themeOverride+xml"/>
  <Override PartName="/ppt/charts/chart30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heme/themeOverride50.xml" ContentType="application/vnd.openxmlformats-officedocument.themeOverride+xml"/>
  <Override PartName="/ppt/theme/themeOverride51.xml" ContentType="application/vnd.openxmlformats-officedocument.themeOverride+xml"/>
  <Override PartName="/ppt/notesSlides/notesSlide27.xml" ContentType="application/vnd.openxmlformats-officedocument.presentationml.notesSlide+xml"/>
  <Override PartName="/ppt/charts/chart31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theme/themeOverride52.xml" ContentType="application/vnd.openxmlformats-officedocument.themeOverride+xml"/>
  <Override PartName="/ppt/notesSlides/notesSlide28.xml" ContentType="application/vnd.openxmlformats-officedocument.presentationml.notesSlide+xml"/>
  <Override PartName="/ppt/charts/chart32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theme/themeOverride53.xml" ContentType="application/vnd.openxmlformats-officedocument.themeOverr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33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ppt/theme/themeOverride54.xml" ContentType="application/vnd.openxmlformats-officedocument.themeOverride+xml"/>
  <Override PartName="/ppt/drawings/drawing6.xml" ContentType="application/vnd.openxmlformats-officedocument.drawingml.chartshapes+xml"/>
  <Override PartName="/ppt/notesSlides/notesSlide31.xml" ContentType="application/vnd.openxmlformats-officedocument.presentationml.notesSlide+xml"/>
  <Override PartName="/ppt/charts/chart34.xml" ContentType="application/vnd.openxmlformats-officedocument.drawingml.chart+xml"/>
  <Override PartName="/ppt/charts/style36.xml" ContentType="application/vnd.ms-office.chartstyle+xml"/>
  <Override PartName="/ppt/charts/colors36.xml" ContentType="application/vnd.ms-office.chartcolorstyle+xml"/>
  <Override PartName="/ppt/theme/themeOverride55.xml" ContentType="application/vnd.openxmlformats-officedocument.themeOverride+xml"/>
  <Override PartName="/ppt/notesSlides/notesSlide32.xml" ContentType="application/vnd.openxmlformats-officedocument.presentationml.notesSlide+xml"/>
  <Override PartName="/ppt/charts/chart35.xml" ContentType="application/vnd.openxmlformats-officedocument.drawingml.chart+xml"/>
  <Override PartName="/ppt/charts/style37.xml" ContentType="application/vnd.ms-office.chartstyle+xml"/>
  <Override PartName="/ppt/charts/colors37.xml" ContentType="application/vnd.ms-office.chartcolorstyle+xml"/>
  <Override PartName="/ppt/theme/themeOverride56.xml" ContentType="application/vnd.openxmlformats-officedocument.themeOverride+xml"/>
  <Override PartName="/ppt/notesSlides/notesSlide33.xml" ContentType="application/vnd.openxmlformats-officedocument.presentationml.notesSlide+xml"/>
  <Override PartName="/ppt/charts/chart36.xml" ContentType="application/vnd.openxmlformats-officedocument.drawingml.chart+xml"/>
  <Override PartName="/ppt/charts/style38.xml" ContentType="application/vnd.ms-office.chartstyle+xml"/>
  <Override PartName="/ppt/charts/colors38.xml" ContentType="application/vnd.ms-office.chartcolorstyle+xml"/>
  <Override PartName="/ppt/theme/themeOverride57.xml" ContentType="application/vnd.openxmlformats-officedocument.themeOverride+xml"/>
  <Override PartName="/ppt/charts/chart37.xml" ContentType="application/vnd.openxmlformats-officedocument.drawingml.chart+xml"/>
  <Override PartName="/ppt/charts/style39.xml" ContentType="application/vnd.ms-office.chartstyle+xml"/>
  <Override PartName="/ppt/charts/colors39.xml" ContentType="application/vnd.ms-office.chartcolorstyle+xml"/>
  <Override PartName="/ppt/theme/themeOverride58.xml" ContentType="application/vnd.openxmlformats-officedocument.themeOverride+xml"/>
  <Override PartName="/ppt/notesSlides/notesSlide34.xml" ContentType="application/vnd.openxmlformats-officedocument.presentationml.notesSlide+xml"/>
  <Override PartName="/ppt/charts/chart38.xml" ContentType="application/vnd.openxmlformats-officedocument.drawingml.chart+xml"/>
  <Override PartName="/ppt/charts/style40.xml" ContentType="application/vnd.ms-office.chartstyle+xml"/>
  <Override PartName="/ppt/charts/colors40.xml" ContentType="application/vnd.ms-office.chartcolorstyle+xml"/>
  <Override PartName="/ppt/theme/themeOverride59.xml" ContentType="application/vnd.openxmlformats-officedocument.themeOverride+xml"/>
  <Override PartName="/ppt/notesSlides/notesSlide35.xml" ContentType="application/vnd.openxmlformats-officedocument.presentationml.notesSlide+xml"/>
  <Override PartName="/ppt/charts/chart39.xml" ContentType="application/vnd.openxmlformats-officedocument.drawingml.chart+xml"/>
  <Override PartName="/ppt/charts/style41.xml" ContentType="application/vnd.ms-office.chartstyle+xml"/>
  <Override PartName="/ppt/charts/colors41.xml" ContentType="application/vnd.ms-office.chartcolorstyle+xml"/>
  <Override PartName="/ppt/theme/themeOverride60.xml" ContentType="application/vnd.openxmlformats-officedocument.themeOverride+xml"/>
  <Override PartName="/ppt/notesSlides/notesSlide36.xml" ContentType="application/vnd.openxmlformats-officedocument.presentationml.notesSlide+xml"/>
  <Override PartName="/ppt/charts/chart40.xml" ContentType="application/vnd.openxmlformats-officedocument.drawingml.chart+xml"/>
  <Override PartName="/ppt/charts/style42.xml" ContentType="application/vnd.ms-office.chartstyle+xml"/>
  <Override PartName="/ppt/charts/colors42.xml" ContentType="application/vnd.ms-office.chartcolorstyle+xml"/>
  <Override PartName="/ppt/theme/themeOverride61.xml" ContentType="application/vnd.openxmlformats-officedocument.themeOverride+xml"/>
  <Override PartName="/ppt/notesSlides/notesSlide37.xml" ContentType="application/vnd.openxmlformats-officedocument.presentationml.notesSlide+xml"/>
  <Override PartName="/ppt/charts/chart41.xml" ContentType="application/vnd.openxmlformats-officedocument.drawingml.chart+xml"/>
  <Override PartName="/ppt/charts/style43.xml" ContentType="application/vnd.ms-office.chartstyle+xml"/>
  <Override PartName="/ppt/charts/colors43.xml" ContentType="application/vnd.ms-office.chartcolorstyle+xml"/>
  <Override PartName="/ppt/theme/themeOverride62.xml" ContentType="application/vnd.openxmlformats-officedocument.themeOverride+xml"/>
  <Override PartName="/ppt/notesSlides/notesSlide38.xml" ContentType="application/vnd.openxmlformats-officedocument.presentationml.notesSlide+xml"/>
  <Override PartName="/ppt/charts/chart42.xml" ContentType="application/vnd.openxmlformats-officedocument.drawingml.chart+xml"/>
  <Override PartName="/ppt/charts/style44.xml" ContentType="application/vnd.ms-office.chartstyle+xml"/>
  <Override PartName="/ppt/charts/colors44.xml" ContentType="application/vnd.ms-office.chartcolorstyle+xml"/>
  <Override PartName="/ppt/theme/themeOverride63.xml" ContentType="application/vnd.openxmlformats-officedocument.themeOverride+xml"/>
  <Override PartName="/ppt/drawings/drawing7.xml" ContentType="application/vnd.openxmlformats-officedocument.drawingml.chartshapes+xml"/>
  <Override PartName="/ppt/notesSlides/notesSlide39.xml" ContentType="application/vnd.openxmlformats-officedocument.presentationml.notesSlide+xml"/>
  <Override PartName="/ppt/charts/chart43.xml" ContentType="application/vnd.openxmlformats-officedocument.drawingml.chart+xml"/>
  <Override PartName="/ppt/charts/style45.xml" ContentType="application/vnd.ms-office.chartstyle+xml"/>
  <Override PartName="/ppt/charts/colors45.xml" ContentType="application/vnd.ms-office.chartcolorstyle+xml"/>
  <Override PartName="/ppt/theme/themeOverride64.xml" ContentType="application/vnd.openxmlformats-officedocument.themeOverride+xml"/>
  <Override PartName="/ppt/notesSlides/notesSlide40.xml" ContentType="application/vnd.openxmlformats-officedocument.presentationml.notesSlide+xml"/>
  <Override PartName="/ppt/charts/chart44.xml" ContentType="application/vnd.openxmlformats-officedocument.drawingml.chart+xml"/>
  <Override PartName="/ppt/charts/style46.xml" ContentType="application/vnd.ms-office.chartstyle+xml"/>
  <Override PartName="/ppt/charts/colors46.xml" ContentType="application/vnd.ms-office.chartcolorstyle+xml"/>
  <Override PartName="/ppt/theme/themeOverride65.xml" ContentType="application/vnd.openxmlformats-officedocument.themeOverride+xml"/>
  <Override PartName="/ppt/notesSlides/notesSlide41.xml" ContentType="application/vnd.openxmlformats-officedocument.presentationml.notesSlide+xml"/>
  <Override PartName="/ppt/charts/chart45.xml" ContentType="application/vnd.openxmlformats-officedocument.drawingml.chart+xml"/>
  <Override PartName="/ppt/charts/style47.xml" ContentType="application/vnd.ms-office.chartstyle+xml"/>
  <Override PartName="/ppt/charts/colors47.xml" ContentType="application/vnd.ms-office.chartcolorstyle+xml"/>
  <Override PartName="/ppt/theme/themeOverride66.xml" ContentType="application/vnd.openxmlformats-officedocument.themeOverride+xml"/>
  <Override PartName="/ppt/charts/chart46.xml" ContentType="application/vnd.openxmlformats-officedocument.drawingml.chart+xml"/>
  <Override PartName="/ppt/charts/style48.xml" ContentType="application/vnd.ms-office.chartstyle+xml"/>
  <Override PartName="/ppt/charts/colors48.xml" ContentType="application/vnd.ms-office.chartcolorstyle+xml"/>
  <Override PartName="/ppt/theme/themeOverride67.xml" ContentType="application/vnd.openxmlformats-officedocument.themeOverride+xml"/>
  <Override PartName="/ppt/notesSlides/notesSlide42.xml" ContentType="application/vnd.openxmlformats-officedocument.presentationml.notesSlide+xml"/>
  <Override PartName="/ppt/charts/chart47.xml" ContentType="application/vnd.openxmlformats-officedocument.drawingml.chart+xml"/>
  <Override PartName="/ppt/charts/style49.xml" ContentType="application/vnd.ms-office.chartstyle+xml"/>
  <Override PartName="/ppt/charts/colors49.xml" ContentType="application/vnd.ms-office.chartcolorstyle+xml"/>
  <Override PartName="/ppt/theme/themeOverride68.xml" ContentType="application/vnd.openxmlformats-officedocument.themeOverride+xml"/>
  <Override PartName="/ppt/notesSlides/notesSlide43.xml" ContentType="application/vnd.openxmlformats-officedocument.presentationml.notesSlide+xml"/>
  <Override PartName="/ppt/charts/chart48.xml" ContentType="application/vnd.openxmlformats-officedocument.drawingml.chart+xml"/>
  <Override PartName="/ppt/charts/style50.xml" ContentType="application/vnd.ms-office.chartstyle+xml"/>
  <Override PartName="/ppt/charts/colors50.xml" ContentType="application/vnd.ms-office.chartcolorstyle+xml"/>
  <Override PartName="/ppt/theme/themeOverride69.xml" ContentType="application/vnd.openxmlformats-officedocument.themeOverride+xml"/>
  <Override PartName="/ppt/charts/chart49.xml" ContentType="application/vnd.openxmlformats-officedocument.drawingml.chart+xml"/>
  <Override PartName="/ppt/charts/style51.xml" ContentType="application/vnd.ms-office.chartstyle+xml"/>
  <Override PartName="/ppt/charts/colors51.xml" ContentType="application/vnd.ms-office.chartcolorstyle+xml"/>
  <Override PartName="/ppt/theme/themeOverride70.xml" ContentType="application/vnd.openxmlformats-officedocument.themeOverride+xml"/>
  <Override PartName="/ppt/notesSlides/notesSlide44.xml" ContentType="application/vnd.openxmlformats-officedocument.presentationml.notesSlide+xml"/>
  <Override PartName="/ppt/charts/chart50.xml" ContentType="application/vnd.openxmlformats-officedocument.drawingml.chart+xml"/>
  <Override PartName="/ppt/charts/style52.xml" ContentType="application/vnd.ms-office.chartstyle+xml"/>
  <Override PartName="/ppt/charts/colors52.xml" ContentType="application/vnd.ms-office.chartcolorstyle+xml"/>
  <Override PartName="/ppt/theme/themeOverride71.xml" ContentType="application/vnd.openxmlformats-officedocument.themeOverride+xml"/>
  <Override PartName="/ppt/notesSlides/notesSlide45.xml" ContentType="application/vnd.openxmlformats-officedocument.presentationml.notesSlide+xml"/>
  <Override PartName="/ppt/charts/chart51.xml" ContentType="application/vnd.openxmlformats-officedocument.drawingml.chart+xml"/>
  <Override PartName="/ppt/charts/style53.xml" ContentType="application/vnd.ms-office.chartstyle+xml"/>
  <Override PartName="/ppt/charts/colors53.xml" ContentType="application/vnd.ms-office.chartcolorstyle+xml"/>
  <Override PartName="/ppt/theme/themeOverride72.xml" ContentType="application/vnd.openxmlformats-officedocument.themeOverride+xml"/>
  <Override PartName="/ppt/notesSlides/notesSlide46.xml" ContentType="application/vnd.openxmlformats-officedocument.presentationml.notesSlide+xml"/>
  <Override PartName="/ppt/charts/chart52.xml" ContentType="application/vnd.openxmlformats-officedocument.drawingml.chart+xml"/>
  <Override PartName="/ppt/charts/style54.xml" ContentType="application/vnd.ms-office.chartstyle+xml"/>
  <Override PartName="/ppt/charts/colors54.xml" ContentType="application/vnd.ms-office.chartcolorstyl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50"/>
  </p:notesMasterIdLst>
  <p:sldIdLst>
    <p:sldId id="401" r:id="rId3"/>
    <p:sldId id="402" r:id="rId4"/>
    <p:sldId id="403" r:id="rId5"/>
    <p:sldId id="404" r:id="rId6"/>
    <p:sldId id="363" r:id="rId7"/>
    <p:sldId id="357" r:id="rId8"/>
    <p:sldId id="314" r:id="rId9"/>
    <p:sldId id="410" r:id="rId10"/>
    <p:sldId id="408" r:id="rId11"/>
    <p:sldId id="361" r:id="rId12"/>
    <p:sldId id="317" r:id="rId13"/>
    <p:sldId id="341" r:id="rId14"/>
    <p:sldId id="346" r:id="rId15"/>
    <p:sldId id="424" r:id="rId16"/>
    <p:sldId id="274" r:id="rId17"/>
    <p:sldId id="429" r:id="rId18"/>
    <p:sldId id="347" r:id="rId19"/>
    <p:sldId id="328" r:id="rId20"/>
    <p:sldId id="320" r:id="rId21"/>
    <p:sldId id="415" r:id="rId22"/>
    <p:sldId id="321" r:id="rId23"/>
    <p:sldId id="368" r:id="rId24"/>
    <p:sldId id="369" r:id="rId25"/>
    <p:sldId id="348" r:id="rId26"/>
    <p:sldId id="298" r:id="rId27"/>
    <p:sldId id="277" r:id="rId28"/>
    <p:sldId id="324" r:id="rId29"/>
    <p:sldId id="373" r:id="rId30"/>
    <p:sldId id="374" r:id="rId31"/>
    <p:sldId id="406" r:id="rId32"/>
    <p:sldId id="421" r:id="rId33"/>
    <p:sldId id="381" r:id="rId34"/>
    <p:sldId id="261" r:id="rId35"/>
    <p:sldId id="384" r:id="rId36"/>
    <p:sldId id="385" r:id="rId37"/>
    <p:sldId id="382" r:id="rId38"/>
    <p:sldId id="425" r:id="rId39"/>
    <p:sldId id="389" r:id="rId40"/>
    <p:sldId id="388" r:id="rId41"/>
    <p:sldId id="393" r:id="rId42"/>
    <p:sldId id="392" r:id="rId43"/>
    <p:sldId id="407" r:id="rId44"/>
    <p:sldId id="423" r:id="rId45"/>
    <p:sldId id="427" r:id="rId46"/>
    <p:sldId id="428" r:id="rId47"/>
    <p:sldId id="376" r:id="rId48"/>
    <p:sldId id="426" r:id="rId4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ornaciari Matteo" initials="FM" lastIdx="20" clrIdx="0">
    <p:extLst>
      <p:ext uri="{19B8F6BF-5375-455C-9EA6-DF929625EA0E}">
        <p15:presenceInfo xmlns:p15="http://schemas.microsoft.com/office/powerpoint/2012/main" userId="S::Matteo.Fornaciari@Regione.Emilia-Romagna.it::da3eb4b2-5eac-4a36-912b-db20cfa50c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38013B-0C5F-6047-ABA5-8A364B67933D}" v="9" dt="2022-05-13T13:22:34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52"/>
    <p:restoredTop sz="96189"/>
  </p:normalViewPr>
  <p:slideViewPr>
    <p:cSldViewPr snapToGrid="0" snapToObjects="1">
      <p:cViewPr varScale="1">
        <p:scale>
          <a:sx n="130" d="100"/>
          <a:sy n="130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../embeddings/oleObject1.bin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1.xml"/><Relationship Id="rId4" Type="http://schemas.openxmlformats.org/officeDocument/2006/relationships/oleObject" Target="../embeddings/oleObject2.bin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3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../embeddings/oleObject3.bin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7.xml"/><Relationship Id="rId1" Type="http://schemas.microsoft.com/office/2011/relationships/chartStyle" Target="style7.xml"/><Relationship Id="rId5" Type="http://schemas.openxmlformats.org/officeDocument/2006/relationships/chartUserShapes" Target="../drawings/drawing2.xml"/><Relationship Id="rId4" Type="http://schemas.openxmlformats.org/officeDocument/2006/relationships/oleObject" Target="../embeddings/oleObject4.bin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7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8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../embeddings/oleObject5.bin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1.xm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3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4.xml"/><Relationship Id="rId2" Type="http://schemas.microsoft.com/office/2011/relationships/chartColorStyle" Target="colors14.xml"/><Relationship Id="rId1" Type="http://schemas.microsoft.com/office/2011/relationships/chartStyle" Target="style14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6.xml"/><Relationship Id="rId2" Type="http://schemas.microsoft.com/office/2011/relationships/chartColorStyle" Target="colors17.xml"/><Relationship Id="rId1" Type="http://schemas.microsoft.com/office/2011/relationships/chartStyle" Target="style17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8.xml"/><Relationship Id="rId2" Type="http://schemas.microsoft.com/office/2011/relationships/chartColorStyle" Target="colors18.xml"/><Relationship Id="rId1" Type="http://schemas.microsoft.com/office/2011/relationships/chartStyle" Target="style18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9.xml"/><Relationship Id="rId2" Type="http://schemas.microsoft.com/office/2011/relationships/chartColorStyle" Target="colors19.xml"/><Relationship Id="rId1" Type="http://schemas.microsoft.com/office/2011/relationships/chartStyle" Target="style19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3.xml"/><Relationship Id="rId2" Type="http://schemas.microsoft.com/office/2011/relationships/chartColorStyle" Target="colors20.xml"/><Relationship Id="rId1" Type="http://schemas.microsoft.com/office/2011/relationships/chartStyle" Target="style20.xml"/><Relationship Id="rId5" Type="http://schemas.openxmlformats.org/officeDocument/2006/relationships/chartUserShapes" Target="../drawings/drawing3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5.xml"/><Relationship Id="rId2" Type="http://schemas.microsoft.com/office/2011/relationships/chartColorStyle" Target="colors21.xml"/><Relationship Id="rId1" Type="http://schemas.microsoft.com/office/2011/relationships/chartStyle" Target="style21.xml"/><Relationship Id="rId4" Type="http://schemas.openxmlformats.org/officeDocument/2006/relationships/oleObject" Target="../embeddings/oleObject6.bin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6.xml"/><Relationship Id="rId2" Type="http://schemas.microsoft.com/office/2011/relationships/chartColorStyle" Target="colors22.xml"/><Relationship Id="rId1" Type="http://schemas.microsoft.com/office/2011/relationships/chartStyle" Target="style22.xml"/><Relationship Id="rId4" Type="http://schemas.openxmlformats.org/officeDocument/2006/relationships/oleObject" Target="../embeddings/oleObject7.bin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8.xml"/><Relationship Id="rId2" Type="http://schemas.microsoft.com/office/2011/relationships/chartColorStyle" Target="colors23.xml"/><Relationship Id="rId1" Type="http://schemas.microsoft.com/office/2011/relationships/chartStyle" Target="style23.xml"/><Relationship Id="rId5" Type="http://schemas.openxmlformats.org/officeDocument/2006/relationships/chartUserShapes" Target="../drawings/drawing4.xml"/><Relationship Id="rId4" Type="http://schemas.openxmlformats.org/officeDocument/2006/relationships/oleObject" Target="../embeddings/oleObject8.bin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9.xml"/><Relationship Id="rId2" Type="http://schemas.microsoft.com/office/2011/relationships/chartColorStyle" Target="colors24.xml"/><Relationship Id="rId1" Type="http://schemas.microsoft.com/office/2011/relationships/chartStyle" Target="style24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0.xml"/><Relationship Id="rId2" Type="http://schemas.microsoft.com/office/2011/relationships/chartColorStyle" Target="colors25.xml"/><Relationship Id="rId1" Type="http://schemas.microsoft.com/office/2011/relationships/chartStyle" Target="style25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1.xml"/><Relationship Id="rId2" Type="http://schemas.microsoft.com/office/2011/relationships/chartColorStyle" Target="colors26.xml"/><Relationship Id="rId1" Type="http://schemas.microsoft.com/office/2011/relationships/chartStyle" Target="style26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2.xml"/><Relationship Id="rId2" Type="http://schemas.microsoft.com/office/2011/relationships/chartColorStyle" Target="colors27.xml"/><Relationship Id="rId1" Type="http://schemas.microsoft.com/office/2011/relationships/chartStyle" Target="style27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4.xml"/><Relationship Id="rId2" Type="http://schemas.microsoft.com/office/2011/relationships/chartColorStyle" Target="colors28.xml"/><Relationship Id="rId1" Type="http://schemas.microsoft.com/office/2011/relationships/chartStyle" Target="style28.xml"/><Relationship Id="rId4" Type="http://schemas.openxmlformats.org/officeDocument/2006/relationships/oleObject" Target="../embeddings/oleObject9.bin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6.xml"/><Relationship Id="rId2" Type="http://schemas.microsoft.com/office/2011/relationships/chartColorStyle" Target="colors29.xml"/><Relationship Id="rId1" Type="http://schemas.microsoft.com/office/2011/relationships/chartStyle" Target="style29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7.xml"/><Relationship Id="rId2" Type="http://schemas.microsoft.com/office/2011/relationships/chartColorStyle" Target="colors30.xml"/><Relationship Id="rId1" Type="http://schemas.microsoft.com/office/2011/relationships/chartStyle" Target="style30.xml"/><Relationship Id="rId5" Type="http://schemas.openxmlformats.org/officeDocument/2006/relationships/chartUserShapes" Target="../drawings/drawing5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9.xml"/><Relationship Id="rId2" Type="http://schemas.microsoft.com/office/2011/relationships/chartColorStyle" Target="colors31.xml"/><Relationship Id="rId1" Type="http://schemas.microsoft.com/office/2011/relationships/chartStyle" Target="style31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0.xml"/><Relationship Id="rId2" Type="http://schemas.microsoft.com/office/2011/relationships/chartColorStyle" Target="colors32.xml"/><Relationship Id="rId1" Type="http://schemas.microsoft.com/office/2011/relationships/chartStyle" Target="style32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2.xml"/><Relationship Id="rId2" Type="http://schemas.microsoft.com/office/2011/relationships/chartColorStyle" Target="colors33.xml"/><Relationship Id="rId1" Type="http://schemas.microsoft.com/office/2011/relationships/chartStyle" Target="style33.xml"/><Relationship Id="rId4" Type="http://schemas.openxmlformats.org/officeDocument/2006/relationships/oleObject" Target="../embeddings/oleObject10.bin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3.xml"/><Relationship Id="rId2" Type="http://schemas.microsoft.com/office/2011/relationships/chartColorStyle" Target="colors34.xml"/><Relationship Id="rId1" Type="http://schemas.microsoft.com/office/2011/relationships/chartStyle" Target="style34.xml"/><Relationship Id="rId4" Type="http://schemas.openxmlformats.org/officeDocument/2006/relationships/oleObject" Target="../embeddings/oleObject11.bin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4.xml"/><Relationship Id="rId2" Type="http://schemas.microsoft.com/office/2011/relationships/chartColorStyle" Target="colors35.xml"/><Relationship Id="rId1" Type="http://schemas.microsoft.com/office/2011/relationships/chartStyle" Target="style35.xml"/><Relationship Id="rId5" Type="http://schemas.openxmlformats.org/officeDocument/2006/relationships/chartUserShapes" Target="../drawings/drawing6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5.xml"/><Relationship Id="rId2" Type="http://schemas.microsoft.com/office/2011/relationships/chartColorStyle" Target="colors36.xml"/><Relationship Id="rId1" Type="http://schemas.microsoft.com/office/2011/relationships/chartStyle" Target="style36.xml"/><Relationship Id="rId4" Type="http://schemas.openxmlformats.org/officeDocument/2006/relationships/oleObject" Target="../embeddings/oleObject12.bin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6.xml"/><Relationship Id="rId2" Type="http://schemas.microsoft.com/office/2011/relationships/chartColorStyle" Target="colors37.xml"/><Relationship Id="rId1" Type="http://schemas.microsoft.com/office/2011/relationships/chartStyle" Target="style37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7.xml"/><Relationship Id="rId2" Type="http://schemas.microsoft.com/office/2011/relationships/chartColorStyle" Target="colors38.xml"/><Relationship Id="rId1" Type="http://schemas.microsoft.com/office/2011/relationships/chartStyle" Target="style38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8.xml"/><Relationship Id="rId2" Type="http://schemas.microsoft.com/office/2011/relationships/chartColorStyle" Target="colors39.xml"/><Relationship Id="rId1" Type="http://schemas.microsoft.com/office/2011/relationships/chartStyle" Target="style39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9.xml"/><Relationship Id="rId2" Type="http://schemas.microsoft.com/office/2011/relationships/chartColorStyle" Target="colors40.xml"/><Relationship Id="rId1" Type="http://schemas.microsoft.com/office/2011/relationships/chartStyle" Target="style40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3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0.xml"/><Relationship Id="rId2" Type="http://schemas.microsoft.com/office/2011/relationships/chartColorStyle" Target="colors41.xml"/><Relationship Id="rId1" Type="http://schemas.microsoft.com/office/2011/relationships/chartStyle" Target="style41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1.xml"/><Relationship Id="rId2" Type="http://schemas.microsoft.com/office/2011/relationships/chartColorStyle" Target="colors42.xml"/><Relationship Id="rId1" Type="http://schemas.microsoft.com/office/2011/relationships/chartStyle" Target="style42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2.xml"/><Relationship Id="rId2" Type="http://schemas.microsoft.com/office/2011/relationships/chartColorStyle" Target="colors43.xml"/><Relationship Id="rId1" Type="http://schemas.microsoft.com/office/2011/relationships/chartStyle" Target="style43.xml"/><Relationship Id="rId4" Type="http://schemas.openxmlformats.org/officeDocument/2006/relationships/oleObject" Target="../embeddings/oleObject13.bin"/></Relationships>
</file>

<file path=ppt/charts/_rels/chart4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3.xml"/><Relationship Id="rId2" Type="http://schemas.microsoft.com/office/2011/relationships/chartColorStyle" Target="colors44.xml"/><Relationship Id="rId1" Type="http://schemas.microsoft.com/office/2011/relationships/chartStyle" Target="style44.xml"/><Relationship Id="rId5" Type="http://schemas.openxmlformats.org/officeDocument/2006/relationships/chartUserShapes" Target="../drawings/drawing7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4.xml"/><Relationship Id="rId2" Type="http://schemas.microsoft.com/office/2011/relationships/chartColorStyle" Target="colors45.xml"/><Relationship Id="rId1" Type="http://schemas.microsoft.com/office/2011/relationships/chartStyle" Target="style45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5.xml"/><Relationship Id="rId2" Type="http://schemas.microsoft.com/office/2011/relationships/chartColorStyle" Target="colors46.xml"/><Relationship Id="rId1" Type="http://schemas.microsoft.com/office/2011/relationships/chartStyle" Target="style46.xml"/><Relationship Id="rId4" Type="http://schemas.openxmlformats.org/officeDocument/2006/relationships/oleObject" Target="../embeddings/oleObject14.bin"/></Relationships>
</file>

<file path=ppt/charts/_rels/chart4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6.xml"/><Relationship Id="rId2" Type="http://schemas.microsoft.com/office/2011/relationships/chartColorStyle" Target="colors47.xml"/><Relationship Id="rId1" Type="http://schemas.microsoft.com/office/2011/relationships/chartStyle" Target="style47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7.xml"/><Relationship Id="rId2" Type="http://schemas.microsoft.com/office/2011/relationships/chartColorStyle" Target="colors48.xml"/><Relationship Id="rId1" Type="http://schemas.microsoft.com/office/2011/relationships/chartStyle" Target="style48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8.xml"/><Relationship Id="rId2" Type="http://schemas.microsoft.com/office/2011/relationships/chartColorStyle" Target="colors49.xml"/><Relationship Id="rId1" Type="http://schemas.microsoft.com/office/2011/relationships/chartStyle" Target="style49.xml"/><Relationship Id="rId4" Type="http://schemas.openxmlformats.org/officeDocument/2006/relationships/oleObject" Target="../embeddings/oleObject15.bin"/></Relationships>
</file>

<file path=ppt/charts/_rels/chart4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9.xml"/><Relationship Id="rId2" Type="http://schemas.microsoft.com/office/2011/relationships/chartColorStyle" Target="colors50.xml"/><Relationship Id="rId1" Type="http://schemas.microsoft.com/office/2011/relationships/chartStyle" Target="style50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4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0.xml"/><Relationship Id="rId2" Type="http://schemas.microsoft.com/office/2011/relationships/chartColorStyle" Target="colors51.xml"/><Relationship Id="rId1" Type="http://schemas.microsoft.com/office/2011/relationships/chartStyle" Target="style51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5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1.xml"/><Relationship Id="rId2" Type="http://schemas.microsoft.com/office/2011/relationships/chartColorStyle" Target="colors52.xml"/><Relationship Id="rId1" Type="http://schemas.microsoft.com/office/2011/relationships/chartStyle" Target="style52.xml"/><Relationship Id="rId4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/Relationships>
</file>

<file path=ppt/charts/_rels/chart5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2.xml"/><Relationship Id="rId2" Type="http://schemas.microsoft.com/office/2011/relationships/chartColorStyle" Target="colors53.xml"/><Relationship Id="rId1" Type="http://schemas.microsoft.com/office/2011/relationships/chartStyle" Target="style53.xml"/><Relationship Id="rId4" Type="http://schemas.openxmlformats.org/officeDocument/2006/relationships/oleObject" Target="../embeddings/oleObject16.bin"/></Relationships>
</file>

<file path=ppt/charts/_rels/chart52.xml.rels><?xml version="1.0" encoding="UTF-8" standalone="yes"?>
<Relationships xmlns="http://schemas.openxmlformats.org/package/2006/relationships"><Relationship Id="rId3" Type="http://schemas.openxmlformats.org/officeDocument/2006/relationships/oleObject" Target="https://regioneemiliaromagna-my.sharepoint.com/personal/matteo_fornaciari_regione_emilia-romagna_it/Documents/Documenti/Tutti%20i%20Documenti%20SPc/Progetto%20Report%20impatto%20covid/Report%20Musei%20e%20Covid%20-%20condiviso/Tabelle%20e%20grafici%20-%20repo" TargetMode="External"/><Relationship Id="rId2" Type="http://schemas.microsoft.com/office/2011/relationships/chartColorStyle" Target="colors54.xml"/><Relationship Id="rId1" Type="http://schemas.microsoft.com/office/2011/relationships/chartStyle" Target="style54.xml"/></Relationships>
</file>

<file path=ppt/charts/_rels/chartEx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Ex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'[Tabelle e grafici - report finale-nl00002512.xlsx]2020 - Quesito 6 e 6.1'!$B$9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explosion val="3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5DC-468E-9D9E-4CD7CED7658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5DC-468E-9D9E-4CD7CED7658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finale-nl00002512.xlsx]2020 - Quesito 6 e 6.1'!$A$10:$A$11</c:f>
              <c:strCache>
                <c:ptCount val="2"/>
                <c:pt idx="0">
                  <c:v>Ente Privato</c:v>
                </c:pt>
                <c:pt idx="1">
                  <c:v>Ente Pubblico</c:v>
                </c:pt>
              </c:strCache>
            </c:strRef>
          </c:cat>
          <c:val>
            <c:numRef>
              <c:f>'[Tabelle e grafici - report finale-nl00002512.xlsx]2020 - Quesito 6 e 6.1'!$B$10:$B$11</c:f>
              <c:numCache>
                <c:formatCode>0%</c:formatCode>
                <c:ptCount val="2"/>
                <c:pt idx="0">
                  <c:v>0.34079601990049752</c:v>
                </c:pt>
                <c:pt idx="1">
                  <c:v>0.65920398009950254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CE0-4464-B474-EE3698CE5F63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'[Tabelle e grafici - report finale-nl00002512.xlsx]2020 - Quesito 6 e 6.1'!$J$28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finale-nl00002512.xlsx]2020 - Quesito 6 e 6.1'!$I$29:$I$38</c:f>
              <c:strCache>
                <c:ptCount val="10"/>
                <c:pt idx="0">
                  <c:v>*Pubblico/Privato - Altra Tipologia</c:v>
                </c:pt>
                <c:pt idx="1">
                  <c:v>Privato - Privato cittadino</c:v>
                </c:pt>
                <c:pt idx="2">
                  <c:v>Privato - Associazione non riconosciuta (non iscritta al registro delle persone giuridiche)</c:v>
                </c:pt>
                <c:pt idx="3">
                  <c:v>Privato - Società di persone o capitali</c:v>
                </c:pt>
                <c:pt idx="4">
                  <c:v>Privato - Ente ecclesiastico o religioso</c:v>
                </c:pt>
                <c:pt idx="5">
                  <c:v>Pubblico - Università pubblica</c:v>
                </c:pt>
                <c:pt idx="6">
                  <c:v>Privato - Associazione riconosciuta (iscritta al registro delle persone giuridiche)</c:v>
                </c:pt>
                <c:pt idx="7">
                  <c:v>Pubblico - Ministero per i beni e le attività culturali e del turismo (MiBACT)</c:v>
                </c:pt>
                <c:pt idx="8">
                  <c:v>Privato - Fondazione non bancaria</c:v>
                </c:pt>
                <c:pt idx="9">
                  <c:v>Pubblico - Comune</c:v>
                </c:pt>
              </c:strCache>
            </c:strRef>
          </c:cat>
          <c:val>
            <c:numRef>
              <c:f>'[Tabelle e grafici - report finale-nl00002512.xlsx]2020 - Quesito 6 e 6.1'!$J$29:$J$38</c:f>
              <c:numCache>
                <c:formatCode>0%</c:formatCode>
                <c:ptCount val="10"/>
                <c:pt idx="0">
                  <c:v>7.0000000000000007E-2</c:v>
                </c:pt>
                <c:pt idx="1">
                  <c:v>3.482587064676617E-2</c:v>
                </c:pt>
                <c:pt idx="2">
                  <c:v>3.9800995024875621E-2</c:v>
                </c:pt>
                <c:pt idx="3">
                  <c:v>4.7263681592039801E-2</c:v>
                </c:pt>
                <c:pt idx="4">
                  <c:v>4.975124378109453E-2</c:v>
                </c:pt>
                <c:pt idx="5">
                  <c:v>5.4726368159203981E-2</c:v>
                </c:pt>
                <c:pt idx="6">
                  <c:v>6.2189054726368161E-2</c:v>
                </c:pt>
                <c:pt idx="7">
                  <c:v>6.4676616915422883E-2</c:v>
                </c:pt>
                <c:pt idx="8">
                  <c:v>6.965174129353234E-2</c:v>
                </c:pt>
                <c:pt idx="9">
                  <c:v>0.50995024875621886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E6-8548-BC3E-9ED7EF265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2158176"/>
        <c:axId val="582158832"/>
      </c:barChart>
      <c:catAx>
        <c:axId val="5821581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82158832"/>
        <c:crosses val="autoZero"/>
        <c:auto val="1"/>
        <c:lblAlgn val="ctr"/>
        <c:lblOffset val="100"/>
        <c:noMultiLvlLbl val="0"/>
      </c:catAx>
      <c:valAx>
        <c:axId val="582158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82158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'[Tabelle e grafici - report finale-nl00002512.xlsx]PATER - Dati tipologia'!$G$5</c:f>
              <c:strCache>
                <c:ptCount val="1"/>
                <c:pt idx="0">
                  <c:v>Nr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finale-nl00002512.xlsx]PATER - Dati tipologia'!$F$6:$F$16</c:f>
              <c:strCache>
                <c:ptCount val="11"/>
                <c:pt idx="0">
                  <c:v>Non Risponde</c:v>
                </c:pt>
                <c:pt idx="1">
                  <c:v>Scienza e tecnica</c:v>
                </c:pt>
                <c:pt idx="2">
                  <c:v>Industriale e/o d'impresa</c:v>
                </c:pt>
                <c:pt idx="3">
                  <c:v>Misto</c:v>
                </c:pt>
                <c:pt idx="4">
                  <c:v>Religione e culto</c:v>
                </c:pt>
                <c:pt idx="5">
                  <c:v>Etnografia e antropologia</c:v>
                </c:pt>
                <c:pt idx="6">
                  <c:v>Storia e scienze naturali</c:v>
                </c:pt>
                <c:pt idx="7">
                  <c:v>Archeologia</c:v>
                </c:pt>
                <c:pt idx="8">
                  <c:v>Storia</c:v>
                </c:pt>
                <c:pt idx="9">
                  <c:v>Tematico e/o specializzato</c:v>
                </c:pt>
                <c:pt idx="10">
                  <c:v>Arte</c:v>
                </c:pt>
              </c:strCache>
            </c:strRef>
          </c:cat>
          <c:val>
            <c:numRef>
              <c:f>'[Tabelle e grafici - report finale-nl00002512.xlsx]PATER - Dati tipologia'!$G$6:$G$16</c:f>
              <c:numCache>
                <c:formatCode>General</c:formatCode>
                <c:ptCount val="11"/>
                <c:pt idx="0">
                  <c:v>1</c:v>
                </c:pt>
                <c:pt idx="1">
                  <c:v>15</c:v>
                </c:pt>
                <c:pt idx="2">
                  <c:v>19</c:v>
                </c:pt>
                <c:pt idx="3">
                  <c:v>29</c:v>
                </c:pt>
                <c:pt idx="4">
                  <c:v>39</c:v>
                </c:pt>
                <c:pt idx="5">
                  <c:v>44</c:v>
                </c:pt>
                <c:pt idx="6">
                  <c:v>48</c:v>
                </c:pt>
                <c:pt idx="7">
                  <c:v>56</c:v>
                </c:pt>
                <c:pt idx="8">
                  <c:v>72</c:v>
                </c:pt>
                <c:pt idx="9">
                  <c:v>109</c:v>
                </c:pt>
                <c:pt idx="10">
                  <c:v>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CA-C04B-A1B4-E2056EC34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84136840"/>
        <c:axId val="784138808"/>
      </c:barChart>
      <c:catAx>
        <c:axId val="784136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84138808"/>
        <c:crosses val="autoZero"/>
        <c:auto val="1"/>
        <c:lblAlgn val="ctr"/>
        <c:lblOffset val="100"/>
        <c:noMultiLvlLbl val="0"/>
      </c:catAx>
      <c:valAx>
        <c:axId val="784138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84136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'[Tabelle e grafici - report finale.xlsx]PATER - Anno Apertura x classe'!$Y$22</c:f>
              <c:strCache>
                <c:ptCount val="1"/>
                <c:pt idx="0">
                  <c:v>Fino al 1989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finale.xlsx]PATER - Anno Apertura x classe'!$X$24:$X$33</c:f>
              <c:strCache>
                <c:ptCount val="10"/>
                <c:pt idx="0">
                  <c:v>Archeologia</c:v>
                </c:pt>
                <c:pt idx="1">
                  <c:v>Arte</c:v>
                </c:pt>
                <c:pt idx="2">
                  <c:v>Etnografia e antropologia</c:v>
                </c:pt>
                <c:pt idx="3">
                  <c:v>Industriale e/o d'impresa</c:v>
                </c:pt>
                <c:pt idx="4">
                  <c:v>Misto</c:v>
                </c:pt>
                <c:pt idx="5">
                  <c:v>Religione e culto</c:v>
                </c:pt>
                <c:pt idx="6">
                  <c:v>Scienza e tecnica</c:v>
                </c:pt>
                <c:pt idx="7">
                  <c:v>Storia</c:v>
                </c:pt>
                <c:pt idx="8">
                  <c:v>Storia e scienze naturali</c:v>
                </c:pt>
                <c:pt idx="9">
                  <c:v>Tematico e/o specializzato</c:v>
                </c:pt>
              </c:strCache>
            </c:strRef>
          </c:cat>
          <c:val>
            <c:numRef>
              <c:f>'[Tabelle e grafici - report finale.xlsx]PATER - Anno Apertura x classe'!$Y$24:$Y$33</c:f>
              <c:numCache>
                <c:formatCode>General</c:formatCode>
                <c:ptCount val="10"/>
                <c:pt idx="0">
                  <c:v>21</c:v>
                </c:pt>
                <c:pt idx="1">
                  <c:v>49</c:v>
                </c:pt>
                <c:pt idx="2">
                  <c:v>19</c:v>
                </c:pt>
                <c:pt idx="3">
                  <c:v>2</c:v>
                </c:pt>
                <c:pt idx="4">
                  <c:v>16</c:v>
                </c:pt>
                <c:pt idx="5">
                  <c:v>10</c:v>
                </c:pt>
                <c:pt idx="6">
                  <c:v>9</c:v>
                </c:pt>
                <c:pt idx="7">
                  <c:v>31</c:v>
                </c:pt>
                <c:pt idx="8">
                  <c:v>33</c:v>
                </c:pt>
                <c:pt idx="9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C0-4817-8183-72FA708B6A49}"/>
            </c:ext>
          </c:extLst>
        </c:ser>
        <c:ser>
          <c:idx val="1"/>
          <c:order val="1"/>
          <c:tx>
            <c:strRef>
              <c:f>'[Tabelle e grafici - report finale.xlsx]PATER - Anno Apertura x classe'!$Z$22</c:f>
              <c:strCache>
                <c:ptCount val="1"/>
                <c:pt idx="0">
                  <c:v>Dal 1990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finale.xlsx]PATER - Anno Apertura x classe'!$X$24:$X$33</c:f>
              <c:strCache>
                <c:ptCount val="10"/>
                <c:pt idx="0">
                  <c:v>Archeologia</c:v>
                </c:pt>
                <c:pt idx="1">
                  <c:v>Arte</c:v>
                </c:pt>
                <c:pt idx="2">
                  <c:v>Etnografia e antropologia</c:v>
                </c:pt>
                <c:pt idx="3">
                  <c:v>Industriale e/o d'impresa</c:v>
                </c:pt>
                <c:pt idx="4">
                  <c:v>Misto</c:v>
                </c:pt>
                <c:pt idx="5">
                  <c:v>Religione e culto</c:v>
                </c:pt>
                <c:pt idx="6">
                  <c:v>Scienza e tecnica</c:v>
                </c:pt>
                <c:pt idx="7">
                  <c:v>Storia</c:v>
                </c:pt>
                <c:pt idx="8">
                  <c:v>Storia e scienze naturali</c:v>
                </c:pt>
                <c:pt idx="9">
                  <c:v>Tematico e/o specializzato</c:v>
                </c:pt>
              </c:strCache>
            </c:strRef>
          </c:cat>
          <c:val>
            <c:numRef>
              <c:f>'[Tabelle e grafici - report finale.xlsx]PATER - Anno Apertura x classe'!$Z$24:$Z$33</c:f>
              <c:numCache>
                <c:formatCode>General</c:formatCode>
                <c:ptCount val="10"/>
                <c:pt idx="0">
                  <c:v>30</c:v>
                </c:pt>
                <c:pt idx="1">
                  <c:v>55</c:v>
                </c:pt>
                <c:pt idx="2">
                  <c:v>22</c:v>
                </c:pt>
                <c:pt idx="3">
                  <c:v>15</c:v>
                </c:pt>
                <c:pt idx="4">
                  <c:v>12</c:v>
                </c:pt>
                <c:pt idx="5">
                  <c:v>23</c:v>
                </c:pt>
                <c:pt idx="6">
                  <c:v>4</c:v>
                </c:pt>
                <c:pt idx="7">
                  <c:v>34</c:v>
                </c:pt>
                <c:pt idx="8">
                  <c:v>15</c:v>
                </c:pt>
                <c:pt idx="9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C0-4817-8183-72FA708B6A4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54231088"/>
        <c:axId val="854228792"/>
      </c:barChart>
      <c:catAx>
        <c:axId val="85423108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Tipologia Musei</a:t>
                </a:r>
              </a:p>
            </c:rich>
          </c:tx>
          <c:layout>
            <c:manualLayout>
              <c:xMode val="edge"/>
              <c:yMode val="edge"/>
              <c:x val="0.40615154741717385"/>
              <c:y val="0.8063047594555002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54228792"/>
        <c:crosses val="autoZero"/>
        <c:auto val="1"/>
        <c:lblAlgn val="ctr"/>
        <c:lblOffset val="100"/>
        <c:noMultiLvlLbl val="0"/>
      </c:catAx>
      <c:valAx>
        <c:axId val="854228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Nr Musei/Istituti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5423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9.9057064184902385E-2"/>
          <c:y val="0.19056099524213352"/>
          <c:w val="0.80594683412507317"/>
          <c:h val="0.77833038451668668"/>
        </c:manualLayout>
      </c:layout>
      <c:pieChart>
        <c:varyColors val="1"/>
        <c:ser>
          <c:idx val="0"/>
          <c:order val="0"/>
          <c:tx>
            <c:strRef>
              <c:f>'[Tabelle e grafici - report finale-nl00002512.xlsx]2020 - Quesito 16'!$X$29</c:f>
              <c:strCache>
                <c:ptCount val="1"/>
                <c:pt idx="0">
                  <c:v>%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971-4D55-841C-03A1DF19BA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971-4D55-841C-03A1DF19BA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0971-4D55-841C-03A1DF19BA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0971-4D55-841C-03A1DF19BA1A}"/>
              </c:ext>
            </c:extLst>
          </c:dPt>
          <c:dLbls>
            <c:dLbl>
              <c:idx val="0"/>
              <c:layout>
                <c:manualLayout>
                  <c:x val="-1.9969278033794162E-2"/>
                  <c:y val="-0.260400616332819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71-4D55-841C-03A1DF19BA1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971-4D55-841C-03A1DF19BA1A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0971-4D55-841C-03A1DF19BA1A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0971-4D55-841C-03A1DF19BA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finale-nl00002512.xlsx]2020 - Quesito 16'!$W$30:$W$33</c:f>
              <c:strCache>
                <c:ptCount val="4"/>
                <c:pt idx="0">
                  <c:v>Micro</c:v>
                </c:pt>
                <c:pt idx="1">
                  <c:v>Piccoli</c:v>
                </c:pt>
                <c:pt idx="2">
                  <c:v>Medi</c:v>
                </c:pt>
                <c:pt idx="3">
                  <c:v>Grandi</c:v>
                </c:pt>
              </c:strCache>
              <c:extLst/>
            </c:strRef>
          </c:cat>
          <c:val>
            <c:numRef>
              <c:f>'[Tabelle e grafici - report finale-nl00002512.xlsx]2020 - Quesito 16'!$X$30:$X$34</c:f>
              <c:numCache>
                <c:formatCode>0%</c:formatCode>
                <c:ptCount val="4"/>
                <c:pt idx="0">
                  <c:v>0.50995024875621886</c:v>
                </c:pt>
                <c:pt idx="1">
                  <c:v>0.2263681592039801</c:v>
                </c:pt>
                <c:pt idx="2">
                  <c:v>0.23383084577114427</c:v>
                </c:pt>
                <c:pt idx="3">
                  <c:v>2.9850746268656716E-2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0971-4D55-841C-03A1DF19BA1A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5088840719586092"/>
          <c:y val="0.48432100623656665"/>
          <c:w val="9.6291166579616325E-2"/>
          <c:h val="0.323162739358819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b="0" i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Numero assoluto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finale.xlsx]2019 - Quesito 6 x 15.1'!$B$23</c:f>
              <c:strCache>
                <c:ptCount val="1"/>
                <c:pt idx="0">
                  <c:v>Nr Musei/Istituti per classe di addetti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'[Tabelle e grafici - report finale.xlsx]2019 - Quesito 6 x 15.1'!$A$24:$A$28</c:f>
              <c:strCache>
                <c:ptCount val="5"/>
                <c:pt idx="0">
                  <c:v>Micro</c:v>
                </c:pt>
                <c:pt idx="1">
                  <c:v>Piccoli</c:v>
                </c:pt>
                <c:pt idx="2">
                  <c:v>Medi</c:v>
                </c:pt>
                <c:pt idx="3">
                  <c:v>Grandi</c:v>
                </c:pt>
                <c:pt idx="4">
                  <c:v>Non Risponde</c:v>
                </c:pt>
              </c:strCache>
            </c:strRef>
          </c:cat>
          <c:val>
            <c:numRef>
              <c:f>'[Tabelle e grafici - report finale.xlsx]2019 - Quesito 6 x 15.1'!$B$24:$B$28</c:f>
              <c:numCache>
                <c:formatCode>General</c:formatCode>
                <c:ptCount val="5"/>
                <c:pt idx="0">
                  <c:v>275</c:v>
                </c:pt>
                <c:pt idx="1">
                  <c:v>79</c:v>
                </c:pt>
                <c:pt idx="2">
                  <c:v>73</c:v>
                </c:pt>
                <c:pt idx="3">
                  <c:v>13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AD-2647-881B-EFEA2285C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7"/>
        <c:axId val="873104096"/>
        <c:axId val="873112624"/>
      </c:barChart>
      <c:lineChart>
        <c:grouping val="standard"/>
        <c:varyColors val="0"/>
        <c:ser>
          <c:idx val="1"/>
          <c:order val="1"/>
          <c:tx>
            <c:strRef>
              <c:f>'[Tabelle e grafici - report finale.xlsx]2019 - Quesito 6 x 15.1'!$C$23</c:f>
              <c:strCache>
                <c:ptCount val="1"/>
                <c:pt idx="0">
                  <c:v>Nr Visitatori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'[Tabelle e grafici - report finale.xlsx]2019 - Quesito 6 x 15.1'!$A$24:$A$28</c:f>
              <c:strCache>
                <c:ptCount val="5"/>
                <c:pt idx="0">
                  <c:v>Micro</c:v>
                </c:pt>
                <c:pt idx="1">
                  <c:v>Piccoli</c:v>
                </c:pt>
                <c:pt idx="2">
                  <c:v>Medi</c:v>
                </c:pt>
                <c:pt idx="3">
                  <c:v>Grandi</c:v>
                </c:pt>
                <c:pt idx="4">
                  <c:v>Non Risponde</c:v>
                </c:pt>
              </c:strCache>
            </c:strRef>
          </c:cat>
          <c:val>
            <c:numRef>
              <c:f>'[Tabelle e grafici - report finale.xlsx]2019 - Quesito 6 x 15.1'!$C$24:$C$28</c:f>
              <c:numCache>
                <c:formatCode>_(* #,##0.00_);_(* \(#,##0.00\);_(* "-"??_);_(@_)</c:formatCode>
                <c:ptCount val="5"/>
                <c:pt idx="0">
                  <c:v>1343079</c:v>
                </c:pt>
                <c:pt idx="1">
                  <c:v>1200265</c:v>
                </c:pt>
                <c:pt idx="2">
                  <c:v>3105371</c:v>
                </c:pt>
                <c:pt idx="3">
                  <c:v>1203018</c:v>
                </c:pt>
                <c:pt idx="4">
                  <c:v>17100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AD-2647-881B-EFEA2285CB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3107704"/>
        <c:axId val="873107376"/>
      </c:lineChart>
      <c:catAx>
        <c:axId val="873104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3112624"/>
        <c:crosses val="autoZero"/>
        <c:auto val="1"/>
        <c:lblAlgn val="ctr"/>
        <c:lblOffset val="100"/>
        <c:noMultiLvlLbl val="0"/>
      </c:catAx>
      <c:valAx>
        <c:axId val="8731126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Musei/Istituti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3104096"/>
        <c:crosses val="autoZero"/>
        <c:crossBetween val="between"/>
      </c:valAx>
      <c:valAx>
        <c:axId val="87310737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Numero assoluto di visitatori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3107704"/>
        <c:crosses val="max"/>
        <c:crossBetween val="between"/>
      </c:valAx>
      <c:catAx>
        <c:axId val="8731077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731073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it-IT" sz="1600" b="0" i="0" u="none" strike="noStrike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pPr>
            <a:r>
              <a:rPr lang="it-IT" sz="16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Numero medio</a:t>
            </a:r>
          </a:p>
        </c:rich>
      </c:tx>
      <c:layout>
        <c:manualLayout>
          <c:xMode val="edge"/>
          <c:yMode val="edge"/>
          <c:x val="0.41483450269105465"/>
          <c:y val="2.28663964530930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it-IT" sz="1600" b="0" i="0" u="none" strike="noStrike" kern="1200" baseline="0" dirty="0" smtClean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4020202020204" pitchFamily="34" charset="0"/>
              <a:ea typeface="+mn-ea"/>
              <a:cs typeface="Arial Narrow" panose="020B0604020202020204" pitchFamily="34" charset="0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finale.xlsx]2019 - Quesito 6 x 15.1'!$B$6</c:f>
              <c:strCache>
                <c:ptCount val="1"/>
                <c:pt idx="0">
                  <c:v>Nr Musei/Istituti per classe di addetti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'[Tabelle e grafici - report finale.xlsx]2019 - Quesito 6 x 15.1'!$A$7:$A$11</c:f>
              <c:strCache>
                <c:ptCount val="5"/>
                <c:pt idx="0">
                  <c:v>Micro</c:v>
                </c:pt>
                <c:pt idx="1">
                  <c:v>Piccoli</c:v>
                </c:pt>
                <c:pt idx="2">
                  <c:v>Medi</c:v>
                </c:pt>
                <c:pt idx="3">
                  <c:v>Grandi</c:v>
                </c:pt>
                <c:pt idx="4">
                  <c:v>Non Risponde</c:v>
                </c:pt>
              </c:strCache>
            </c:strRef>
          </c:cat>
          <c:val>
            <c:numRef>
              <c:f>'[Tabelle e grafici - report finale.xlsx]2019 - Quesito 6 x 15.1'!$B$7:$B$11</c:f>
              <c:numCache>
                <c:formatCode>General</c:formatCode>
                <c:ptCount val="5"/>
                <c:pt idx="0">
                  <c:v>275</c:v>
                </c:pt>
                <c:pt idx="1">
                  <c:v>79</c:v>
                </c:pt>
                <c:pt idx="2">
                  <c:v>73</c:v>
                </c:pt>
                <c:pt idx="3">
                  <c:v>13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F5-49B5-BEAF-451C2385E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16701296"/>
        <c:axId val="716695720"/>
      </c:barChart>
      <c:lineChart>
        <c:grouping val="standard"/>
        <c:varyColors val="0"/>
        <c:ser>
          <c:idx val="1"/>
          <c:order val="1"/>
          <c:tx>
            <c:strRef>
              <c:f>'[Tabelle e grafici - report finale.xlsx]2019 - Quesito 6 x 15.1'!$C$6</c:f>
              <c:strCache>
                <c:ptCount val="1"/>
                <c:pt idx="0">
                  <c:v>Media visitatori</c:v>
                </c:pt>
              </c:strCache>
            </c:strRef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finale.xlsx]2019 - Quesito 6 x 15.1'!$A$7:$A$11</c:f>
              <c:strCache>
                <c:ptCount val="5"/>
                <c:pt idx="0">
                  <c:v>Micro</c:v>
                </c:pt>
                <c:pt idx="1">
                  <c:v>Piccoli</c:v>
                </c:pt>
                <c:pt idx="2">
                  <c:v>Medi</c:v>
                </c:pt>
                <c:pt idx="3">
                  <c:v>Grandi</c:v>
                </c:pt>
                <c:pt idx="4">
                  <c:v>Non Risponde</c:v>
                </c:pt>
              </c:strCache>
            </c:strRef>
          </c:cat>
          <c:val>
            <c:numRef>
              <c:f>'[Tabelle e grafici - report finale.xlsx]2019 - Quesito 6 x 15.1'!$C$7:$C$11</c:f>
              <c:numCache>
                <c:formatCode>#,##0</c:formatCode>
                <c:ptCount val="5"/>
                <c:pt idx="0">
                  <c:v>4902</c:v>
                </c:pt>
                <c:pt idx="1">
                  <c:v>15388</c:v>
                </c:pt>
                <c:pt idx="2">
                  <c:v>42539.32876712329</c:v>
                </c:pt>
                <c:pt idx="3">
                  <c:v>92539.846153846156</c:v>
                </c:pt>
                <c:pt idx="4">
                  <c:v>1710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F5-49B5-BEAF-451C2385E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16707528"/>
        <c:axId val="716707200"/>
      </c:lineChart>
      <c:catAx>
        <c:axId val="716701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16695720"/>
        <c:crosses val="autoZero"/>
        <c:auto val="1"/>
        <c:lblAlgn val="ctr"/>
        <c:lblOffset val="100"/>
        <c:noMultiLvlLbl val="0"/>
      </c:catAx>
      <c:valAx>
        <c:axId val="716695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Musei/Istituti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16701296"/>
        <c:crosses val="autoZero"/>
        <c:crossBetween val="between"/>
      </c:valAx>
      <c:valAx>
        <c:axId val="716707200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Numero Medio di Visitatori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16707528"/>
        <c:crosses val="max"/>
        <c:crossBetween val="between"/>
      </c:valAx>
      <c:catAx>
        <c:axId val="7167075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1670720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finale.xlsx]Dati Istat Nazionali'!$B$5</c:f>
              <c:strCache>
                <c:ptCount val="1"/>
                <c:pt idx="0">
                  <c:v>Nr Musei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4A-D14E-8CE1-4678F8C5CAC8}"/>
              </c:ext>
            </c:extLst>
          </c:dPt>
          <c:cat>
            <c:strRef>
              <c:f>'[Tabelle e grafici - report finale.xlsx]Dati Istat Nazionali'!$A$6:$A$27</c:f>
              <c:strCache>
                <c:ptCount val="22"/>
                <c:pt idx="0">
                  <c:v>Toscana</c:v>
                </c:pt>
                <c:pt idx="1">
                  <c:v>Emilia-Romagna</c:v>
                </c:pt>
                <c:pt idx="2">
                  <c:v>Lombardia</c:v>
                </c:pt>
                <c:pt idx="3">
                  <c:v>Piemonte</c:v>
                </c:pt>
                <c:pt idx="4">
                  <c:v>Lazio</c:v>
                </c:pt>
                <c:pt idx="5">
                  <c:v>Sardegna</c:v>
                </c:pt>
                <c:pt idx="6">
                  <c:v>Veneto</c:v>
                </c:pt>
                <c:pt idx="7">
                  <c:v>Marche</c:v>
                </c:pt>
                <c:pt idx="8">
                  <c:v>Sicilia</c:v>
                </c:pt>
                <c:pt idx="9">
                  <c:v>Campania</c:v>
                </c:pt>
                <c:pt idx="10">
                  <c:v>Trentino-Alto Adige</c:v>
                </c:pt>
                <c:pt idx="11">
                  <c:v>Liguria</c:v>
                </c:pt>
                <c:pt idx="12">
                  <c:v>Friuli-Venezia Giulia</c:v>
                </c:pt>
                <c:pt idx="13">
                  <c:v>Umbria</c:v>
                </c:pt>
                <c:pt idx="14">
                  <c:v>Calabria</c:v>
                </c:pt>
                <c:pt idx="15">
                  <c:v>Puglia</c:v>
                </c:pt>
                <c:pt idx="16">
                  <c:v>Bolzano/Bozen</c:v>
                </c:pt>
                <c:pt idx="17">
                  <c:v>Abruzzo</c:v>
                </c:pt>
                <c:pt idx="18">
                  <c:v>Trento</c:v>
                </c:pt>
                <c:pt idx="19">
                  <c:v>Valle d'Aosta - Vallée d'Aoste</c:v>
                </c:pt>
                <c:pt idx="20">
                  <c:v>Basilicata</c:v>
                </c:pt>
                <c:pt idx="21">
                  <c:v>Molise</c:v>
                </c:pt>
              </c:strCache>
            </c:strRef>
          </c:cat>
          <c:val>
            <c:numRef>
              <c:f>'[Tabelle e grafici - report finale.xlsx]Dati Istat Nazionali'!$B$6:$B$27</c:f>
              <c:numCache>
                <c:formatCode>General</c:formatCode>
                <c:ptCount val="22"/>
                <c:pt idx="0">
                  <c:v>580</c:v>
                </c:pt>
                <c:pt idx="1">
                  <c:v>458</c:v>
                </c:pt>
                <c:pt idx="2">
                  <c:v>419</c:v>
                </c:pt>
                <c:pt idx="3">
                  <c:v>414</c:v>
                </c:pt>
                <c:pt idx="4">
                  <c:v>349</c:v>
                </c:pt>
                <c:pt idx="5">
                  <c:v>307</c:v>
                </c:pt>
                <c:pt idx="6">
                  <c:v>299</c:v>
                </c:pt>
                <c:pt idx="7">
                  <c:v>282</c:v>
                </c:pt>
                <c:pt idx="8">
                  <c:v>241</c:v>
                </c:pt>
                <c:pt idx="9">
                  <c:v>227</c:v>
                </c:pt>
                <c:pt idx="10">
                  <c:v>200</c:v>
                </c:pt>
                <c:pt idx="11">
                  <c:v>197</c:v>
                </c:pt>
                <c:pt idx="12">
                  <c:v>170</c:v>
                </c:pt>
                <c:pt idx="13">
                  <c:v>170</c:v>
                </c:pt>
                <c:pt idx="14">
                  <c:v>163</c:v>
                </c:pt>
                <c:pt idx="15">
                  <c:v>142</c:v>
                </c:pt>
                <c:pt idx="16">
                  <c:v>111</c:v>
                </c:pt>
                <c:pt idx="17">
                  <c:v>110</c:v>
                </c:pt>
                <c:pt idx="18">
                  <c:v>89</c:v>
                </c:pt>
                <c:pt idx="19">
                  <c:v>60</c:v>
                </c:pt>
                <c:pt idx="20">
                  <c:v>49</c:v>
                </c:pt>
                <c:pt idx="2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A4A-D14E-8CE1-4678F8C5C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6845624"/>
        <c:axId val="301342200"/>
      </c:barChart>
      <c:scatterChart>
        <c:scatterStyle val="lineMarker"/>
        <c:varyColors val="0"/>
        <c:ser>
          <c:idx val="1"/>
          <c:order val="1"/>
          <c:tx>
            <c:strRef>
              <c:f>'[Tabelle e grafici - report finale.xlsx]Dati Istat Nazionali'!$C$5</c:f>
              <c:strCache>
                <c:ptCount val="1"/>
                <c:pt idx="0">
                  <c:v>Nr visitatori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02060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'[Tabelle e grafici - report finale.xlsx]Dati Istat Nazionali'!$A$6:$A$27</c:f>
              <c:strCache>
                <c:ptCount val="22"/>
                <c:pt idx="0">
                  <c:v>Toscana</c:v>
                </c:pt>
                <c:pt idx="1">
                  <c:v>Emilia-Romagna</c:v>
                </c:pt>
                <c:pt idx="2">
                  <c:v>Lombardia</c:v>
                </c:pt>
                <c:pt idx="3">
                  <c:v>Piemonte</c:v>
                </c:pt>
                <c:pt idx="4">
                  <c:v>Lazio</c:v>
                </c:pt>
                <c:pt idx="5">
                  <c:v>Sardegna</c:v>
                </c:pt>
                <c:pt idx="6">
                  <c:v>Veneto</c:v>
                </c:pt>
                <c:pt idx="7">
                  <c:v>Marche</c:v>
                </c:pt>
                <c:pt idx="8">
                  <c:v>Sicilia</c:v>
                </c:pt>
                <c:pt idx="9">
                  <c:v>Campania</c:v>
                </c:pt>
                <c:pt idx="10">
                  <c:v>Trentino-Alto Adige</c:v>
                </c:pt>
                <c:pt idx="11">
                  <c:v>Liguria</c:v>
                </c:pt>
                <c:pt idx="12">
                  <c:v>Friuli-Venezia Giulia</c:v>
                </c:pt>
                <c:pt idx="13">
                  <c:v>Umbria</c:v>
                </c:pt>
                <c:pt idx="14">
                  <c:v>Calabria</c:v>
                </c:pt>
                <c:pt idx="15">
                  <c:v>Puglia</c:v>
                </c:pt>
                <c:pt idx="16">
                  <c:v>Bolzano/Bozen</c:v>
                </c:pt>
                <c:pt idx="17">
                  <c:v>Abruzzo</c:v>
                </c:pt>
                <c:pt idx="18">
                  <c:v>Trento</c:v>
                </c:pt>
                <c:pt idx="19">
                  <c:v>Valle d'Aosta - Vallée d'Aoste</c:v>
                </c:pt>
                <c:pt idx="20">
                  <c:v>Basilicata</c:v>
                </c:pt>
                <c:pt idx="21">
                  <c:v>Molise</c:v>
                </c:pt>
              </c:strCache>
            </c:strRef>
          </c:xVal>
          <c:yVal>
            <c:numRef>
              <c:f>'[Tabelle e grafici - report finale.xlsx]Dati Istat Nazionali'!$C$6:$C$27</c:f>
              <c:numCache>
                <c:formatCode>_-* #,##0_-;\-* #,##0_-;_-* "-"??_-;_-@_-</c:formatCode>
                <c:ptCount val="22"/>
                <c:pt idx="0">
                  <c:v>24093298</c:v>
                </c:pt>
                <c:pt idx="1">
                  <c:v>6868833</c:v>
                </c:pt>
                <c:pt idx="2">
                  <c:v>10254052</c:v>
                </c:pt>
                <c:pt idx="3">
                  <c:v>7327285</c:v>
                </c:pt>
                <c:pt idx="4">
                  <c:v>33014629</c:v>
                </c:pt>
                <c:pt idx="5">
                  <c:v>2395659</c:v>
                </c:pt>
                <c:pt idx="6">
                  <c:v>9777830</c:v>
                </c:pt>
                <c:pt idx="7">
                  <c:v>2018067</c:v>
                </c:pt>
                <c:pt idx="8">
                  <c:v>6657459</c:v>
                </c:pt>
                <c:pt idx="9">
                  <c:v>13151344</c:v>
                </c:pt>
                <c:pt idx="10">
                  <c:v>3644754</c:v>
                </c:pt>
                <c:pt idx="11">
                  <c:v>1568138</c:v>
                </c:pt>
                <c:pt idx="12">
                  <c:v>2974694</c:v>
                </c:pt>
                <c:pt idx="13">
                  <c:v>1472152</c:v>
                </c:pt>
                <c:pt idx="14">
                  <c:v>1151410</c:v>
                </c:pt>
                <c:pt idx="15">
                  <c:v>1483568</c:v>
                </c:pt>
                <c:pt idx="16">
                  <c:v>1887814</c:v>
                </c:pt>
                <c:pt idx="17">
                  <c:v>407398</c:v>
                </c:pt>
                <c:pt idx="18">
                  <c:v>1756940</c:v>
                </c:pt>
                <c:pt idx="19">
                  <c:v>910531</c:v>
                </c:pt>
                <c:pt idx="20">
                  <c:v>613113</c:v>
                </c:pt>
                <c:pt idx="21">
                  <c:v>162753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EA4A-D14E-8CE1-4678F8C5CA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85497688"/>
        <c:axId val="985491456"/>
      </c:scatterChart>
      <c:catAx>
        <c:axId val="316845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01342200"/>
        <c:crosses val="autoZero"/>
        <c:auto val="1"/>
        <c:lblAlgn val="ctr"/>
        <c:lblOffset val="100"/>
        <c:noMultiLvlLbl val="0"/>
      </c:catAx>
      <c:valAx>
        <c:axId val="301342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Musei/Istituti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316845624"/>
        <c:crosses val="autoZero"/>
        <c:crossBetween val="between"/>
      </c:valAx>
      <c:valAx>
        <c:axId val="985491456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Visitatori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_-* #,##0_-;\-* #,##0_-;_-* &quot;-&quot;??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85497688"/>
        <c:crosses val="max"/>
        <c:crossBetween val="midCat"/>
      </c:valAx>
      <c:valAx>
        <c:axId val="985497688"/>
        <c:scaling>
          <c:orientation val="minMax"/>
        </c:scaling>
        <c:delete val="1"/>
        <c:axPos val="t"/>
        <c:majorTickMark val="out"/>
        <c:minorTickMark val="none"/>
        <c:tickLblPos val="nextTo"/>
        <c:crossAx val="985491456"/>
        <c:crosses val="max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finale.xlsx]Dati Istat Nazionali'!$AI$4</c:f>
              <c:strCache>
                <c:ptCount val="1"/>
                <c:pt idx="0">
                  <c:v>Nr Musei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98-41CB-9148-50DD45777F0C}"/>
              </c:ext>
            </c:extLst>
          </c:dPt>
          <c:cat>
            <c:strRef>
              <c:f>'[Tabelle e grafici - report finale.xlsx]Dati Istat Nazionali'!$AH$5:$AH$26</c:f>
              <c:strCache>
                <c:ptCount val="22"/>
                <c:pt idx="0">
                  <c:v>Toscana</c:v>
                </c:pt>
                <c:pt idx="1">
                  <c:v>Emilia-Romagna</c:v>
                </c:pt>
                <c:pt idx="2">
                  <c:v>Lombardia</c:v>
                </c:pt>
                <c:pt idx="3">
                  <c:v>Piemonte</c:v>
                </c:pt>
                <c:pt idx="4">
                  <c:v>Lazio</c:v>
                </c:pt>
                <c:pt idx="5">
                  <c:v>Sardegna</c:v>
                </c:pt>
                <c:pt idx="6">
                  <c:v>Veneto</c:v>
                </c:pt>
                <c:pt idx="7">
                  <c:v>Marche</c:v>
                </c:pt>
                <c:pt idx="8">
                  <c:v>Sicilia</c:v>
                </c:pt>
                <c:pt idx="9">
                  <c:v>Campania</c:v>
                </c:pt>
                <c:pt idx="10">
                  <c:v>Trentino-Alto Adige</c:v>
                </c:pt>
                <c:pt idx="11">
                  <c:v>Liguria</c:v>
                </c:pt>
                <c:pt idx="12">
                  <c:v>Friuli-Venezia Giulia</c:v>
                </c:pt>
                <c:pt idx="13">
                  <c:v>Umbria</c:v>
                </c:pt>
                <c:pt idx="14">
                  <c:v>Calabria</c:v>
                </c:pt>
                <c:pt idx="15">
                  <c:v>Puglia</c:v>
                </c:pt>
                <c:pt idx="16">
                  <c:v>Bolzano/Bozen</c:v>
                </c:pt>
                <c:pt idx="17">
                  <c:v>Abruzzo</c:v>
                </c:pt>
                <c:pt idx="18">
                  <c:v>Trento</c:v>
                </c:pt>
                <c:pt idx="19">
                  <c:v>Valle d'Aosta - Vallée d'Aoste</c:v>
                </c:pt>
                <c:pt idx="20">
                  <c:v>Basilicata</c:v>
                </c:pt>
                <c:pt idx="21">
                  <c:v>Molise</c:v>
                </c:pt>
              </c:strCache>
            </c:strRef>
          </c:cat>
          <c:val>
            <c:numRef>
              <c:f>'[Tabelle e grafici - report finale.xlsx]Dati Istat Nazionali'!$AI$5:$AI$26</c:f>
              <c:numCache>
                <c:formatCode>General</c:formatCode>
                <c:ptCount val="22"/>
                <c:pt idx="0">
                  <c:v>580</c:v>
                </c:pt>
                <c:pt idx="1">
                  <c:v>458</c:v>
                </c:pt>
                <c:pt idx="2">
                  <c:v>419</c:v>
                </c:pt>
                <c:pt idx="3">
                  <c:v>414</c:v>
                </c:pt>
                <c:pt idx="4">
                  <c:v>349</c:v>
                </c:pt>
                <c:pt idx="5">
                  <c:v>307</c:v>
                </c:pt>
                <c:pt idx="6">
                  <c:v>299</c:v>
                </c:pt>
                <c:pt idx="7">
                  <c:v>282</c:v>
                </c:pt>
                <c:pt idx="8">
                  <c:v>241</c:v>
                </c:pt>
                <c:pt idx="9">
                  <c:v>227</c:v>
                </c:pt>
                <c:pt idx="10">
                  <c:v>200</c:v>
                </c:pt>
                <c:pt idx="11">
                  <c:v>197</c:v>
                </c:pt>
                <c:pt idx="12">
                  <c:v>170</c:v>
                </c:pt>
                <c:pt idx="13">
                  <c:v>170</c:v>
                </c:pt>
                <c:pt idx="14">
                  <c:v>163</c:v>
                </c:pt>
                <c:pt idx="15">
                  <c:v>142</c:v>
                </c:pt>
                <c:pt idx="16">
                  <c:v>111</c:v>
                </c:pt>
                <c:pt idx="17">
                  <c:v>110</c:v>
                </c:pt>
                <c:pt idx="18">
                  <c:v>89</c:v>
                </c:pt>
                <c:pt idx="19">
                  <c:v>60</c:v>
                </c:pt>
                <c:pt idx="20">
                  <c:v>49</c:v>
                </c:pt>
                <c:pt idx="2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98-41CB-9148-50DD45777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3647368"/>
        <c:axId val="893644088"/>
      </c:barChart>
      <c:scatterChart>
        <c:scatterStyle val="lineMarker"/>
        <c:varyColors val="0"/>
        <c:ser>
          <c:idx val="1"/>
          <c:order val="1"/>
          <c:tx>
            <c:strRef>
              <c:f>'[Tabelle e grafici - report finale.xlsx]Dati Istat Nazionali'!$AJ$4</c:f>
              <c:strCache>
                <c:ptCount val="1"/>
                <c:pt idx="0">
                  <c:v>Nr addetti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strRef>
              <c:f>'[Tabelle e grafici - report finale.xlsx]Dati Istat Nazionali'!$AH$5:$AH$26</c:f>
              <c:strCache>
                <c:ptCount val="22"/>
                <c:pt idx="0">
                  <c:v>Toscana</c:v>
                </c:pt>
                <c:pt idx="1">
                  <c:v>Emilia-Romagna</c:v>
                </c:pt>
                <c:pt idx="2">
                  <c:v>Lombardia</c:v>
                </c:pt>
                <c:pt idx="3">
                  <c:v>Piemonte</c:v>
                </c:pt>
                <c:pt idx="4">
                  <c:v>Lazio</c:v>
                </c:pt>
                <c:pt idx="5">
                  <c:v>Sardegna</c:v>
                </c:pt>
                <c:pt idx="6">
                  <c:v>Veneto</c:v>
                </c:pt>
                <c:pt idx="7">
                  <c:v>Marche</c:v>
                </c:pt>
                <c:pt idx="8">
                  <c:v>Sicilia</c:v>
                </c:pt>
                <c:pt idx="9">
                  <c:v>Campania</c:v>
                </c:pt>
                <c:pt idx="10">
                  <c:v>Trentino-Alto Adige</c:v>
                </c:pt>
                <c:pt idx="11">
                  <c:v>Liguria</c:v>
                </c:pt>
                <c:pt idx="12">
                  <c:v>Friuli-Venezia Giulia</c:v>
                </c:pt>
                <c:pt idx="13">
                  <c:v>Umbria</c:v>
                </c:pt>
                <c:pt idx="14">
                  <c:v>Calabria</c:v>
                </c:pt>
                <c:pt idx="15">
                  <c:v>Puglia</c:v>
                </c:pt>
                <c:pt idx="16">
                  <c:v>Bolzano/Bozen</c:v>
                </c:pt>
                <c:pt idx="17">
                  <c:v>Abruzzo</c:v>
                </c:pt>
                <c:pt idx="18">
                  <c:v>Trento</c:v>
                </c:pt>
                <c:pt idx="19">
                  <c:v>Valle d'Aosta - Vallée d'Aoste</c:v>
                </c:pt>
                <c:pt idx="20">
                  <c:v>Basilicata</c:v>
                </c:pt>
                <c:pt idx="21">
                  <c:v>Molise</c:v>
                </c:pt>
              </c:strCache>
            </c:strRef>
          </c:xVal>
          <c:yVal>
            <c:numRef>
              <c:f>'[Tabelle e grafici - report finale.xlsx]Dati Istat Nazionali'!$AJ$5:$AJ$26</c:f>
              <c:numCache>
                <c:formatCode>_-* #,##0_-;\-* #,##0_-;_-* "-"??_-;_-@_-</c:formatCode>
                <c:ptCount val="22"/>
                <c:pt idx="0">
                  <c:v>4470</c:v>
                </c:pt>
                <c:pt idx="1">
                  <c:v>3603</c:v>
                </c:pt>
                <c:pt idx="2">
                  <c:v>4510</c:v>
                </c:pt>
                <c:pt idx="3">
                  <c:v>4574</c:v>
                </c:pt>
                <c:pt idx="4">
                  <c:v>5125</c:v>
                </c:pt>
                <c:pt idx="5">
                  <c:v>1536</c:v>
                </c:pt>
                <c:pt idx="6">
                  <c:v>2651</c:v>
                </c:pt>
                <c:pt idx="7">
                  <c:v>976</c:v>
                </c:pt>
                <c:pt idx="8">
                  <c:v>3059</c:v>
                </c:pt>
                <c:pt idx="9">
                  <c:v>3293</c:v>
                </c:pt>
                <c:pt idx="10">
                  <c:v>3407</c:v>
                </c:pt>
                <c:pt idx="11">
                  <c:v>1224</c:v>
                </c:pt>
                <c:pt idx="12">
                  <c:v>866</c:v>
                </c:pt>
                <c:pt idx="13">
                  <c:v>629</c:v>
                </c:pt>
                <c:pt idx="14">
                  <c:v>685</c:v>
                </c:pt>
                <c:pt idx="15">
                  <c:v>803</c:v>
                </c:pt>
                <c:pt idx="16">
                  <c:v>1652</c:v>
                </c:pt>
                <c:pt idx="17">
                  <c:v>308</c:v>
                </c:pt>
                <c:pt idx="18">
                  <c:v>1755</c:v>
                </c:pt>
                <c:pt idx="19">
                  <c:v>244</c:v>
                </c:pt>
                <c:pt idx="20">
                  <c:v>297</c:v>
                </c:pt>
                <c:pt idx="21">
                  <c:v>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0898-41CB-9148-50DD45777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93640808"/>
        <c:axId val="893645728"/>
      </c:scatterChart>
      <c:catAx>
        <c:axId val="893647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93644088"/>
        <c:crosses val="autoZero"/>
        <c:auto val="1"/>
        <c:lblAlgn val="ctr"/>
        <c:lblOffset val="100"/>
        <c:noMultiLvlLbl val="0"/>
      </c:catAx>
      <c:valAx>
        <c:axId val="8936440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 sz="1000"/>
                  <a:t> </a:t>
                </a:r>
                <a:r>
                  <a:rPr lang="it-IT" sz="1000" b="0" i="0" baseline="0">
                    <a:effectLst/>
                  </a:rPr>
                  <a:t>Musei/Istituti</a:t>
                </a:r>
                <a:endParaRPr lang="it-IT" sz="1000">
                  <a:effectLst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93647368"/>
        <c:crosses val="autoZero"/>
        <c:crossBetween val="between"/>
      </c:valAx>
      <c:valAx>
        <c:axId val="89364572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Addetti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_-* #,##0_-;\-* #,##0_-;_-* &quot;-&quot;??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93640808"/>
        <c:crosses val="max"/>
        <c:crossBetween val="midCat"/>
      </c:valAx>
      <c:valAx>
        <c:axId val="893640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936457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/>
              <a:t>Musei nel 2020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1D0-B147-A4CF-D59B77501228}"/>
              </c:ext>
            </c:extLst>
          </c:dPt>
          <c:dPt>
            <c:idx val="1"/>
            <c:bubble3D val="0"/>
            <c:explosion val="15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1D0-B147-A4CF-D59B77501228}"/>
              </c:ext>
            </c:extLst>
          </c:dPt>
          <c:dPt>
            <c:idx val="2"/>
            <c:bubble3D val="0"/>
            <c:spPr>
              <a:solidFill>
                <a:srgbClr val="F63732">
                  <a:alpha val="98824"/>
                </a:srgb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1D0-B147-A4CF-D59B7750122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rifatti'!$I$7:$I$9</c:f>
              <c:strCache>
                <c:ptCount val="3"/>
                <c:pt idx="0">
                  <c:v>Musei nel 2020</c:v>
                </c:pt>
                <c:pt idx="1">
                  <c:v>Aperti</c:v>
                </c:pt>
                <c:pt idx="2">
                  <c:v>Chiusi</c:v>
                </c:pt>
              </c:strCache>
            </c:strRef>
          </c:cat>
          <c:val>
            <c:numRef>
              <c:f>'[Tabelle e grafici - report finale.xlsx]Grafici rifatti'!$J$7:$J$9</c:f>
              <c:numCache>
                <c:formatCode>0%</c:formatCode>
                <c:ptCount val="3"/>
                <c:pt idx="1">
                  <c:v>0.16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1D0-B147-A4CF-D59B775012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88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/>
              <a:t>Musei nel 2021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explosion val="2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29-F44C-A611-6EFE3305B53D}"/>
              </c:ext>
            </c:extLst>
          </c:dPt>
          <c:dPt>
            <c:idx val="1"/>
            <c:bubble3D val="0"/>
            <c:spPr>
              <a:solidFill>
                <a:srgbClr val="F637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29-F44C-A611-6EFE3305B53D}"/>
              </c:ext>
            </c:extLst>
          </c:dPt>
          <c:dLbls>
            <c:dLbl>
              <c:idx val="0"/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29-F44C-A611-6EFE3305B53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rifatti'!$I$27:$I$28</c:f>
              <c:strCache>
                <c:ptCount val="2"/>
                <c:pt idx="0">
                  <c:v>Aperti</c:v>
                </c:pt>
                <c:pt idx="1">
                  <c:v>Chiusi</c:v>
                </c:pt>
              </c:strCache>
            </c:strRef>
          </c:cat>
          <c:val>
            <c:numRef>
              <c:f>'[Tabelle e grafici - report finale.xlsx]Grafici rifatti'!$J$27:$J$28</c:f>
              <c:numCache>
                <c:formatCode>0%</c:formatCode>
                <c:ptCount val="2"/>
                <c:pt idx="0">
                  <c:v>0.56999999999999995</c:v>
                </c:pt>
                <c:pt idx="1">
                  <c:v>0.43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29-F44C-A611-6EFE3305B5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16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Aprile - Maggio 2020</a:t>
            </a:r>
            <a:r>
              <a:rPr lang="it-IT" sz="1400" b="0" i="0" u="none" strike="noStrike" baseline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54B-264D-8FAD-1325B09ADC92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54B-264D-8FAD-1325B09ADC92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54B-264D-8FAD-1325B09ADC9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54B-264D-8FAD-1325B09ADC92}"/>
              </c:ext>
            </c:extLst>
          </c:dPt>
          <c:dLbls>
            <c:dLbl>
              <c:idx val="0"/>
              <c:layout>
                <c:manualLayout>
                  <c:x val="2.7703099634851108E-2"/>
                  <c:y val="-5.342962049038188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0994331680650918E-2"/>
                      <c:h val="7.2441508363832924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4B-264D-8FAD-1325B09ADC92}"/>
                </c:ext>
              </c:extLst>
            </c:dLbl>
            <c:dLbl>
              <c:idx val="1"/>
              <c:layout>
                <c:manualLayout>
                  <c:x val="-1.057135906682378E-2"/>
                  <c:y val="3.8176380886156777E-3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4B-264D-8FAD-1325B09ADC92}"/>
                </c:ext>
              </c:extLst>
            </c:dLbl>
            <c:dLbl>
              <c:idx val="2"/>
              <c:layout>
                <c:manualLayout>
                  <c:x val="6.7773914550784575E-2"/>
                  <c:y val="0.16492614437675218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4B-264D-8FAD-1325B09ADC92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4B-264D-8FAD-1325B09ADC9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rifatti'!$M$78:$M$82</c:f>
              <c:strCache>
                <c:ptCount val="4"/>
                <c:pt idx="0">
                  <c:v>Aperto </c:v>
                </c:pt>
                <c:pt idx="1">
                  <c:v>Aperto/Chiuso</c:v>
                </c:pt>
                <c:pt idx="2">
                  <c:v>Chiuso volontariamente</c:v>
                </c:pt>
                <c:pt idx="3">
                  <c:v>A/C su base locale</c:v>
                </c:pt>
              </c:strCache>
              <c:extLst/>
            </c:strRef>
          </c:cat>
          <c:val>
            <c:numRef>
              <c:f>'[Tabelle e grafici - report finale.xlsx]Grafici rifatti'!$N$78:$N$82</c:f>
              <c:numCache>
                <c:formatCode>0.0%</c:formatCode>
                <c:ptCount val="4"/>
                <c:pt idx="0">
                  <c:v>1.0999999999999999E-2</c:v>
                </c:pt>
                <c:pt idx="1">
                  <c:v>0.04</c:v>
                </c:pt>
                <c:pt idx="2">
                  <c:v>0.94799999999999995</c:v>
                </c:pt>
                <c:pt idx="3">
                  <c:v>1E-3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8-154B-264D-8FAD-1325B09ADC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42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>
                <a:effectLst/>
              </a:rPr>
              <a:t>Settembre - Ottobre 2020</a:t>
            </a:r>
            <a:r>
              <a:rPr lang="it-IT" sz="1400" b="0" i="0" u="none" strike="noStrike" baseline="0"/>
              <a:t> </a:t>
            </a:r>
            <a:endParaRPr lang="it-IT"/>
          </a:p>
        </c:rich>
      </c:tx>
      <c:layout>
        <c:manualLayout>
          <c:xMode val="edge"/>
          <c:yMode val="edge"/>
          <c:x val="0.27185201075092436"/>
          <c:y val="4.1399654926396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DF4-5346-B679-821EE89CEC7F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DF4-5346-B679-821EE89CEC7F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DF4-5346-B679-821EE89CEC7F}"/>
              </c:ext>
            </c:extLst>
          </c:dPt>
          <c:dPt>
            <c:idx val="3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DF4-5346-B679-821EE89CEC7F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DF4-5346-B679-821EE89CEC7F}"/>
              </c:ext>
            </c:extLst>
          </c:dPt>
          <c:dLbls>
            <c:dLbl>
              <c:idx val="1"/>
              <c:layout>
                <c:manualLayout>
                  <c:x val="5.7918711908036692E-2"/>
                  <c:y val="9.2860631443196132E-2"/>
                </c:manualLayout>
              </c:layout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DF4-5346-B679-821EE89CEC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rifatti'!$M$88:$M$91</c:f>
              <c:strCache>
                <c:ptCount val="4"/>
                <c:pt idx="0">
                  <c:v>Aperto </c:v>
                </c:pt>
                <c:pt idx="1">
                  <c:v>Aperto/Chiuso</c:v>
                </c:pt>
                <c:pt idx="2">
                  <c:v>A/C su base locale</c:v>
                </c:pt>
                <c:pt idx="3">
                  <c:v>Chiuso volontariamente</c:v>
                </c:pt>
              </c:strCache>
            </c:strRef>
          </c:cat>
          <c:val>
            <c:numRef>
              <c:f>'[Tabelle e grafici - report finale.xlsx]Grafici rifatti'!$N$88:$N$91</c:f>
              <c:numCache>
                <c:formatCode>0.0%</c:formatCode>
                <c:ptCount val="4"/>
                <c:pt idx="0">
                  <c:v>0.51200000000000001</c:v>
                </c:pt>
                <c:pt idx="1">
                  <c:v>0.123</c:v>
                </c:pt>
                <c:pt idx="2">
                  <c:v>0.185</c:v>
                </c:pt>
                <c:pt idx="3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DF4-5346-B679-821EE89CE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38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>
                <a:effectLst/>
              </a:rPr>
              <a:t>Aprile - Maggio 2021</a:t>
            </a:r>
            <a:r>
              <a:rPr lang="it-IT" sz="1400" b="0" i="0" u="none" strike="noStrike" baseline="0"/>
              <a:t> </a:t>
            </a:r>
            <a:endParaRPr lang="it-IT"/>
          </a:p>
        </c:rich>
      </c:tx>
      <c:layout>
        <c:manualLayout>
          <c:xMode val="edge"/>
          <c:yMode val="edge"/>
          <c:x val="0.32860883972263694"/>
          <c:y val="3.6332189829765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AFC-2340-BD70-03EC0351FA0A}"/>
              </c:ext>
            </c:extLst>
          </c:dPt>
          <c:dPt>
            <c:idx val="1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AFC-2340-BD70-03EC0351FA0A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AFC-2340-BD70-03EC0351FA0A}"/>
              </c:ext>
            </c:extLst>
          </c:dPt>
          <c:dPt>
            <c:idx val="3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AFC-2340-BD70-03EC0351FA0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2AFC-2340-BD70-03EC0351FA0A}"/>
              </c:ext>
            </c:extLst>
          </c:dPt>
          <c:dLbls>
            <c:dLbl>
              <c:idx val="3"/>
              <c:layout>
                <c:manualLayout>
                  <c:x val="-0.15087095680242388"/>
                  <c:y val="-9.98443477675073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FC-2340-BD70-03EC0351FA0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rifatti'!$M$96:$M$99</c:f>
              <c:strCache>
                <c:ptCount val="4"/>
                <c:pt idx="0">
                  <c:v>Aperto </c:v>
                </c:pt>
                <c:pt idx="1">
                  <c:v>A/C su base locale</c:v>
                </c:pt>
                <c:pt idx="2">
                  <c:v>Aperto/Chiuso</c:v>
                </c:pt>
                <c:pt idx="3">
                  <c:v>Chiuso volontariamente</c:v>
                </c:pt>
              </c:strCache>
            </c:strRef>
          </c:cat>
          <c:val>
            <c:numRef>
              <c:f>'[Tabelle e grafici - report finale.xlsx]Grafici rifatti'!$N$96:$N$99</c:f>
              <c:numCache>
                <c:formatCode>0.0%</c:formatCode>
                <c:ptCount val="4"/>
                <c:pt idx="0">
                  <c:v>0.35599999999999998</c:v>
                </c:pt>
                <c:pt idx="1">
                  <c:v>0.08</c:v>
                </c:pt>
                <c:pt idx="2">
                  <c:v>0.29399999999999998</c:v>
                </c:pt>
                <c:pt idx="3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AFC-2340-BD70-03EC0351FA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54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 dirty="0">
                <a:effectLst/>
              </a:rPr>
              <a:t>Aprile - Maggio 2021</a:t>
            </a:r>
            <a:r>
              <a:rPr lang="it-IT" sz="1400" b="0" i="0" u="none" strike="noStrike" baseline="0" dirty="0"/>
              <a:t> </a:t>
            </a:r>
            <a:endParaRPr lang="it-IT" dirty="0"/>
          </a:p>
        </c:rich>
      </c:tx>
      <c:layout>
        <c:manualLayout>
          <c:xMode val="edge"/>
          <c:yMode val="edge"/>
          <c:x val="0.34449676964950909"/>
          <c:y val="2.53736851021531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4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86C-BB4F-BE5E-FEC6EAE8DFC8}"/>
              </c:ext>
            </c:extLst>
          </c:dPt>
          <c:dPt>
            <c:idx val="1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86C-BB4F-BE5E-FEC6EAE8DFC8}"/>
              </c:ext>
            </c:extLst>
          </c:dPt>
          <c:dPt>
            <c:idx val="2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86C-BB4F-BE5E-FEC6EAE8DFC8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86C-BB4F-BE5E-FEC6EAE8DFC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886C-BB4F-BE5E-FEC6EAE8DFC8}"/>
              </c:ext>
            </c:extLst>
          </c:dPt>
          <c:dLbls>
            <c:dLbl>
              <c:idx val="3"/>
              <c:layout>
                <c:manualLayout>
                  <c:x val="9.5342459257768256E-2"/>
                  <c:y val="-7.84100640768823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86C-BB4F-BE5E-FEC6EAE8DFC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rifatti'!$M$119:$M$122</c:f>
              <c:strCache>
                <c:ptCount val="4"/>
                <c:pt idx="0">
                  <c:v>Aperto/Chiuso volontariamente</c:v>
                </c:pt>
                <c:pt idx="1">
                  <c:v>A/C su base locale</c:v>
                </c:pt>
                <c:pt idx="2">
                  <c:v>Chiuso </c:v>
                </c:pt>
                <c:pt idx="3">
                  <c:v>Aperto </c:v>
                </c:pt>
              </c:strCache>
            </c:strRef>
          </c:cat>
          <c:val>
            <c:numRef>
              <c:f>'[Tabelle e grafici - report finale.xlsx]Grafici rifatti'!$N$119:$N$122</c:f>
              <c:numCache>
                <c:formatCode>0.0%</c:formatCode>
                <c:ptCount val="4"/>
                <c:pt idx="0">
                  <c:v>3.1E-2</c:v>
                </c:pt>
                <c:pt idx="1">
                  <c:v>0.28899999999999998</c:v>
                </c:pt>
                <c:pt idx="2">
                  <c:v>0.35499999999999998</c:v>
                </c:pt>
                <c:pt idx="3">
                  <c:v>0.32500000000000001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6C-BB4F-BE5E-FEC6EAE8DF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55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 dirty="0">
                <a:effectLst/>
              </a:rPr>
              <a:t>Aprile - Maggio 2021</a:t>
            </a:r>
            <a:endParaRPr lang="it-IT" dirty="0"/>
          </a:p>
        </c:rich>
      </c:tx>
      <c:layout>
        <c:manualLayout>
          <c:xMode val="edge"/>
          <c:yMode val="edge"/>
          <c:x val="0.32860883972263694"/>
          <c:y val="3.6332189829765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explosion val="1"/>
          <c:dPt>
            <c:idx val="0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5D4-5545-9CA0-1AFFCA1D4A9F}"/>
              </c:ext>
            </c:extLst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5D4-5545-9CA0-1AFFCA1D4A9F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5D4-5545-9CA0-1AFFCA1D4A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F5D4-5545-9CA0-1AFFCA1D4A9F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F5D4-5545-9CA0-1AFFCA1D4A9F}"/>
              </c:ext>
            </c:extLst>
          </c:dPt>
          <c:dPt>
            <c:idx val="5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F5D4-5545-9CA0-1AFFCA1D4A9F}"/>
              </c:ext>
            </c:extLst>
          </c:dPt>
          <c:dPt>
            <c:idx val="6"/>
            <c:bubble3D val="0"/>
            <c:spPr>
              <a:solidFill>
                <a:schemeClr val="accent6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F5D4-5545-9CA0-1AFFCA1D4A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rifatti'!$M$138:$M$144</c:f>
              <c:strCache>
                <c:ptCount val="7"/>
                <c:pt idx="0">
                  <c:v>&lt;10%</c:v>
                </c:pt>
                <c:pt idx="1">
                  <c:v>&lt;25%</c:v>
                </c:pt>
                <c:pt idx="2">
                  <c:v>Fino al 50%</c:v>
                </c:pt>
                <c:pt idx="3">
                  <c:v>Più del 50%</c:v>
                </c:pt>
                <c:pt idx="4">
                  <c:v>&gt;75%</c:v>
                </c:pt>
                <c:pt idx="5">
                  <c:v>&gt;90%</c:v>
                </c:pt>
                <c:pt idx="6">
                  <c:v>I visitatori sono aumentati nel 2020</c:v>
                </c:pt>
              </c:strCache>
            </c:strRef>
          </c:cat>
          <c:val>
            <c:numRef>
              <c:f>'[Tabelle e grafici - report finale.xlsx]Grafici rifatti'!$N$138:$N$144</c:f>
              <c:numCache>
                <c:formatCode>0.0%</c:formatCode>
                <c:ptCount val="7"/>
                <c:pt idx="0">
                  <c:v>2.3E-2</c:v>
                </c:pt>
                <c:pt idx="1">
                  <c:v>4.9000000000000002E-2</c:v>
                </c:pt>
                <c:pt idx="2">
                  <c:v>0.20499999999999999</c:v>
                </c:pt>
                <c:pt idx="3">
                  <c:v>0.24299999999999999</c:v>
                </c:pt>
                <c:pt idx="4">
                  <c:v>0.253</c:v>
                </c:pt>
                <c:pt idx="5">
                  <c:v>0.19900000000000001</c:v>
                </c:pt>
                <c:pt idx="6">
                  <c:v>2.8000000000000001E-2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F5D4-5545-9CA0-1AFFCA1D4A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5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5929202429851408E-2"/>
          <c:y val="0.16610390597605262"/>
          <c:w val="0.3322890159369371"/>
          <c:h val="0.761684538507625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1" i="0" u="none" strike="noStrike" baseline="0" dirty="0">
                <a:effectLst/>
              </a:rPr>
              <a:t>Ottobre - Novembre 2020</a:t>
            </a:r>
            <a:endParaRPr lang="it-IT" dirty="0"/>
          </a:p>
        </c:rich>
      </c:tx>
      <c:layout>
        <c:manualLayout>
          <c:xMode val="edge"/>
          <c:yMode val="edge"/>
          <c:x val="0.32860883972263694"/>
          <c:y val="3.6332189829765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112-2C4A-88D5-5A63DA4DCA88}"/>
              </c:ext>
            </c:extLst>
          </c:dPt>
          <c:dPt>
            <c:idx val="1"/>
            <c:bubble3D val="0"/>
            <c:spPr>
              <a:solidFill>
                <a:srgbClr val="F6373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112-2C4A-88D5-5A63DA4DCA88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112-2C4A-88D5-5A63DA4DCA88}"/>
              </c:ext>
            </c:extLst>
          </c:dPt>
          <c:dPt>
            <c:idx val="3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112-2C4A-88D5-5A63DA4DCA88}"/>
              </c:ext>
            </c:extLst>
          </c:dPt>
          <c:dPt>
            <c:idx val="4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112-2C4A-88D5-5A63DA4DCA88}"/>
              </c:ext>
            </c:extLst>
          </c:dPt>
          <c:dPt>
            <c:idx val="5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112-2C4A-88D5-5A63DA4DCA8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112-2C4A-88D5-5A63DA4DCA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rifatti'!$M$156:$M$162</c:f>
              <c:strCache>
                <c:ptCount val="7"/>
                <c:pt idx="0">
                  <c:v>Riduzione &lt; 10%</c:v>
                </c:pt>
                <c:pt idx="1">
                  <c:v>Riduzione &lt; 25%</c:v>
                </c:pt>
                <c:pt idx="2">
                  <c:v>Riduzione &lt; 50%</c:v>
                </c:pt>
                <c:pt idx="3">
                  <c:v>Riduzione &lt; 75%</c:v>
                </c:pt>
                <c:pt idx="4">
                  <c:v>Riduzione &gt;75%</c:v>
                </c:pt>
                <c:pt idx="5">
                  <c:v>Abbiamo notato un incremento nei visitatori</c:v>
                </c:pt>
                <c:pt idx="6">
                  <c:v>Non abbiamo notato variazione nel numero di visitatori</c:v>
                </c:pt>
              </c:strCache>
            </c:strRef>
          </c:cat>
          <c:val>
            <c:numRef>
              <c:f>'[Tabelle e grafici - report finale.xlsx]Grafici rifatti'!$N$156:$N$162</c:f>
              <c:numCache>
                <c:formatCode>0%</c:formatCode>
                <c:ptCount val="7"/>
                <c:pt idx="0">
                  <c:v>0.04</c:v>
                </c:pt>
                <c:pt idx="1">
                  <c:v>0.13</c:v>
                </c:pt>
                <c:pt idx="2">
                  <c:v>0.28000000000000003</c:v>
                </c:pt>
                <c:pt idx="3">
                  <c:v>0.23</c:v>
                </c:pt>
                <c:pt idx="4">
                  <c:v>0.2</c:v>
                </c:pt>
                <c:pt idx="5">
                  <c:v>0.06</c:v>
                </c:pt>
                <c:pt idx="6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112-2C4A-88D5-5A63DA4DC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5929202429851408E-2"/>
          <c:y val="0.16610390597605262"/>
          <c:w val="0.3322890159369371"/>
          <c:h val="0.761684538507625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0406183098080482"/>
          <c:y val="0.12589952477936187"/>
          <c:w val="0.84653845688643758"/>
          <c:h val="0.717707447974298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finale-nl00002512-nl00002512.xlsx]2020 - Quesito 11'!$A$9</c:f>
              <c:strCache>
                <c:ptCount val="1"/>
                <c:pt idx="0">
                  <c:v>Emilia-Romagna - Nr di visitatori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'[Tabelle e grafici - report finale-nl00002512-nl00002512.xlsx]2020 - Quesito 11'!$B$8:$G$8</c:f>
              <c:numCache>
                <c:formatCode>General</c:formatCode>
                <c:ptCount val="6"/>
                <c:pt idx="0">
                  <c:v>2011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'[Tabelle e grafici - report finale-nl00002512-nl00002512.xlsx]2020 - Quesito 11'!$B$9:$G$9</c:f>
              <c:numCache>
                <c:formatCode>_(* #,##0.00_);_(* \(#,##0.00\);_(* "-"??_);_(@_)</c:formatCode>
                <c:ptCount val="6"/>
                <c:pt idx="0">
                  <c:v>4571784</c:v>
                </c:pt>
                <c:pt idx="1">
                  <c:v>5605764</c:v>
                </c:pt>
                <c:pt idx="2">
                  <c:v>5853465</c:v>
                </c:pt>
                <c:pt idx="3">
                  <c:v>6386842</c:v>
                </c:pt>
                <c:pt idx="4">
                  <c:v>6868833</c:v>
                </c:pt>
                <c:pt idx="5">
                  <c:v>1992580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C7-4C46-B123-7538C2BF7D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4717864"/>
        <c:axId val="824725736"/>
      </c:barChart>
      <c:lineChart>
        <c:grouping val="standard"/>
        <c:varyColors val="0"/>
        <c:ser>
          <c:idx val="1"/>
          <c:order val="1"/>
          <c:tx>
            <c:strRef>
              <c:f>'[Tabelle e grafici - report finale-nl00002512-nl00002512.xlsx]2020 - Quesito 11'!$A$10</c:f>
              <c:strCache>
                <c:ptCount val="1"/>
                <c:pt idx="0">
                  <c:v>Variazione % rispetto anno precedente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0.11228240866443419"/>
                  <c:y val="-0.4671907842432558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C7-4C46-B123-7538C2BF7D08}"/>
                </c:ext>
              </c:extLst>
            </c:dLbl>
            <c:dLbl>
              <c:idx val="2"/>
              <c:layout>
                <c:manualLayout>
                  <c:x val="-9.7681283282275197E-2"/>
                  <c:y val="-0.4878278825443628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3C7-4C46-B123-7538C2BF7D08}"/>
                </c:ext>
              </c:extLst>
            </c:dLbl>
            <c:dLbl>
              <c:idx val="3"/>
              <c:layout>
                <c:manualLayout>
                  <c:x val="-0.10716910386201732"/>
                  <c:y val="-0.5150171613163738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C7-4C46-B123-7538C2BF7D08}"/>
                </c:ext>
              </c:extLst>
            </c:dLbl>
            <c:dLbl>
              <c:idx val="4"/>
              <c:layout>
                <c:manualLayout>
                  <c:x val="-0.10388794007645209"/>
                  <c:y val="-0.5320512776658468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3C7-4C46-B123-7538C2BF7D08}"/>
                </c:ext>
              </c:extLst>
            </c:dLbl>
            <c:dLbl>
              <c:idx val="5"/>
              <c:layout>
                <c:manualLayout>
                  <c:x val="-0.10857142857142857"/>
                  <c:y val="-0.2176700330936893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050" b="1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/>
                      <a:t>-70,9%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3C7-4C46-B123-7538C2BF7D0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'[Tabelle e grafici - report finale-nl00002512-nl00002512.xlsx]2020 - Quesito 11'!$B$8:$G$8</c:f>
              <c:numCache>
                <c:formatCode>General</c:formatCode>
                <c:ptCount val="6"/>
                <c:pt idx="0">
                  <c:v>2011</c:v>
                </c:pt>
                <c:pt idx="1">
                  <c:v>2015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</c:numCache>
            </c:numRef>
          </c:cat>
          <c:val>
            <c:numRef>
              <c:f>'[Tabelle e grafici - report finale-nl00002512-nl00002512.xlsx]2020 - Quesito 11'!$B$10:$G$10</c:f>
              <c:numCache>
                <c:formatCode>0.0%</c:formatCode>
                <c:ptCount val="6"/>
                <c:pt idx="1">
                  <c:v>0.22616554062921607</c:v>
                </c:pt>
                <c:pt idx="2">
                  <c:v>4.4186840544839207E-2</c:v>
                </c:pt>
                <c:pt idx="3">
                  <c:v>9.1121583540689152E-2</c:v>
                </c:pt>
                <c:pt idx="4">
                  <c:v>7.5466247638504291E-2</c:v>
                </c:pt>
                <c:pt idx="5">
                  <c:v>-0.70990996578312504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F3C7-4C46-B123-7538C2BF7D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4723768"/>
        <c:axId val="824719176"/>
      </c:lineChart>
      <c:catAx>
        <c:axId val="824717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4725736"/>
        <c:crosses val="autoZero"/>
        <c:auto val="1"/>
        <c:lblAlgn val="ctr"/>
        <c:lblOffset val="100"/>
        <c:noMultiLvlLbl val="0"/>
      </c:catAx>
      <c:valAx>
        <c:axId val="824725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4717864"/>
        <c:crosses val="autoZero"/>
        <c:crossBetween val="between"/>
      </c:valAx>
      <c:valAx>
        <c:axId val="824719176"/>
        <c:scaling>
          <c:orientation val="minMax"/>
        </c:scaling>
        <c:delete val="1"/>
        <c:axPos val="r"/>
        <c:numFmt formatCode="0%" sourceLinked="0"/>
        <c:majorTickMark val="none"/>
        <c:minorTickMark val="none"/>
        <c:tickLblPos val="nextTo"/>
        <c:crossAx val="824723768"/>
        <c:crosses val="max"/>
        <c:crossBetween val="between"/>
      </c:valAx>
      <c:catAx>
        <c:axId val="824723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24719176"/>
        <c:crossesAt val="-0.8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baseline="0" dirty="0" err="1">
                <a:effectLst/>
              </a:rPr>
              <a:t>Presenze</a:t>
            </a:r>
            <a:r>
              <a:rPr lang="en-US" sz="1400" b="0" i="0" baseline="0" dirty="0">
                <a:effectLst/>
              </a:rPr>
              <a:t> </a:t>
            </a:r>
            <a:r>
              <a:rPr lang="en-US" sz="1400" b="0" i="0" baseline="0" dirty="0" err="1">
                <a:effectLst/>
              </a:rPr>
              <a:t>Turistiche</a:t>
            </a:r>
            <a:r>
              <a:rPr lang="en-US" sz="1400" b="0" i="0" baseline="0" dirty="0">
                <a:effectLst/>
              </a:rPr>
              <a:t> - </a:t>
            </a:r>
            <a:r>
              <a:rPr lang="en-US" sz="1400" b="0" i="0" baseline="0" dirty="0" err="1">
                <a:effectLst/>
              </a:rPr>
              <a:t>Italiani</a:t>
            </a:r>
            <a:r>
              <a:rPr lang="en-US" sz="1400" b="0" i="0" baseline="0" dirty="0">
                <a:effectLst/>
              </a:rPr>
              <a:t>/</a:t>
            </a:r>
            <a:r>
              <a:rPr lang="en-US" sz="1400" b="0" i="0" baseline="0" dirty="0" err="1">
                <a:effectLst/>
              </a:rPr>
              <a:t>Stranieri</a:t>
            </a:r>
            <a:endParaRPr lang="en-US" sz="1400" b="0" i="0" baseline="0" dirty="0">
              <a:effectLst/>
            </a:endParaRPr>
          </a:p>
          <a:p>
            <a:pPr>
              <a:defRPr/>
            </a:pPr>
            <a:r>
              <a:rPr lang="en-US" sz="1400" b="0" i="0" baseline="0" dirty="0" err="1">
                <a:effectLst/>
              </a:rPr>
              <a:t>Variazione</a:t>
            </a:r>
            <a:r>
              <a:rPr lang="en-US" sz="1400" b="0" i="0" baseline="0" dirty="0">
                <a:effectLst/>
              </a:rPr>
              <a:t> % 2021 </a:t>
            </a:r>
            <a:r>
              <a:rPr lang="en-US" sz="1400" b="0" i="0" baseline="0" dirty="0" err="1">
                <a:effectLst/>
              </a:rPr>
              <a:t>sul</a:t>
            </a:r>
            <a:r>
              <a:rPr lang="en-US" sz="1400" b="0" i="0" baseline="0" dirty="0">
                <a:effectLst/>
              </a:rPr>
              <a:t> 2019</a:t>
            </a:r>
            <a:endParaRPr lang="it-IT" sz="1100" dirty="0">
              <a:effectLst/>
            </a:endParaRPr>
          </a:p>
        </c:rich>
      </c:tx>
      <c:layout>
        <c:manualLayout>
          <c:xMode val="edge"/>
          <c:yMode val="edge"/>
          <c:x val="0.27817742285962627"/>
          <c:y val="2.78508771929824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'[Tabelle e grafici - report finale.xlsx]Flussi turistici'!$C$38:$C$39</c:f>
              <c:strCache>
                <c:ptCount val="2"/>
                <c:pt idx="0">
                  <c:v>Italiani</c:v>
                </c:pt>
                <c:pt idx="1">
                  <c:v>VAR.% su 2019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D4B-420D-A3F7-54B26F594AC7}"/>
              </c:ext>
            </c:extLst>
          </c:dPt>
          <c:cat>
            <c:strRef>
              <c:f>'[Tabelle e grafici - report finale.xlsx]Flussi turistici'!$A$40:$A$42</c:f>
              <c:strCache>
                <c:ptCount val="3"/>
                <c:pt idx="0">
                  <c:v>Comuni culturali</c:v>
                </c:pt>
                <c:pt idx="1">
                  <c:v>Comuni culturali misti*</c:v>
                </c:pt>
                <c:pt idx="2">
                  <c:v>Totale comuni culturali</c:v>
                </c:pt>
              </c:strCache>
            </c:strRef>
          </c:cat>
          <c:val>
            <c:numRef>
              <c:f>'[Tabelle e grafici - report finale.xlsx]Flussi turistici'!$C$40:$C$42</c:f>
              <c:numCache>
                <c:formatCode>0.0%</c:formatCode>
                <c:ptCount val="3"/>
                <c:pt idx="0">
                  <c:v>-0.29472985109546346</c:v>
                </c:pt>
                <c:pt idx="1">
                  <c:v>-0.19920020844425815</c:v>
                </c:pt>
                <c:pt idx="2">
                  <c:v>-0.23477776072970458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D4B-420D-A3F7-54B26F594AC7}"/>
            </c:ext>
          </c:extLst>
        </c:ser>
        <c:ser>
          <c:idx val="3"/>
          <c:order val="3"/>
          <c:tx>
            <c:strRef>
              <c:f>'[Tabelle e grafici - report finale.xlsx]Flussi turistici'!$E$38:$E$39</c:f>
              <c:strCache>
                <c:ptCount val="2"/>
                <c:pt idx="0">
                  <c:v>Stranieri</c:v>
                </c:pt>
                <c:pt idx="1">
                  <c:v>VAR.% su 2019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4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D4B-420D-A3F7-54B26F594AC7}"/>
              </c:ext>
            </c:extLst>
          </c:dPt>
          <c:cat>
            <c:strRef>
              <c:f>'[Tabelle e grafici - report finale.xlsx]Flussi turistici'!$A$40:$A$42</c:f>
              <c:strCache>
                <c:ptCount val="3"/>
                <c:pt idx="0">
                  <c:v>Comuni culturali</c:v>
                </c:pt>
                <c:pt idx="1">
                  <c:v>Comuni culturali misti*</c:v>
                </c:pt>
                <c:pt idx="2">
                  <c:v>Totale comuni culturali</c:v>
                </c:pt>
              </c:strCache>
            </c:strRef>
          </c:cat>
          <c:val>
            <c:numRef>
              <c:f>'[Tabelle e grafici - report finale.xlsx]Flussi turistici'!$E$40:$E$42</c:f>
              <c:numCache>
                <c:formatCode>0.0%</c:formatCode>
                <c:ptCount val="3"/>
                <c:pt idx="0">
                  <c:v>-0.60522241666431453</c:v>
                </c:pt>
                <c:pt idx="1">
                  <c:v>-0.49485704231883948</c:v>
                </c:pt>
                <c:pt idx="2">
                  <c:v>-0.55836008638389845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D4B-420D-A3F7-54B26F594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6857176"/>
        <c:axId val="82685619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'[Tabelle e grafici - report finale.xlsx]Flussi turistici'!$B$38:$B$39</c15:sqref>
                        </c15:formulaRef>
                      </c:ext>
                    </c:extLst>
                    <c:strCache>
                      <c:ptCount val="2"/>
                      <c:pt idx="0">
                        <c:v>Italiani</c:v>
                      </c:pt>
                      <c:pt idx="1">
                        <c:v>VAR.% su 2020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'[Tabelle e grafici - report finale.xlsx]Flussi turistici'!$A$40:$A$42</c15:sqref>
                        </c15:formulaRef>
                      </c:ext>
                    </c:extLst>
                    <c:strCache>
                      <c:ptCount val="3"/>
                      <c:pt idx="0">
                        <c:v>Comuni culturali</c:v>
                      </c:pt>
                      <c:pt idx="1">
                        <c:v>Comuni culturali misti*</c:v>
                      </c:pt>
                      <c:pt idx="2">
                        <c:v>Totale comuni culturali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'[Tabelle e grafici - report finale.xlsx]Flussi turistici'!$B$40:$B$42</c15:sqref>
                        </c15:formulaRef>
                      </c:ext>
                    </c:extLst>
                    <c:numCache>
                      <c:formatCode>0.0%</c:formatCode>
                      <c:ptCount val="3"/>
                      <c:pt idx="0">
                        <c:v>0.50609999999999999</c:v>
                      </c:pt>
                      <c:pt idx="1">
                        <c:v>0.2923</c:v>
                      </c:pt>
                      <c:pt idx="2">
                        <c:v>0.35849381140377701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0D4B-420D-A3F7-54B26F594AC7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turistici'!$D$38:$D$39</c15:sqref>
                        </c15:formulaRef>
                      </c:ext>
                    </c:extLst>
                    <c:strCache>
                      <c:ptCount val="2"/>
                      <c:pt idx="0">
                        <c:v>Stranieri</c:v>
                      </c:pt>
                      <c:pt idx="1">
                        <c:v>VAR.% su 2020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turistici'!$A$40:$A$42</c15:sqref>
                        </c15:formulaRef>
                      </c:ext>
                    </c:extLst>
                    <c:strCache>
                      <c:ptCount val="3"/>
                      <c:pt idx="0">
                        <c:v>Comuni culturali</c:v>
                      </c:pt>
                      <c:pt idx="1">
                        <c:v>Comuni culturali misti*</c:v>
                      </c:pt>
                      <c:pt idx="2">
                        <c:v>Totale comuni culturali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turistici'!$D$40:$D$42</c15:sqref>
                        </c15:formulaRef>
                      </c:ext>
                    </c:extLst>
                    <c:numCache>
                      <c:formatCode>0.0%</c:formatCode>
                      <c:ptCount val="3"/>
                      <c:pt idx="0">
                        <c:v>0.67689999999999995</c:v>
                      </c:pt>
                      <c:pt idx="1">
                        <c:v>0.5958</c:v>
                      </c:pt>
                      <c:pt idx="2">
                        <c:v>0.63650780078375691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D4B-420D-A3F7-54B26F594AC7}"/>
                  </c:ext>
                </c:extLst>
              </c15:ser>
            </c15:filteredBarSeries>
          </c:ext>
        </c:extLst>
      </c:barChart>
      <c:catAx>
        <c:axId val="826857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6856192"/>
        <c:crosses val="autoZero"/>
        <c:auto val="1"/>
        <c:lblAlgn val="ctr"/>
        <c:lblOffset val="100"/>
        <c:noMultiLvlLbl val="0"/>
      </c:catAx>
      <c:valAx>
        <c:axId val="82685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68571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baseline="0" dirty="0" err="1">
                <a:effectLst/>
              </a:rPr>
              <a:t>Presenze</a:t>
            </a:r>
            <a:r>
              <a:rPr lang="en-US" sz="1400" b="0" i="0" baseline="0" dirty="0">
                <a:effectLst/>
              </a:rPr>
              <a:t> </a:t>
            </a:r>
            <a:r>
              <a:rPr lang="en-US" sz="1400" b="0" i="0" baseline="0" dirty="0" err="1">
                <a:effectLst/>
              </a:rPr>
              <a:t>Turistiche</a:t>
            </a:r>
            <a:r>
              <a:rPr lang="en-US" sz="1400" b="0" i="0" baseline="0" dirty="0">
                <a:effectLst/>
              </a:rPr>
              <a:t> - </a:t>
            </a:r>
            <a:r>
              <a:rPr lang="en-US" sz="1400" b="0" i="0" baseline="0" dirty="0" err="1">
                <a:effectLst/>
              </a:rPr>
              <a:t>Italiani</a:t>
            </a:r>
            <a:r>
              <a:rPr lang="en-US" sz="1400" b="0" i="0" baseline="0" dirty="0">
                <a:effectLst/>
              </a:rPr>
              <a:t>/</a:t>
            </a:r>
            <a:r>
              <a:rPr lang="en-US" sz="1400" b="0" i="0" baseline="0" dirty="0" err="1">
                <a:effectLst/>
              </a:rPr>
              <a:t>Stranieri</a:t>
            </a:r>
            <a:endParaRPr lang="en-US" sz="1400" b="0" i="0" baseline="0" dirty="0">
              <a:effectLst/>
            </a:endParaRPr>
          </a:p>
          <a:p>
            <a:pPr>
              <a:defRPr/>
            </a:pPr>
            <a:r>
              <a:rPr lang="en-US" sz="1400" b="0" i="0" baseline="0" dirty="0" err="1">
                <a:effectLst/>
              </a:rPr>
              <a:t>Variazione</a:t>
            </a:r>
            <a:r>
              <a:rPr lang="en-US" sz="1400" b="0" i="0" baseline="0" dirty="0">
                <a:effectLst/>
              </a:rPr>
              <a:t> %  2021 </a:t>
            </a:r>
            <a:r>
              <a:rPr lang="en-US" sz="1400" b="0" i="0" baseline="0" dirty="0" err="1">
                <a:effectLst/>
              </a:rPr>
              <a:t>sul</a:t>
            </a:r>
            <a:r>
              <a:rPr lang="en-US" sz="1400" b="0" i="0" baseline="0" dirty="0">
                <a:effectLst/>
              </a:rPr>
              <a:t> 2020</a:t>
            </a:r>
            <a:endParaRPr lang="it-IT" sz="1100" dirty="0">
              <a:effectLst/>
            </a:endParaRPr>
          </a:p>
        </c:rich>
      </c:tx>
      <c:layout>
        <c:manualLayout>
          <c:xMode val="edge"/>
          <c:yMode val="edge"/>
          <c:x val="0.28283507059954166"/>
          <c:y val="2.493129171574401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finale.xlsx]Flussi turistici'!$B$38:$B$39</c:f>
              <c:strCache>
                <c:ptCount val="2"/>
                <c:pt idx="0">
                  <c:v>Italiani</c:v>
                </c:pt>
                <c:pt idx="1">
                  <c:v>VAR.% su 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B6-4595-BDEF-2FA4FD3DC225}"/>
              </c:ext>
            </c:extLst>
          </c:dPt>
          <c:cat>
            <c:strRef>
              <c:f>'[Tabelle e grafici - report finale.xlsx]Flussi turistici'!$A$40:$A$42</c:f>
              <c:strCache>
                <c:ptCount val="3"/>
                <c:pt idx="0">
                  <c:v>Comuni culturali</c:v>
                </c:pt>
                <c:pt idx="1">
                  <c:v>Comuni culturali misti*</c:v>
                </c:pt>
                <c:pt idx="2">
                  <c:v>Totale comuni culturali</c:v>
                </c:pt>
              </c:strCache>
            </c:strRef>
          </c:cat>
          <c:val>
            <c:numRef>
              <c:f>'[Tabelle e grafici - report finale.xlsx]Flussi turistici'!$B$40:$B$42</c:f>
              <c:numCache>
                <c:formatCode>0.0%</c:formatCode>
                <c:ptCount val="3"/>
                <c:pt idx="0">
                  <c:v>0.50609999999999999</c:v>
                </c:pt>
                <c:pt idx="1">
                  <c:v>0.2923</c:v>
                </c:pt>
                <c:pt idx="2">
                  <c:v>0.35849381140377701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B6-4595-BDEF-2FA4FD3DC225}"/>
            </c:ext>
          </c:extLst>
        </c:ser>
        <c:ser>
          <c:idx val="2"/>
          <c:order val="2"/>
          <c:tx>
            <c:strRef>
              <c:f>'[Tabelle e grafici - report finale.xlsx]Flussi turistici'!$D$38:$D$39</c:f>
              <c:strCache>
                <c:ptCount val="2"/>
                <c:pt idx="0">
                  <c:v>Stranieri</c:v>
                </c:pt>
                <c:pt idx="1">
                  <c:v>VAR.% su 2020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0B6-4595-BDEF-2FA4FD3DC225}"/>
              </c:ext>
            </c:extLst>
          </c:dPt>
          <c:cat>
            <c:strRef>
              <c:f>'[Tabelle e grafici - report finale.xlsx]Flussi turistici'!$A$40:$A$42</c:f>
              <c:strCache>
                <c:ptCount val="3"/>
                <c:pt idx="0">
                  <c:v>Comuni culturali</c:v>
                </c:pt>
                <c:pt idx="1">
                  <c:v>Comuni culturali misti*</c:v>
                </c:pt>
                <c:pt idx="2">
                  <c:v>Totale comuni culturali</c:v>
                </c:pt>
              </c:strCache>
            </c:strRef>
          </c:cat>
          <c:val>
            <c:numRef>
              <c:f>'[Tabelle e grafici - report finale.xlsx]Flussi turistici'!$D$40:$D$42</c:f>
              <c:numCache>
                <c:formatCode>0.0%</c:formatCode>
                <c:ptCount val="3"/>
                <c:pt idx="0">
                  <c:v>0.67689999999999995</c:v>
                </c:pt>
                <c:pt idx="1">
                  <c:v>0.5958</c:v>
                </c:pt>
                <c:pt idx="2">
                  <c:v>0.63650780078375691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0B6-4595-BDEF-2FA4FD3DC2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26857176"/>
        <c:axId val="82685619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'[Tabelle e grafici - report finale.xlsx]Flussi turistici'!$C$38:$C$39</c15:sqref>
                        </c15:formulaRef>
                      </c:ext>
                    </c:extLst>
                    <c:strCache>
                      <c:ptCount val="2"/>
                      <c:pt idx="0">
                        <c:v>Italiani</c:v>
                      </c:pt>
                      <c:pt idx="1">
                        <c:v>VAR.% su 2019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'[Tabelle e grafici - report finale.xlsx]Flussi turistici'!$A$40:$A$42</c15:sqref>
                        </c15:formulaRef>
                      </c:ext>
                    </c:extLst>
                    <c:strCache>
                      <c:ptCount val="3"/>
                      <c:pt idx="0">
                        <c:v>Comuni culturali</c:v>
                      </c:pt>
                      <c:pt idx="1">
                        <c:v>Comuni culturali misti*</c:v>
                      </c:pt>
                      <c:pt idx="2">
                        <c:v>Totale comuni culturali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'[Tabelle e grafici - report finale.xlsx]Flussi turistici'!$C$40:$C$42</c15:sqref>
                        </c15:formulaRef>
                      </c:ext>
                    </c:extLst>
                    <c:numCache>
                      <c:formatCode>0.0%</c:formatCode>
                      <c:ptCount val="3"/>
                      <c:pt idx="0">
                        <c:v>-0.29472985109546346</c:v>
                      </c:pt>
                      <c:pt idx="1">
                        <c:v>-0.19920020844425815</c:v>
                      </c:pt>
                      <c:pt idx="2">
                        <c:v>-0.23477776072970458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40B6-4595-BDEF-2FA4FD3DC22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turistici'!$E$38:$E$39</c15:sqref>
                        </c15:formulaRef>
                      </c:ext>
                    </c:extLst>
                    <c:strCache>
                      <c:ptCount val="2"/>
                      <c:pt idx="0">
                        <c:v>Stranieri</c:v>
                      </c:pt>
                      <c:pt idx="1">
                        <c:v>VAR.% su 2019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turistici'!$A$40:$A$42</c15:sqref>
                        </c15:formulaRef>
                      </c:ext>
                    </c:extLst>
                    <c:strCache>
                      <c:ptCount val="3"/>
                      <c:pt idx="0">
                        <c:v>Comuni culturali</c:v>
                      </c:pt>
                      <c:pt idx="1">
                        <c:v>Comuni culturali misti*</c:v>
                      </c:pt>
                      <c:pt idx="2">
                        <c:v>Totale comuni culturali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'[Tabelle e grafici - report finale.xlsx]Flussi turistici'!$E$40:$E$42</c15:sqref>
                        </c15:formulaRef>
                      </c:ext>
                    </c:extLst>
                    <c:numCache>
                      <c:formatCode>0.0%</c:formatCode>
                      <c:ptCount val="3"/>
                      <c:pt idx="0">
                        <c:v>-0.60522241666431453</c:v>
                      </c:pt>
                      <c:pt idx="1">
                        <c:v>-0.49485704231883948</c:v>
                      </c:pt>
                      <c:pt idx="2">
                        <c:v>-0.55836008638389845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40B6-4595-BDEF-2FA4FD3DC225}"/>
                  </c:ext>
                </c:extLst>
              </c15:ser>
            </c15:filteredBarSeries>
          </c:ext>
        </c:extLst>
      </c:barChart>
      <c:catAx>
        <c:axId val="826857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6856192"/>
        <c:crosses val="autoZero"/>
        <c:auto val="1"/>
        <c:lblAlgn val="ctr"/>
        <c:lblOffset val="100"/>
        <c:noMultiLvlLbl val="0"/>
      </c:catAx>
      <c:valAx>
        <c:axId val="82685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26857176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3328691977906705E-2"/>
          <c:y val="1.5390470018239528E-2"/>
          <c:w val="0.94134974191451926"/>
          <c:h val="0.867440821972901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finale.xlsx]2020 - Quesiti 12_13'!$A$8</c:f>
              <c:strCache>
                <c:ptCount val="1"/>
                <c:pt idx="0">
                  <c:v>Pre  lockdown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finale.xlsx]2020 - Quesiti 12_13'!$B$7:$F$7</c:f>
              <c:strCache>
                <c:ptCount val="5"/>
                <c:pt idx="0">
                  <c:v>Personale interno</c:v>
                </c:pt>
                <c:pt idx="1">
                  <c:v>Personale di imprese e/o enti esterni</c:v>
                </c:pt>
                <c:pt idx="2">
                  <c:v>Collaboratori/consulenti esterni</c:v>
                </c:pt>
                <c:pt idx="3">
                  <c:v>*Volontari</c:v>
                </c:pt>
                <c:pt idx="4">
                  <c:v>*Stagisti</c:v>
                </c:pt>
              </c:strCache>
            </c:strRef>
          </c:cat>
          <c:val>
            <c:numRef>
              <c:f>'[Tabelle e grafici - report finale.xlsx]2020 - Quesiti 12_13'!$B$8:$F$8</c:f>
              <c:numCache>
                <c:formatCode>General</c:formatCode>
                <c:ptCount val="5"/>
                <c:pt idx="0">
                  <c:v>1602</c:v>
                </c:pt>
                <c:pt idx="1">
                  <c:v>650</c:v>
                </c:pt>
                <c:pt idx="2">
                  <c:v>469</c:v>
                </c:pt>
                <c:pt idx="3">
                  <c:v>1154</c:v>
                </c:pt>
                <c:pt idx="4">
                  <c:v>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1-544B-A356-D311AF3C152B}"/>
            </c:ext>
          </c:extLst>
        </c:ser>
        <c:ser>
          <c:idx val="1"/>
          <c:order val="1"/>
          <c:tx>
            <c:strRef>
              <c:f>'[Tabelle e grafici - report finale.xlsx]2020 - Quesiti 12_13'!$A$9</c:f>
              <c:strCache>
                <c:ptCount val="1"/>
                <c:pt idx="0">
                  <c:v> Dicembre 2020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finale.xlsx]2020 - Quesiti 12_13'!$B$7:$F$7</c:f>
              <c:strCache>
                <c:ptCount val="5"/>
                <c:pt idx="0">
                  <c:v>Personale interno</c:v>
                </c:pt>
                <c:pt idx="1">
                  <c:v>Personale di imprese e/o enti esterni</c:v>
                </c:pt>
                <c:pt idx="2">
                  <c:v>Collaboratori/consulenti esterni</c:v>
                </c:pt>
                <c:pt idx="3">
                  <c:v>*Volontari</c:v>
                </c:pt>
                <c:pt idx="4">
                  <c:v>*Stagisti</c:v>
                </c:pt>
              </c:strCache>
            </c:strRef>
          </c:cat>
          <c:val>
            <c:numRef>
              <c:f>'[Tabelle e grafici - report finale.xlsx]2020 - Quesiti 12_13'!$B$9:$F$9</c:f>
              <c:numCache>
                <c:formatCode>General</c:formatCode>
                <c:ptCount val="5"/>
                <c:pt idx="0">
                  <c:v>1477</c:v>
                </c:pt>
                <c:pt idx="1">
                  <c:v>471</c:v>
                </c:pt>
                <c:pt idx="2">
                  <c:v>310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541-544B-A356-D311AF3C1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7789448"/>
        <c:axId val="777797320"/>
      </c:barChart>
      <c:lineChart>
        <c:grouping val="standard"/>
        <c:varyColors val="0"/>
        <c:ser>
          <c:idx val="2"/>
          <c:order val="2"/>
          <c:tx>
            <c:strRef>
              <c:f>'[Tabelle e grafici - report finale.xlsx]2020 - Quesiti 12_13'!$A$10</c:f>
              <c:strCache>
                <c:ptCount val="1"/>
                <c:pt idx="0">
                  <c:v>Variazione %</c:v>
                </c:pt>
              </c:strCache>
            </c:strRef>
          </c:tx>
          <c:spPr>
            <a:ln w="31750" cap="rnd">
              <a:noFill/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1.141549258741458E-2"/>
                  <c:y val="-0.569802557065570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541-544B-A356-D311AF3C152B}"/>
                </c:ext>
              </c:extLst>
            </c:dLbl>
            <c:dLbl>
              <c:idx val="1"/>
              <c:layout>
                <c:manualLayout>
                  <c:x val="-1.0660207318997091E-2"/>
                  <c:y val="-0.1478686374391289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41-544B-A356-D311AF3C152B}"/>
                </c:ext>
              </c:extLst>
            </c:dLbl>
            <c:dLbl>
              <c:idx val="2"/>
              <c:layout>
                <c:manualLayout>
                  <c:x val="-9.1324569230747648E-3"/>
                  <c:y val="-9.33299575235123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541-544B-A356-D311AF3C152B}"/>
                </c:ext>
              </c:extLst>
            </c:dLbl>
            <c:dLbl>
              <c:idx val="3"/>
              <c:layout>
                <c:manualLayout>
                  <c:x val="-3.8812785388127852E-2"/>
                  <c:y val="-0.28295457077259939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541-544B-A356-D311AF3C152B}"/>
                </c:ext>
              </c:extLst>
            </c:dLbl>
            <c:dLbl>
              <c:idx val="4"/>
              <c:layout>
                <c:manualLayout>
                  <c:x val="-3.1963470319634701E-2"/>
                  <c:y val="-7.98984664936218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541-544B-A356-D311AF3C152B}"/>
                </c:ext>
              </c:extLst>
            </c:dLbl>
            <c:spPr>
              <a:gradFill flip="none" rotWithShape="1">
                <a:gsLst>
                  <a:gs pos="0">
                    <a:schemeClr val="accent2">
                      <a:lumMod val="0"/>
                      <a:lumOff val="100000"/>
                    </a:schemeClr>
                  </a:gs>
                  <a:gs pos="70000">
                    <a:schemeClr val="accent2">
                      <a:lumMod val="0"/>
                      <a:lumOff val="100000"/>
                    </a:schemeClr>
                  </a:gs>
                  <a:gs pos="100000">
                    <a:schemeClr val="accent2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'[Tabelle e grafici - report finale.xlsx]2020 - Quesiti 12_13'!$B$7:$F$7</c:f>
              <c:strCache>
                <c:ptCount val="5"/>
                <c:pt idx="0">
                  <c:v>Personale interno</c:v>
                </c:pt>
                <c:pt idx="1">
                  <c:v>Personale di imprese e/o enti esterni</c:v>
                </c:pt>
                <c:pt idx="2">
                  <c:v>Collaboratori/consulenti esterni</c:v>
                </c:pt>
                <c:pt idx="3">
                  <c:v>*Volontari</c:v>
                </c:pt>
                <c:pt idx="4">
                  <c:v>*Stagisti</c:v>
                </c:pt>
              </c:strCache>
            </c:strRef>
          </c:cat>
          <c:val>
            <c:numRef>
              <c:f>'[Tabelle e grafici - report finale.xlsx]2020 - Quesiti 12_13'!$B$10:$F$10</c:f>
              <c:numCache>
                <c:formatCode>0.0%</c:formatCode>
                <c:ptCount val="5"/>
                <c:pt idx="0">
                  <c:v>-7.8027465667915102E-2</c:v>
                </c:pt>
                <c:pt idx="1">
                  <c:v>-0.27538461538461539</c:v>
                </c:pt>
                <c:pt idx="2">
                  <c:v>-0.33901918976545842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C541-544B-A356-D311AF3C1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70467168"/>
        <c:axId val="770468480"/>
      </c:lineChart>
      <c:catAx>
        <c:axId val="7777894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77797320"/>
        <c:crosses val="autoZero"/>
        <c:auto val="1"/>
        <c:lblAlgn val="ctr"/>
        <c:lblOffset val="100"/>
        <c:noMultiLvlLbl val="0"/>
      </c:catAx>
      <c:valAx>
        <c:axId val="777797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77789448"/>
        <c:crosses val="autoZero"/>
        <c:crossBetween val="between"/>
      </c:valAx>
      <c:valAx>
        <c:axId val="770468480"/>
        <c:scaling>
          <c:orientation val="minMax"/>
        </c:scaling>
        <c:delete val="1"/>
        <c:axPos val="r"/>
        <c:numFmt formatCode="0.0%" sourceLinked="1"/>
        <c:majorTickMark val="none"/>
        <c:minorTickMark val="none"/>
        <c:tickLblPos val="nextTo"/>
        <c:crossAx val="770467168"/>
        <c:crosses val="max"/>
        <c:crossBetween val="between"/>
      </c:valAx>
      <c:catAx>
        <c:axId val="7704671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7046848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 b="0" i="0" baseline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Valori medi (in euro)</a:t>
            </a:r>
            <a:endParaRPr lang="it-IT" sz="140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finale-nl00002512.xlsx]Osservatorio - 3'!$A$66</c:f>
              <c:strCache>
                <c:ptCount val="1"/>
                <c:pt idx="0">
                  <c:v>1 Fase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- 3'!$B$65:$G$65</c:f>
              <c:strCache>
                <c:ptCount val="1"/>
                <c:pt idx="0">
                  <c:v>Perdita media</c:v>
                </c:pt>
              </c:strCache>
              <c:extLst/>
            </c:strRef>
          </c:cat>
          <c:val>
            <c:numRef>
              <c:f>'[Tabelle e grafici - report finale-nl00002512.xlsx]Osservatorio - 3'!$B$66:$G$66</c:f>
              <c:numCache>
                <c:formatCode>_(* #,##0.00_);_(* \(#,##0.00\);_(* "-"??_);_(@_)</c:formatCode>
                <c:ptCount val="1"/>
                <c:pt idx="0">
                  <c:v>23635.483516483517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D6FD-C345-88CF-9E57FC020407}"/>
            </c:ext>
          </c:extLst>
        </c:ser>
        <c:ser>
          <c:idx val="1"/>
          <c:order val="1"/>
          <c:tx>
            <c:strRef>
              <c:f>'[Tabelle e grafici - report finale-nl00002512.xlsx]Osservatorio - 3'!$A$67</c:f>
              <c:strCache>
                <c:ptCount val="1"/>
                <c:pt idx="0">
                  <c:v>2 Fase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- 3'!$B$65:$G$65</c:f>
              <c:strCache>
                <c:ptCount val="1"/>
                <c:pt idx="0">
                  <c:v>Perdita media</c:v>
                </c:pt>
              </c:strCache>
              <c:extLst/>
            </c:strRef>
          </c:cat>
          <c:val>
            <c:numRef>
              <c:f>'[Tabelle e grafici - report finale-nl00002512.xlsx]Osservatorio - 3'!$B$67:$G$67</c:f>
              <c:numCache>
                <c:formatCode>_(* #,##0.00_);_(* \(#,##0.00\);_(* "-"??_);_(@_)</c:formatCode>
                <c:ptCount val="1"/>
                <c:pt idx="0">
                  <c:v>22392.350877192981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D6FD-C345-88CF-9E57FC020407}"/>
            </c:ext>
          </c:extLst>
        </c:ser>
        <c:ser>
          <c:idx val="2"/>
          <c:order val="2"/>
          <c:tx>
            <c:strRef>
              <c:f>'[Tabelle e grafici - report finale-nl00002512.xlsx]Osservatorio - 3'!$A$68</c:f>
              <c:strCache>
                <c:ptCount val="1"/>
                <c:pt idx="0">
                  <c:v>3 Fase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- 3'!$B$65:$G$65</c:f>
              <c:strCache>
                <c:ptCount val="1"/>
                <c:pt idx="0">
                  <c:v>Perdita media</c:v>
                </c:pt>
              </c:strCache>
              <c:extLst/>
            </c:strRef>
          </c:cat>
          <c:val>
            <c:numRef>
              <c:f>'[Tabelle e grafici - report finale-nl00002512.xlsx]Osservatorio - 3'!$B$68:$G$68</c:f>
              <c:numCache>
                <c:formatCode>_(* #,##0.00_);_(* \(#,##0.00\);_(* "-"??_);_(@_)</c:formatCode>
                <c:ptCount val="1"/>
                <c:pt idx="0">
                  <c:v>16671.106382978724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D6FD-C345-88CF-9E57FC0204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4177144"/>
        <c:axId val="584169272"/>
      </c:barChart>
      <c:catAx>
        <c:axId val="584177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84169272"/>
        <c:crosses val="autoZero"/>
        <c:auto val="1"/>
        <c:lblAlgn val="ctr"/>
        <c:lblOffset val="100"/>
        <c:noMultiLvlLbl val="0"/>
      </c:catAx>
      <c:valAx>
        <c:axId val="584169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.00_);_(* \(#,##0.0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84177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/>
              <a:t>Ripartizione delle</a:t>
            </a:r>
            <a:r>
              <a:rPr lang="it-IT" baseline="0"/>
              <a:t> perdite</a:t>
            </a:r>
            <a:endParaRPr lang="it-IT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finale-nl00002512.xlsx]Osservatorio - 3'!$J$66</c:f>
              <c:strCache>
                <c:ptCount val="1"/>
                <c:pt idx="0">
                  <c:v>1 Fase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- 3'!$K$65:$N$65</c:f>
              <c:strCache>
                <c:ptCount val="4"/>
                <c:pt idx="0">
                  <c:v>Da biglietteria</c:v>
                </c:pt>
                <c:pt idx="1">
                  <c:v>da caffetteria/bookshop</c:v>
                </c:pt>
                <c:pt idx="2">
                  <c:v>da affitto spazi a terzi</c:v>
                </c:pt>
                <c:pt idx="3">
                  <c:v>altro</c:v>
                </c:pt>
              </c:strCache>
            </c:strRef>
          </c:cat>
          <c:val>
            <c:numRef>
              <c:f>'[Tabelle e grafici - report finale-nl00002512.xlsx]Osservatorio - 3'!$K$66:$N$66</c:f>
              <c:numCache>
                <c:formatCode>0%</c:formatCode>
                <c:ptCount val="4"/>
                <c:pt idx="0">
                  <c:v>0.72111776435969577</c:v>
                </c:pt>
                <c:pt idx="1">
                  <c:v>9.0667365931926716E-2</c:v>
                </c:pt>
                <c:pt idx="2">
                  <c:v>0.1001032625094789</c:v>
                </c:pt>
                <c:pt idx="3">
                  <c:v>8.8111607198898656E-2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A-5346-8DB9-007B8C3B5F73}"/>
            </c:ext>
          </c:extLst>
        </c:ser>
        <c:ser>
          <c:idx val="1"/>
          <c:order val="1"/>
          <c:tx>
            <c:strRef>
              <c:f>'[Tabelle e grafici - report finale-nl00002512.xlsx]Osservatorio - 3'!$J$67</c:f>
              <c:strCache>
                <c:ptCount val="1"/>
                <c:pt idx="0">
                  <c:v>2 Fase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- 3'!$K$65:$N$65</c:f>
              <c:strCache>
                <c:ptCount val="4"/>
                <c:pt idx="0">
                  <c:v>Da biglietteria</c:v>
                </c:pt>
                <c:pt idx="1">
                  <c:v>da caffetteria/bookshop</c:v>
                </c:pt>
                <c:pt idx="2">
                  <c:v>da affitto spazi a terzi</c:v>
                </c:pt>
                <c:pt idx="3">
                  <c:v>altro</c:v>
                </c:pt>
              </c:strCache>
            </c:strRef>
          </c:cat>
          <c:val>
            <c:numRef>
              <c:f>'[Tabelle e grafici - report finale-nl00002512.xlsx]Osservatorio - 3'!$K$67:$N$67</c:f>
              <c:numCache>
                <c:formatCode>0%</c:formatCode>
                <c:ptCount val="4"/>
                <c:pt idx="0">
                  <c:v>0.76745191810486668</c:v>
                </c:pt>
                <c:pt idx="1">
                  <c:v>8.8240501925782922E-2</c:v>
                </c:pt>
                <c:pt idx="2">
                  <c:v>5.9710239398792192E-2</c:v>
                </c:pt>
                <c:pt idx="3">
                  <c:v>8.4597340570558247E-2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2A-5346-8DB9-007B8C3B5F73}"/>
            </c:ext>
          </c:extLst>
        </c:ser>
        <c:ser>
          <c:idx val="2"/>
          <c:order val="2"/>
          <c:tx>
            <c:strRef>
              <c:f>'[Tabelle e grafici - report finale-nl00002512.xlsx]Osservatorio - 3'!$J$68</c:f>
              <c:strCache>
                <c:ptCount val="1"/>
                <c:pt idx="0">
                  <c:v>3 Fase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- 3'!$K$65:$N$65</c:f>
              <c:strCache>
                <c:ptCount val="4"/>
                <c:pt idx="0">
                  <c:v>Da biglietteria</c:v>
                </c:pt>
                <c:pt idx="1">
                  <c:v>da caffetteria/bookshop</c:v>
                </c:pt>
                <c:pt idx="2">
                  <c:v>da affitto spazi a terzi</c:v>
                </c:pt>
                <c:pt idx="3">
                  <c:v>altro</c:v>
                </c:pt>
              </c:strCache>
            </c:strRef>
          </c:cat>
          <c:val>
            <c:numRef>
              <c:f>'[Tabelle e grafici - report finale-nl00002512.xlsx]Osservatorio - 3'!$K$68:$N$68</c:f>
              <c:numCache>
                <c:formatCode>0%</c:formatCode>
                <c:ptCount val="4"/>
                <c:pt idx="0">
                  <c:v>0.70540188018000316</c:v>
                </c:pt>
                <c:pt idx="1">
                  <c:v>0.1298092508123368</c:v>
                </c:pt>
                <c:pt idx="2">
                  <c:v>8.818289255713159E-2</c:v>
                </c:pt>
                <c:pt idx="3">
                  <c:v>7.6605976450528496E-2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2A-5346-8DB9-007B8C3B5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71123368"/>
        <c:axId val="871120744"/>
      </c:barChart>
      <c:catAx>
        <c:axId val="871123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120744"/>
        <c:crosses val="autoZero"/>
        <c:auto val="1"/>
        <c:lblAlgn val="ctr"/>
        <c:lblOffset val="100"/>
        <c:noMultiLvlLbl val="0"/>
      </c:catAx>
      <c:valAx>
        <c:axId val="871120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711233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200" b="0" i="0">
                <a:latin typeface="Arial Narrow" panose="020B0604020202020204" pitchFamily="34" charset="0"/>
                <a:cs typeface="Arial Narrow" panose="020B0604020202020204" pitchFamily="34" charset="0"/>
              </a:rPr>
              <a:t>Eventi annullati - Valori Medi</a:t>
            </a:r>
          </a:p>
        </c:rich>
      </c:tx>
      <c:layout>
        <c:manualLayout>
          <c:xMode val="edge"/>
          <c:yMode val="edge"/>
          <c:x val="0.24061429806245732"/>
          <c:y val="1.3604536427845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finale-nl00002512.xlsx]Osservatorio - 3'!$J$85</c:f>
              <c:strCache>
                <c:ptCount val="1"/>
                <c:pt idx="0">
                  <c:v>1 Fase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- 3'!$K$84:$M$84</c:f>
              <c:strCache>
                <c:ptCount val="3"/>
                <c:pt idx="0">
                  <c:v>Numero Eventi (incontri, seminari,  conferenze, ecc.) annullati</c:v>
                </c:pt>
                <c:pt idx="1">
                  <c:v>Numero Visite guidate con gruppi scolastici e laboratori annullati</c:v>
                </c:pt>
                <c:pt idx="2">
                  <c:v>Numero Visite guidate con gruppi organizzati annullati</c:v>
                </c:pt>
              </c:strCache>
            </c:strRef>
          </c:cat>
          <c:val>
            <c:numRef>
              <c:f>'[Tabelle e grafici - report finale-nl00002512.xlsx]Osservatorio - 3'!$K$85:$M$85</c:f>
              <c:numCache>
                <c:formatCode>0</c:formatCode>
                <c:ptCount val="3"/>
                <c:pt idx="0" formatCode="General">
                  <c:v>5</c:v>
                </c:pt>
                <c:pt idx="1">
                  <c:v>48.058823529411768</c:v>
                </c:pt>
                <c:pt idx="2">
                  <c:v>24.911764705882351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C0-F144-AD78-01015F668BF0}"/>
            </c:ext>
          </c:extLst>
        </c:ser>
        <c:ser>
          <c:idx val="1"/>
          <c:order val="1"/>
          <c:tx>
            <c:strRef>
              <c:f>'[Tabelle e grafici - report finale-nl00002512.xlsx]Osservatorio - 3'!$J$86</c:f>
              <c:strCache>
                <c:ptCount val="1"/>
                <c:pt idx="0">
                  <c:v>2 Fase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- 3'!$K$84:$M$84</c:f>
              <c:strCache>
                <c:ptCount val="3"/>
                <c:pt idx="0">
                  <c:v>Numero Eventi (incontri, seminari,  conferenze, ecc.) annullati</c:v>
                </c:pt>
                <c:pt idx="1">
                  <c:v>Numero Visite guidate con gruppi scolastici e laboratori annullati</c:v>
                </c:pt>
                <c:pt idx="2">
                  <c:v>Numero Visite guidate con gruppi organizzati annullati</c:v>
                </c:pt>
              </c:strCache>
            </c:strRef>
          </c:cat>
          <c:val>
            <c:numRef>
              <c:f>'[Tabelle e grafici - report finale-nl00002512.xlsx]Osservatorio - 3'!$K$86:$M$86</c:f>
              <c:numCache>
                <c:formatCode>0</c:formatCode>
                <c:ptCount val="3"/>
                <c:pt idx="0">
                  <c:v>4.2833333333333332</c:v>
                </c:pt>
                <c:pt idx="1">
                  <c:v>51.583333333333336</c:v>
                </c:pt>
                <c:pt idx="2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2C0-F144-AD78-01015F668BF0}"/>
            </c:ext>
          </c:extLst>
        </c:ser>
        <c:ser>
          <c:idx val="2"/>
          <c:order val="2"/>
          <c:tx>
            <c:strRef>
              <c:f>'[Tabelle e grafici - report finale-nl00002512.xlsx]Osservatorio - 3'!$J$87</c:f>
              <c:strCache>
                <c:ptCount val="1"/>
                <c:pt idx="0">
                  <c:v>3 Fase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- 3'!$K$84:$M$84</c:f>
              <c:strCache>
                <c:ptCount val="3"/>
                <c:pt idx="0">
                  <c:v>Numero Eventi (incontri, seminari,  conferenze, ecc.) annullati</c:v>
                </c:pt>
                <c:pt idx="1">
                  <c:v>Numero Visite guidate con gruppi scolastici e laboratori annullati</c:v>
                </c:pt>
                <c:pt idx="2">
                  <c:v>Numero Visite guidate con gruppi organizzati annullati</c:v>
                </c:pt>
              </c:strCache>
            </c:strRef>
          </c:cat>
          <c:val>
            <c:numRef>
              <c:f>'[Tabelle e grafici - report finale-nl00002512.xlsx]Osservatorio - 3'!$K$87:$M$87</c:f>
              <c:numCache>
                <c:formatCode>0</c:formatCode>
                <c:ptCount val="3"/>
                <c:pt idx="0">
                  <c:v>5.2222222222222223</c:v>
                </c:pt>
                <c:pt idx="1">
                  <c:v>33.06666666666667</c:v>
                </c:pt>
                <c:pt idx="2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2C0-F144-AD78-01015F668B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43142472"/>
        <c:axId val="743141160"/>
      </c:barChart>
      <c:catAx>
        <c:axId val="743142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43141160"/>
        <c:crosses val="autoZero"/>
        <c:auto val="1"/>
        <c:lblAlgn val="ctr"/>
        <c:lblOffset val="100"/>
        <c:noMultiLvlLbl val="0"/>
      </c:catAx>
      <c:valAx>
        <c:axId val="743141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43142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finale-nl00002512.xlsx]Osservatorio - 3'!$J$79</c:f>
              <c:strCache>
                <c:ptCount val="1"/>
                <c:pt idx="0">
                  <c:v>1 Fase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- 3'!$K$78:$O$78</c:f>
              <c:strCache>
                <c:ptCount val="1"/>
                <c:pt idx="0">
                  <c:v> Stima perdita media per Museo/Istituto </c:v>
                </c:pt>
              </c:strCache>
              <c:extLst/>
            </c:strRef>
          </c:cat>
          <c:val>
            <c:numRef>
              <c:f>'[Tabelle e grafici - report finale-nl00002512.xlsx]Osservatorio - 3'!$K$79:$O$79</c:f>
              <c:numCache>
                <c:formatCode>_-* #,##0_-;\-* #,##0_-;_-* "-"??_-;_-@_-</c:formatCode>
                <c:ptCount val="1"/>
                <c:pt idx="0">
                  <c:v>7038.8921568627447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B875-7D45-9CB6-9FBAB8571659}"/>
            </c:ext>
          </c:extLst>
        </c:ser>
        <c:ser>
          <c:idx val="1"/>
          <c:order val="1"/>
          <c:tx>
            <c:strRef>
              <c:f>'[Tabelle e grafici - report finale-nl00002512.xlsx]Osservatorio - 3'!$J$80</c:f>
              <c:strCache>
                <c:ptCount val="1"/>
                <c:pt idx="0">
                  <c:v>2 Fase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- 3'!$K$78:$O$78</c:f>
              <c:strCache>
                <c:ptCount val="1"/>
                <c:pt idx="0">
                  <c:v> Stima perdita media per Museo/Istituto </c:v>
                </c:pt>
              </c:strCache>
              <c:extLst/>
            </c:strRef>
          </c:cat>
          <c:val>
            <c:numRef>
              <c:f>'[Tabelle e grafici - report finale-nl00002512.xlsx]Osservatorio - 3'!$K$80:$O$80</c:f>
              <c:numCache>
                <c:formatCode>_-* #,##0_-;\-* #,##0_-;_-* "-"??_-;_-@_-</c:formatCode>
                <c:ptCount val="1"/>
                <c:pt idx="0">
                  <c:v>5990.166666666667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B875-7D45-9CB6-9FBAB8571659}"/>
            </c:ext>
          </c:extLst>
        </c:ser>
        <c:ser>
          <c:idx val="2"/>
          <c:order val="2"/>
          <c:tx>
            <c:strRef>
              <c:f>'[Tabelle e grafici - report finale-nl00002512.xlsx]Osservatorio - 3'!$J$81</c:f>
              <c:strCache>
                <c:ptCount val="1"/>
                <c:pt idx="0">
                  <c:v>3 Fase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'[Tabelle e grafici - report finale-nl00002512.xlsx]Osservatorio - 3'!$K$78:$O$78</c:f>
              <c:strCache>
                <c:ptCount val="1"/>
                <c:pt idx="0">
                  <c:v> Stima perdita media per Museo/Istituto </c:v>
                </c:pt>
              </c:strCache>
              <c:extLst/>
            </c:strRef>
          </c:cat>
          <c:val>
            <c:numRef>
              <c:f>'[Tabelle e grafici - report finale-nl00002512.xlsx]Osservatorio - 3'!$K$81:$O$81</c:f>
              <c:numCache>
                <c:formatCode>_-* #,##0_-;\-* #,##0_-;_-* "-"??_-;_-@_-</c:formatCode>
                <c:ptCount val="1"/>
                <c:pt idx="0">
                  <c:v>6534.2888888888892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B875-7D45-9CB6-9FBAB85716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3980504"/>
        <c:axId val="433978208"/>
      </c:barChart>
      <c:catAx>
        <c:axId val="43398050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33978208"/>
        <c:crosses val="autoZero"/>
        <c:auto val="1"/>
        <c:lblAlgn val="ctr"/>
        <c:lblOffset val="100"/>
        <c:noMultiLvlLbl val="0"/>
      </c:catAx>
      <c:valAx>
        <c:axId val="43397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,##0_-;\-* #,##0_-;_-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33980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6100437985457373"/>
          <c:y val="0.23525723341978949"/>
          <c:w val="0.28526921991197624"/>
          <c:h val="0.62049497879790305"/>
        </c:manualLayout>
      </c:layout>
      <c:radarChart>
        <c:radarStyle val="marker"/>
        <c:varyColors val="0"/>
        <c:ser>
          <c:idx val="0"/>
          <c:order val="0"/>
          <c:tx>
            <c:strRef>
              <c:f>'[Tabelle e grafici - report finale-nl00002512.xlsx]2020 - Quesito 21'!$B$62</c:f>
              <c:strCache>
                <c:ptCount val="1"/>
                <c:pt idx="0">
                  <c:v>% RER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'[Tabelle e grafici - report finale-nl00002512.xlsx]2020 - Quesito 21'!$A$63:$A$71</c:f>
              <c:strCache>
                <c:ptCount val="9"/>
                <c:pt idx="0">
                  <c:v>Altro (specificare)</c:v>
                </c:pt>
                <c:pt idx="1">
                  <c:v>Presenza nel Web come produttori ed editori di specifiche produzioni e proposte culturali</c:v>
                </c:pt>
                <c:pt idx="2">
                  <c:v>Organizzazione dei flussi e degli accessi in sicurezza</c:v>
                </c:pt>
                <c:pt idx="3">
                  <c:v>Attività di formazione per lo sviluppo delle competenze digitali del personale</c:v>
                </c:pt>
                <c:pt idx="4">
                  <c:v>Potenziamento delle forme di fruizione a distanza dei beni e/o delle collezioni (tour virtuali, etc.)</c:v>
                </c:pt>
                <c:pt idx="5">
                  <c:v>Recupero del rapporto con il pubblico in presenza attraverso biglietti integrati, promozioni o accessi agevolati</c:v>
                </c:pt>
                <c:pt idx="6">
                  <c:v>Avvio o completamento dell'attività di digitalizzazione delle collezioni</c:v>
                </c:pt>
                <c:pt idx="7">
                  <c:v>Coinvolgimento del pubblico a distanza attraverso soluzioni narrative digitali e forme interattive online</c:v>
                </c:pt>
                <c:pt idx="8">
                  <c:v>Collaborazione e/o partenariato con enti, istituzioni scolastiche e/o associazioni per la realizzazione di progetti culturali e sociali sul territorio</c:v>
                </c:pt>
              </c:strCache>
            </c:strRef>
          </c:cat>
          <c:val>
            <c:numRef>
              <c:f>'[Tabelle e grafici - report finale-nl00002512.xlsx]2020 - Quesito 21'!$B$63:$B$71</c:f>
              <c:numCache>
                <c:formatCode>0.0%</c:formatCode>
                <c:ptCount val="9"/>
                <c:pt idx="0">
                  <c:v>8.0645161290322578E-3</c:v>
                </c:pt>
                <c:pt idx="1">
                  <c:v>3.7634408602150539E-2</c:v>
                </c:pt>
                <c:pt idx="2">
                  <c:v>5.9139784946236562E-2</c:v>
                </c:pt>
                <c:pt idx="3">
                  <c:v>6.9892473118279563E-2</c:v>
                </c:pt>
                <c:pt idx="4">
                  <c:v>0.11155913978494623</c:v>
                </c:pt>
                <c:pt idx="5">
                  <c:v>0.13172043010752688</c:v>
                </c:pt>
                <c:pt idx="6">
                  <c:v>0.13172043010752688</c:v>
                </c:pt>
                <c:pt idx="7">
                  <c:v>0.13709677419354838</c:v>
                </c:pt>
                <c:pt idx="8">
                  <c:v>0.31317204301075269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560-1442-94AC-1B5C7233505D}"/>
            </c:ext>
          </c:extLst>
        </c:ser>
        <c:ser>
          <c:idx val="1"/>
          <c:order val="1"/>
          <c:tx>
            <c:strRef>
              <c:f>'[Tabelle e grafici - report finale-nl00002512.xlsx]2020 - Quesito 21'!$C$62</c:f>
              <c:strCache>
                <c:ptCount val="1"/>
                <c:pt idx="0">
                  <c:v>% ITALIA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'[Tabelle e grafici - report finale-nl00002512.xlsx]2020 - Quesito 21'!$A$63:$A$71</c:f>
              <c:strCache>
                <c:ptCount val="9"/>
                <c:pt idx="0">
                  <c:v>Altro (specificare)</c:v>
                </c:pt>
                <c:pt idx="1">
                  <c:v>Presenza nel Web come produttori ed editori di specifiche produzioni e proposte culturali</c:v>
                </c:pt>
                <c:pt idx="2">
                  <c:v>Organizzazione dei flussi e degli accessi in sicurezza</c:v>
                </c:pt>
                <c:pt idx="3">
                  <c:v>Attività di formazione per lo sviluppo delle competenze digitali del personale</c:v>
                </c:pt>
                <c:pt idx="4">
                  <c:v>Potenziamento delle forme di fruizione a distanza dei beni e/o delle collezioni (tour virtuali, etc.)</c:v>
                </c:pt>
                <c:pt idx="5">
                  <c:v>Recupero del rapporto con il pubblico in presenza attraverso biglietti integrati, promozioni o accessi agevolati</c:v>
                </c:pt>
                <c:pt idx="6">
                  <c:v>Avvio o completamento dell'attività di digitalizzazione delle collezioni</c:v>
                </c:pt>
                <c:pt idx="7">
                  <c:v>Coinvolgimento del pubblico a distanza attraverso soluzioni narrative digitali e forme interattive online</c:v>
                </c:pt>
                <c:pt idx="8">
                  <c:v>Collaborazione e/o partenariato con enti, istituzioni scolastiche e/o associazioni per la realizzazione di progetti culturali e sociali sul territorio</c:v>
                </c:pt>
              </c:strCache>
            </c:strRef>
          </c:cat>
          <c:val>
            <c:numRef>
              <c:f>'[Tabelle e grafici - report finale-nl00002512.xlsx]2020 - Quesito 21'!$C$63:$C$71</c:f>
              <c:numCache>
                <c:formatCode>0.0%</c:formatCode>
                <c:ptCount val="9"/>
                <c:pt idx="0">
                  <c:v>7.028753993610224E-3</c:v>
                </c:pt>
                <c:pt idx="1">
                  <c:v>5.0223642172523959E-2</c:v>
                </c:pt>
                <c:pt idx="2">
                  <c:v>6.6581469648562305E-2</c:v>
                </c:pt>
                <c:pt idx="3">
                  <c:v>5.1629392971246003E-2</c:v>
                </c:pt>
                <c:pt idx="4">
                  <c:v>0.12383386581469649</c:v>
                </c:pt>
                <c:pt idx="5">
                  <c:v>0.15936102236421726</c:v>
                </c:pt>
                <c:pt idx="6">
                  <c:v>0.12268370607028754</c:v>
                </c:pt>
                <c:pt idx="7">
                  <c:v>0.11706070287539937</c:v>
                </c:pt>
                <c:pt idx="8">
                  <c:v>0.30159744408945688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560-1442-94AC-1B5C723350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5511128"/>
        <c:axId val="855517688"/>
      </c:radarChart>
      <c:catAx>
        <c:axId val="85551112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55517688"/>
        <c:crosses val="autoZero"/>
        <c:auto val="1"/>
        <c:lblAlgn val="ctr"/>
        <c:lblOffset val="100"/>
        <c:noMultiLvlLbl val="0"/>
      </c:catAx>
      <c:valAx>
        <c:axId val="855517688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855511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4"/>
            </a:solidFill>
            <a:ln w="114300">
              <a:solidFill>
                <a:schemeClr val="accent4">
                  <a:alpha val="98000"/>
                </a:schemeClr>
              </a:solidFill>
            </a:ln>
            <a:effectLst/>
          </c:spPr>
          <c:invertIfNegative val="0"/>
          <c:dLbls>
            <c:dLbl>
              <c:idx val="8"/>
              <c:layout>
                <c:manualLayout>
                  <c:x val="1.907485360700001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D66-1647-BC20-805B2BF6A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rifatti'!$L$176:$L$184</c:f>
              <c:strCache>
                <c:ptCount val="9"/>
                <c:pt idx="0">
                  <c:v>Nessuno dei precedenti</c:v>
                </c:pt>
                <c:pt idx="1">
                  <c:v>Esposizioni online a pagamento</c:v>
                </c:pt>
                <c:pt idx="2">
                  <c:v>Programmi di membership digitali</c:v>
                </c:pt>
                <c:pt idx="3">
                  <c:v>Tour virtuali a pagamento</c:v>
                </c:pt>
                <c:pt idx="4">
                  <c:v>Raccolta fondi/crowdfunding/…</c:v>
                </c:pt>
                <c:pt idx="5">
                  <c:v>Aumento delle ragioni di affitto degli spazi museali</c:v>
                </c:pt>
                <c:pt idx="6">
                  <c:v>Programmi di formazione online a pagamento</c:v>
                </c:pt>
                <c:pt idx="7">
                  <c:v>Sviluppo di prodotti «da lockdown» a tema museale</c:v>
                </c:pt>
                <c:pt idx="8">
                  <c:v>Sviluppo dello shop online</c:v>
                </c:pt>
              </c:strCache>
            </c:strRef>
          </c:cat>
          <c:val>
            <c:numRef>
              <c:f>'[Tabelle e grafici - report finale.xlsx]Grafici rifatti'!$M$176:$M$184</c:f>
              <c:numCache>
                <c:formatCode>0.0%</c:formatCode>
                <c:ptCount val="9"/>
                <c:pt idx="0">
                  <c:v>0.59099999999999997</c:v>
                </c:pt>
                <c:pt idx="1">
                  <c:v>2.8000000000000001E-2</c:v>
                </c:pt>
                <c:pt idx="2">
                  <c:v>5.6000000000000001E-2</c:v>
                </c:pt>
                <c:pt idx="3">
                  <c:v>7.3999999999999996E-2</c:v>
                </c:pt>
                <c:pt idx="4">
                  <c:v>7.3999999999999996E-2</c:v>
                </c:pt>
                <c:pt idx="5">
                  <c:v>7.6999999999999999E-2</c:v>
                </c:pt>
                <c:pt idx="6">
                  <c:v>8.4000000000000005E-2</c:v>
                </c:pt>
                <c:pt idx="7">
                  <c:v>0.113</c:v>
                </c:pt>
                <c:pt idx="8">
                  <c:v>0.14099999999999999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B4-9E4A-9737-C624B08DE2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8"/>
        <c:axId val="889014944"/>
        <c:axId val="852086992"/>
      </c:barChart>
      <c:catAx>
        <c:axId val="8890149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52086992"/>
        <c:crosses val="autoZero"/>
        <c:auto val="1"/>
        <c:lblAlgn val="ctr"/>
        <c:lblOffset val="100"/>
        <c:noMultiLvlLbl val="0"/>
      </c:catAx>
      <c:valAx>
        <c:axId val="852086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90149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090223256027902"/>
          <c:y val="5.0925925925925923E-2"/>
          <c:w val="0.57218827153181717"/>
          <c:h val="0.8277857976086322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'[Tabelle e grafici - report finale.xlsx]Grafici rifatti'!$M$195</c:f>
              <c:strCache>
                <c:ptCount val="1"/>
                <c:pt idx="0">
                  <c:v>Generate nuove fonti di finanziamento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C2A-614A-900A-9DA5BA1687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rifatti'!$N$194:$O$194</c:f>
              <c:strCache>
                <c:ptCount val="2"/>
                <c:pt idx="0">
                  <c:v>Grandi</c:v>
                </c:pt>
                <c:pt idx="1">
                  <c:v>Piccoli</c:v>
                </c:pt>
              </c:strCache>
            </c:strRef>
          </c:cat>
          <c:val>
            <c:numRef>
              <c:f>'[Tabelle e grafici - report finale.xlsx]Grafici rifatti'!$N$195:$O$195</c:f>
              <c:numCache>
                <c:formatCode>0%</c:formatCode>
                <c:ptCount val="2"/>
                <c:pt idx="0">
                  <c:v>0.5</c:v>
                </c:pt>
                <c:pt idx="1">
                  <c:v>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2A-614A-900A-9DA5BA1687B1}"/>
            </c:ext>
          </c:extLst>
        </c:ser>
        <c:ser>
          <c:idx val="1"/>
          <c:order val="1"/>
          <c:tx>
            <c:strRef>
              <c:f>'[Tabelle e grafici - report finale.xlsx]Grafici rifatti'!$M$196</c:f>
              <c:strCache>
                <c:ptCount val="1"/>
                <c:pt idx="0">
                  <c:v>Non prese in considerazione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C2A-614A-900A-9DA5BA1687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rifatti'!$N$194:$O$194</c:f>
              <c:strCache>
                <c:ptCount val="2"/>
                <c:pt idx="0">
                  <c:v>Grandi</c:v>
                </c:pt>
                <c:pt idx="1">
                  <c:v>Piccoli</c:v>
                </c:pt>
              </c:strCache>
            </c:strRef>
          </c:cat>
          <c:val>
            <c:numRef>
              <c:f>'[Tabelle e grafici - report finale.xlsx]Grafici rifatti'!$N$196:$O$196</c:f>
              <c:numCache>
                <c:formatCode>0%</c:formatCode>
                <c:ptCount val="2"/>
                <c:pt idx="0">
                  <c:v>0.28999999999999998</c:v>
                </c:pt>
                <c:pt idx="1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C2A-614A-900A-9DA5BA1687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81219152"/>
        <c:axId val="881220464"/>
      </c:barChart>
      <c:catAx>
        <c:axId val="8812191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81220464"/>
        <c:crosses val="autoZero"/>
        <c:auto val="1"/>
        <c:lblAlgn val="ctr"/>
        <c:lblOffset val="100"/>
        <c:noMultiLvlLbl val="0"/>
      </c:catAx>
      <c:valAx>
        <c:axId val="881220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1219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432948227075333"/>
          <c:y val="0.37152668416447943"/>
          <c:w val="0.2339428432888048"/>
          <c:h val="0.2569466316710410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400">
                <a:effectLst/>
              </a:rPr>
              <a:t>Competenze mancanti</a:t>
            </a:r>
            <a:endParaRPr lang="it-IT" sz="110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rgbClr val="E26F58"/>
            </a:solidFill>
            <a:ln w="82550">
              <a:solidFill>
                <a:srgbClr val="E26F58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1.7347269648325954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55F-734A-963C-40A78D370172}"/>
                </c:ext>
              </c:extLst>
            </c:dLbl>
            <c:dLbl>
              <c:idx val="1"/>
              <c:layout>
                <c:manualLayout>
                  <c:x val="6.5729345188454309E-3"/>
                  <c:y val="-1.1590196305706432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55F-734A-963C-40A78D370172}"/>
                </c:ext>
              </c:extLst>
            </c:dLbl>
            <c:dLbl>
              <c:idx val="2"/>
              <c:layout>
                <c:manualLayout>
                  <c:x val="9.062682442650519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55F-734A-963C-40A78D370172}"/>
                </c:ext>
              </c:extLst>
            </c:dLbl>
            <c:dLbl>
              <c:idx val="3"/>
              <c:layout>
                <c:manualLayout>
                  <c:x val="6.5729345188454309E-3"/>
                  <c:y val="-3.160999144539050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55F-734A-963C-40A78D370172}"/>
                </c:ext>
              </c:extLst>
            </c:dLbl>
            <c:dLbl>
              <c:idx val="4"/>
              <c:layout>
                <c:manualLayout>
                  <c:x val="6.5729345188454309E-3"/>
                  <c:y val="-1.1590196305706432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55F-734A-963C-40A78D370172}"/>
                </c:ext>
              </c:extLst>
            </c:dLbl>
            <c:dLbl>
              <c:idx val="5"/>
              <c:layout>
                <c:manualLayout>
                  <c:x val="9.0626824426503372E-3"/>
                  <c:y val="3.1609991445390503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55F-734A-963C-40A78D370172}"/>
                </c:ext>
              </c:extLst>
            </c:dLbl>
            <c:dLbl>
              <c:idx val="6"/>
              <c:layout>
                <c:manualLayout>
                  <c:x val="6.5729345188454309E-3"/>
                  <c:y val="-3.160999144539108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55F-734A-963C-40A78D370172}"/>
                </c:ext>
              </c:extLst>
            </c:dLbl>
            <c:dLbl>
              <c:idx val="7"/>
              <c:layout>
                <c:manualLayout>
                  <c:x val="4.083186595040343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55F-734A-963C-40A78D370172}"/>
                </c:ext>
              </c:extLst>
            </c:dLbl>
            <c:dLbl>
              <c:idx val="8"/>
              <c:layout>
                <c:manualLayout>
                  <c:x val="1.5934386712350736E-3"/>
                  <c:y val="-2.897549076426608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55F-734A-963C-40A78D3701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rifatti'!$L$214:$L$222</c:f>
              <c:strCache>
                <c:ptCount val="9"/>
                <c:pt idx="0">
                  <c:v>Nessuno dei precedenti</c:v>
                </c:pt>
                <c:pt idx="1">
                  <c:v>Crowdfunding/raccolta fondi</c:v>
                </c:pt>
                <c:pt idx="2">
                  <c:v>Preparazione all’emergenza</c:v>
                </c:pt>
                <c:pt idx="3">
                  <c:v>Gestione del marketing</c:v>
                </c:pt>
                <c:pt idx="4">
                  <c:v>Sensibilizzazione della comunità</c:v>
                </c:pt>
                <c:pt idx="5">
                  <c:v>Sviluppo di eventi digitali/ibridi</c:v>
                </c:pt>
                <c:pt idx="6">
                  <c:v>Costruzione di una strategia digitale</c:v>
                </c:pt>
                <c:pt idx="7">
                  <c:v>Competenze di base per il lavoro da remoto</c:v>
                </c:pt>
                <c:pt idx="8">
                  <c:v>Creazione di contenuti digitali</c:v>
                </c:pt>
              </c:strCache>
            </c:strRef>
          </c:cat>
          <c:val>
            <c:numRef>
              <c:f>'[Tabelle e grafici - report finale.xlsx]Grafici rifatti'!$M$214:$M$222</c:f>
              <c:numCache>
                <c:formatCode>0.0%</c:formatCode>
                <c:ptCount val="9"/>
                <c:pt idx="0">
                  <c:v>5.0999999999999997E-2</c:v>
                </c:pt>
                <c:pt idx="1">
                  <c:v>0.214</c:v>
                </c:pt>
                <c:pt idx="2">
                  <c:v>0.31900000000000001</c:v>
                </c:pt>
                <c:pt idx="3">
                  <c:v>0.32700000000000001</c:v>
                </c:pt>
                <c:pt idx="4">
                  <c:v>0.378</c:v>
                </c:pt>
                <c:pt idx="5">
                  <c:v>0.55400000000000005</c:v>
                </c:pt>
                <c:pt idx="6">
                  <c:v>0.63700000000000001</c:v>
                </c:pt>
                <c:pt idx="7">
                  <c:v>0.64300000000000002</c:v>
                </c:pt>
                <c:pt idx="8">
                  <c:v>0.72299999999999998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2C-6642-AA8D-B37E91C8D0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923554864"/>
        <c:axId val="923556176"/>
      </c:barChart>
      <c:catAx>
        <c:axId val="923554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23556176"/>
        <c:crosses val="autoZero"/>
        <c:auto val="1"/>
        <c:lblAlgn val="ctr"/>
        <c:lblOffset val="100"/>
        <c:noMultiLvlLbl val="0"/>
      </c:catAx>
      <c:valAx>
        <c:axId val="923556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23554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44450">
              <a:solidFill>
                <a:schemeClr val="accen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rifatti'!$L$235:$L$244</c:f>
              <c:strCache>
                <c:ptCount val="10"/>
                <c:pt idx="0">
                  <c:v>Chiudere il museo definitivamente</c:v>
                </c:pt>
                <c:pt idx="1">
                  <c:v>Riduzione di finanziamenti privati</c:v>
                </c:pt>
                <c:pt idx="2">
                  <c:v>Riduzione di finanziamenti pubblici</c:v>
                </c:pt>
                <c:pt idx="3">
                  <c:v>Diminuire lo staff</c:v>
                </c:pt>
                <c:pt idx="4">
                  <c:v>Sospendere/ridurre le esposizioni internazionali</c:v>
                </c:pt>
                <c:pt idx="5">
                  <c:v>Ridurre le ore di apertura</c:v>
                </c:pt>
                <c:pt idx="6">
                  <c:v>Digitalizzare le operazioni (es. vendita dei biglietti)</c:v>
                </c:pt>
                <c:pt idx="7">
                  <c:v>Riallocare le funzioni dello staff</c:v>
                </c:pt>
                <c:pt idx="8">
                  <c:v>Ridurre la capacità di accoglienza visitatori</c:v>
                </c:pt>
                <c:pt idx="9">
                  <c:v>Sospendere programmi e progetti</c:v>
                </c:pt>
              </c:strCache>
            </c:strRef>
          </c:cat>
          <c:val>
            <c:numRef>
              <c:f>'[Tabelle e grafici - report finale.xlsx]Grafici rifatti'!$M$235:$M$244</c:f>
              <c:numCache>
                <c:formatCode>0.0%</c:formatCode>
                <c:ptCount val="10"/>
                <c:pt idx="0">
                  <c:v>0.06</c:v>
                </c:pt>
                <c:pt idx="1">
                  <c:v>0.11</c:v>
                </c:pt>
                <c:pt idx="2">
                  <c:v>0.13</c:v>
                </c:pt>
                <c:pt idx="3">
                  <c:v>0.16</c:v>
                </c:pt>
                <c:pt idx="4">
                  <c:v>0.26</c:v>
                </c:pt>
                <c:pt idx="5">
                  <c:v>0.28000000000000003</c:v>
                </c:pt>
                <c:pt idx="6">
                  <c:v>0.28999999999999998</c:v>
                </c:pt>
                <c:pt idx="7">
                  <c:v>0.42</c:v>
                </c:pt>
                <c:pt idx="8">
                  <c:v>0.49</c:v>
                </c:pt>
                <c:pt idx="9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15-8049-9C2F-E14F9E2CB46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837955200"/>
        <c:axId val="837951264"/>
      </c:barChart>
      <c:catAx>
        <c:axId val="837955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37951264"/>
        <c:crosses val="autoZero"/>
        <c:auto val="1"/>
        <c:lblAlgn val="ctr"/>
        <c:lblOffset val="100"/>
        <c:noMultiLvlLbl val="0"/>
      </c:catAx>
      <c:valAx>
        <c:axId val="8379512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it-IT"/>
                  <a:t>Musei rispondenti</a:t>
                </a:r>
              </a:p>
            </c:rich>
          </c:tx>
          <c:layout>
            <c:manualLayout>
              <c:xMode val="edge"/>
              <c:yMode val="edge"/>
              <c:x val="0.42463762791703913"/>
              <c:y val="0.933980390382236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it-IT"/>
            </a:p>
          </c:txPr>
        </c:title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37955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6100437985457373"/>
          <c:y val="0.23525723341978949"/>
          <c:w val="0.28526921991197624"/>
          <c:h val="0.62049497879790305"/>
        </c:manualLayout>
      </c:layout>
      <c:radarChart>
        <c:radarStyle val="marker"/>
        <c:varyColors val="0"/>
        <c:ser>
          <c:idx val="0"/>
          <c:order val="0"/>
          <c:tx>
            <c:strRef>
              <c:f>'[Tabelle e grafici - report finale-nl00002512.xlsx]2020 - Quesito 21'!$B$62</c:f>
              <c:strCache>
                <c:ptCount val="1"/>
                <c:pt idx="0">
                  <c:v>% RER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8"/>
              <c:layout>
                <c:manualLayout>
                  <c:x val="4.1113219481340925E-2"/>
                  <c:y val="2.3557126030624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5FF-42F0-B1A8-C6BF182FD91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finale-nl00002512.xlsx]2020 - Quesito 21'!$A$63:$A$71</c:f>
              <c:strCache>
                <c:ptCount val="9"/>
                <c:pt idx="0">
                  <c:v>Altro (specificare)</c:v>
                </c:pt>
                <c:pt idx="1">
                  <c:v>Presenza nel Web come produttori ed editori di specifiche produzioni e proposte culturali</c:v>
                </c:pt>
                <c:pt idx="2">
                  <c:v>Organizzazione dei flussi e degli accessi in sicurezza</c:v>
                </c:pt>
                <c:pt idx="3">
                  <c:v>Attività di formazione per lo sviluppo delle competenze digitali del personale</c:v>
                </c:pt>
                <c:pt idx="4">
                  <c:v>Potenziamento delle forme di fruizione a distanza dei beni e/o delle collezioni (tour virtuali, etc.)</c:v>
                </c:pt>
                <c:pt idx="5">
                  <c:v>Recupero del rapporto con il pubblico in presenza attraverso biglietti integrati, promozioni o accessi agevolati</c:v>
                </c:pt>
                <c:pt idx="6">
                  <c:v>Avvio o completamento dell'attività di digitalizzazione delle collezioni</c:v>
                </c:pt>
                <c:pt idx="7">
                  <c:v>Coinvolgimento del pubblico a distanza attraverso soluzioni narrative digitali e forme interattive online</c:v>
                </c:pt>
                <c:pt idx="8">
                  <c:v>Collaborazione e/o partenariato con enti, istituzioni scolastiche e/o associazioni per la realizzazione di progetti culturali e sociali sul territorio</c:v>
                </c:pt>
              </c:strCache>
            </c:strRef>
          </c:cat>
          <c:val>
            <c:numRef>
              <c:f>'[Tabelle e grafici - report finale-nl00002512.xlsx]2020 - Quesito 21'!$B$63:$B$71</c:f>
              <c:numCache>
                <c:formatCode>0.0%</c:formatCode>
                <c:ptCount val="9"/>
                <c:pt idx="0">
                  <c:v>8.0645161290322578E-3</c:v>
                </c:pt>
                <c:pt idx="1">
                  <c:v>3.7634408602150539E-2</c:v>
                </c:pt>
                <c:pt idx="2">
                  <c:v>5.9139784946236562E-2</c:v>
                </c:pt>
                <c:pt idx="3">
                  <c:v>6.9892473118279563E-2</c:v>
                </c:pt>
                <c:pt idx="4">
                  <c:v>0.11155913978494623</c:v>
                </c:pt>
                <c:pt idx="5">
                  <c:v>0.13172043010752688</c:v>
                </c:pt>
                <c:pt idx="6">
                  <c:v>0.13172043010752688</c:v>
                </c:pt>
                <c:pt idx="7">
                  <c:v>0.13709677419354838</c:v>
                </c:pt>
                <c:pt idx="8">
                  <c:v>0.31317204301075269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CE-4ABC-B399-C5DF8476C8B8}"/>
            </c:ext>
          </c:extLst>
        </c:ser>
        <c:ser>
          <c:idx val="1"/>
          <c:order val="1"/>
          <c:tx>
            <c:strRef>
              <c:f>'[Tabelle e grafici - report finale-nl00002512.xlsx]2020 - Quesito 21'!$C$62</c:f>
              <c:strCache>
                <c:ptCount val="1"/>
                <c:pt idx="0">
                  <c:v>% ITALIA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'[Tabelle e grafici - report finale-nl00002512.xlsx]2020 - Quesito 21'!$A$63:$A$71</c:f>
              <c:strCache>
                <c:ptCount val="9"/>
                <c:pt idx="0">
                  <c:v>Altro (specificare)</c:v>
                </c:pt>
                <c:pt idx="1">
                  <c:v>Presenza nel Web come produttori ed editori di specifiche produzioni e proposte culturali</c:v>
                </c:pt>
                <c:pt idx="2">
                  <c:v>Organizzazione dei flussi e degli accessi in sicurezza</c:v>
                </c:pt>
                <c:pt idx="3">
                  <c:v>Attività di formazione per lo sviluppo delle competenze digitali del personale</c:v>
                </c:pt>
                <c:pt idx="4">
                  <c:v>Potenziamento delle forme di fruizione a distanza dei beni e/o delle collezioni (tour virtuali, etc.)</c:v>
                </c:pt>
                <c:pt idx="5">
                  <c:v>Recupero del rapporto con il pubblico in presenza attraverso biglietti integrati, promozioni o accessi agevolati</c:v>
                </c:pt>
                <c:pt idx="6">
                  <c:v>Avvio o completamento dell'attività di digitalizzazione delle collezioni</c:v>
                </c:pt>
                <c:pt idx="7">
                  <c:v>Coinvolgimento del pubblico a distanza attraverso soluzioni narrative digitali e forme interattive online</c:v>
                </c:pt>
                <c:pt idx="8">
                  <c:v>Collaborazione e/o partenariato con enti, istituzioni scolastiche e/o associazioni per la realizzazione di progetti culturali e sociali sul territorio</c:v>
                </c:pt>
              </c:strCache>
            </c:strRef>
          </c:cat>
          <c:val>
            <c:numRef>
              <c:f>'[Tabelle e grafici - report finale-nl00002512.xlsx]2020 - Quesito 21'!$C$63:$C$71</c:f>
              <c:numCache>
                <c:formatCode>0.0%</c:formatCode>
                <c:ptCount val="9"/>
                <c:pt idx="0">
                  <c:v>7.028753993610224E-3</c:v>
                </c:pt>
                <c:pt idx="1">
                  <c:v>5.0223642172523959E-2</c:v>
                </c:pt>
                <c:pt idx="2">
                  <c:v>6.6581469648562305E-2</c:v>
                </c:pt>
                <c:pt idx="3">
                  <c:v>5.1629392971246003E-2</c:v>
                </c:pt>
                <c:pt idx="4">
                  <c:v>0.12383386581469649</c:v>
                </c:pt>
                <c:pt idx="5">
                  <c:v>0.15936102236421726</c:v>
                </c:pt>
                <c:pt idx="6">
                  <c:v>0.12268370607028754</c:v>
                </c:pt>
                <c:pt idx="7">
                  <c:v>0.11706070287539937</c:v>
                </c:pt>
                <c:pt idx="8">
                  <c:v>0.30159744408945688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CE-4ABC-B399-C5DF8476C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55511128"/>
        <c:axId val="855517688"/>
      </c:radarChart>
      <c:catAx>
        <c:axId val="855511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55517688"/>
        <c:crosses val="autoZero"/>
        <c:auto val="1"/>
        <c:lblAlgn val="ctr"/>
        <c:lblOffset val="100"/>
        <c:noMultiLvlLbl val="0"/>
      </c:catAx>
      <c:valAx>
        <c:axId val="855517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55511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42580561781016413"/>
          <c:y val="9.8123250801938289E-2"/>
          <c:w val="0.14838876437967172"/>
          <c:h val="4.8687129992628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finale-nl00002512.xlsx]Master -  Social precovid'!$I$4</c:f>
              <c:strCache>
                <c:ptCount val="1"/>
                <c:pt idx="0">
                  <c:v>%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finale-nl00002512.xlsx]Master -  Social precovid'!$H$5:$H$11</c:f>
              <c:strCache>
                <c:ptCount val="7"/>
                <c:pt idx="0">
                  <c:v>Facebook</c:v>
                </c:pt>
                <c:pt idx="1">
                  <c:v> Instagram</c:v>
                </c:pt>
                <c:pt idx="2">
                  <c:v> YouTube</c:v>
                </c:pt>
                <c:pt idx="3">
                  <c:v> Twitter</c:v>
                </c:pt>
                <c:pt idx="4">
                  <c:v> Pinterest</c:v>
                </c:pt>
                <c:pt idx="5">
                  <c:v>Altro</c:v>
                </c:pt>
                <c:pt idx="6">
                  <c:v>Nessuno di questi</c:v>
                </c:pt>
              </c:strCache>
            </c:strRef>
          </c:cat>
          <c:val>
            <c:numRef>
              <c:f>'[Tabelle e grafici - report finale-nl00002512.xlsx]Master -  Social precovid'!$I$5:$I$11</c:f>
              <c:numCache>
                <c:formatCode>0%</c:formatCode>
                <c:ptCount val="7"/>
                <c:pt idx="0">
                  <c:v>0.875</c:v>
                </c:pt>
                <c:pt idx="1">
                  <c:v>0.5982142857142857</c:v>
                </c:pt>
                <c:pt idx="2">
                  <c:v>0.5</c:v>
                </c:pt>
                <c:pt idx="3">
                  <c:v>0.2767857142857143</c:v>
                </c:pt>
                <c:pt idx="4">
                  <c:v>4.4642857142857144E-2</c:v>
                </c:pt>
                <c:pt idx="5">
                  <c:v>4.4642857142857144E-2</c:v>
                </c:pt>
                <c:pt idx="6">
                  <c:v>8.9285714285714288E-2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7-374A-A12A-F32062C6218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99105432"/>
        <c:axId val="799097560"/>
      </c:barChart>
      <c:catAx>
        <c:axId val="799105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99097560"/>
        <c:crosses val="autoZero"/>
        <c:auto val="1"/>
        <c:lblAlgn val="ctr"/>
        <c:lblOffset val="100"/>
        <c:noMultiLvlLbl val="0"/>
      </c:catAx>
      <c:valAx>
        <c:axId val="799097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99105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'[Tabelle e grafici - report finale.xlsx]2019 - Quesito 17 - 20'!$N$7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77-9143-8DDE-0FF010FE5C64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77-9143-8DDE-0FF010FE5C64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77-9143-8DDE-0FF010FE5C64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77-9143-8DDE-0FF010FE5C64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77-9143-8DDE-0FF010FE5C64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177-9143-8DDE-0FF010FE5C64}"/>
              </c:ext>
            </c:extLst>
          </c:dPt>
          <c:cat>
            <c:strRef>
              <c:f>'[Tabelle e grafici - report finale.xlsx]2019 - Quesito 17 - 20'!$M$8:$M$16</c:f>
              <c:strCache>
                <c:ptCount val="9"/>
                <c:pt idx="0">
                  <c:v>Non Risponde</c:v>
                </c:pt>
                <c:pt idx="1">
                  <c:v>Non Presente sul web</c:v>
                </c:pt>
                <c:pt idx="2">
                  <c:v>Presente sul web</c:v>
                </c:pt>
                <c:pt idx="3">
                  <c:v>Non Risponde</c:v>
                </c:pt>
                <c:pt idx="4">
                  <c:v>Non Presente sui Social</c:v>
                </c:pt>
                <c:pt idx="5">
                  <c:v>Presente sui Social</c:v>
                </c:pt>
                <c:pt idx="6">
                  <c:v>Non Risponde</c:v>
                </c:pt>
                <c:pt idx="7">
                  <c:v>Non ha digitalizzato le Collezioni</c:v>
                </c:pt>
                <c:pt idx="8">
                  <c:v>Ha digitalizzato le Collezioni</c:v>
                </c:pt>
              </c:strCache>
            </c:strRef>
          </c:cat>
          <c:val>
            <c:numRef>
              <c:f>'[Tabelle e grafici - report finale.xlsx]2019 - Quesito 17 - 20'!$N$8:$N$16</c:f>
              <c:numCache>
                <c:formatCode>0%</c:formatCode>
                <c:ptCount val="9"/>
                <c:pt idx="0">
                  <c:v>7.2052401746724892E-2</c:v>
                </c:pt>
                <c:pt idx="1">
                  <c:v>0.17903930131004367</c:v>
                </c:pt>
                <c:pt idx="2">
                  <c:v>0.74890829694323147</c:v>
                </c:pt>
                <c:pt idx="3">
                  <c:v>7.8602620087336247E-2</c:v>
                </c:pt>
                <c:pt idx="4">
                  <c:v>0.27074235807860264</c:v>
                </c:pt>
                <c:pt idx="5">
                  <c:v>0.6506550218340611</c:v>
                </c:pt>
                <c:pt idx="6" formatCode="0.0%">
                  <c:v>8.1424936386768454E-2</c:v>
                </c:pt>
                <c:pt idx="7" formatCode="0.0%">
                  <c:v>0.4351145038167939</c:v>
                </c:pt>
                <c:pt idx="8" formatCode="0.0%">
                  <c:v>0.48346055979643765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177-9143-8DDE-0FF010FE5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98563000"/>
        <c:axId val="698560704"/>
      </c:barChart>
      <c:catAx>
        <c:axId val="698563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98560704"/>
        <c:crosses val="autoZero"/>
        <c:auto val="1"/>
        <c:lblAlgn val="ctr"/>
        <c:lblOffset val="100"/>
        <c:noMultiLvlLbl val="0"/>
      </c:catAx>
      <c:valAx>
        <c:axId val="698560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98563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sz="1600"/>
              <a:t>Aprile-Maggio 2021</a:t>
            </a:r>
          </a:p>
        </c:rich>
      </c:tx>
      <c:layout>
        <c:manualLayout>
          <c:xMode val="edge"/>
          <c:yMode val="edge"/>
          <c:x val="0.3908289109094461"/>
          <c:y val="2.4583654991164843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'[Tabelle e grafici - report finale.xlsx]Grafici rifatti'!$P$261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rifatti'!$O$262:$O$268</c:f>
              <c:strCache>
                <c:ptCount val="7"/>
                <c:pt idx="0">
                  <c:v>Collezioni online</c:v>
                </c:pt>
                <c:pt idx="1">
                  <c:v>Esposizioni online</c:v>
                </c:pt>
                <c:pt idx="2">
                  <c:v>Eventi trasmessi dal vivo</c:v>
                </c:pt>
                <c:pt idx="3">
                  <c:v>Programmi di formazione</c:v>
                </c:pt>
                <c:pt idx="4">
                  <c:v>Newsletter</c:v>
                </c:pt>
                <c:pt idx="5">
                  <c:v>Podcast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rifatti'!$P$262:$P$268</c:f>
              <c:numCache>
                <c:formatCode>0.0%</c:formatCode>
                <c:ptCount val="7"/>
                <c:pt idx="0">
                  <c:v>0.34700000000000003</c:v>
                </c:pt>
                <c:pt idx="1">
                  <c:v>0.46600000000000008</c:v>
                </c:pt>
                <c:pt idx="2">
                  <c:v>0.36299999999999999</c:v>
                </c:pt>
                <c:pt idx="3">
                  <c:v>0.49400000000000011</c:v>
                </c:pt>
                <c:pt idx="4">
                  <c:v>0.33399999999999996</c:v>
                </c:pt>
                <c:pt idx="5">
                  <c:v>0.66400000000000003</c:v>
                </c:pt>
                <c:pt idx="6">
                  <c:v>4.7999999999999932E-2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6E-42AD-A6DA-0C55C7CF1A22}"/>
            </c:ext>
          </c:extLst>
        </c:ser>
        <c:ser>
          <c:idx val="1"/>
          <c:order val="1"/>
          <c:tx>
            <c:strRef>
              <c:f>'[Tabelle e grafici - report finale.xlsx]Grafici rifatti'!$Q$261</c:f>
              <c:strCache>
                <c:ptCount val="1"/>
                <c:pt idx="0">
                  <c:v>Sì, così come prima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rifatti'!$O$262:$O$268</c:f>
              <c:strCache>
                <c:ptCount val="7"/>
                <c:pt idx="0">
                  <c:v>Collezioni online</c:v>
                </c:pt>
                <c:pt idx="1">
                  <c:v>Esposizioni online</c:v>
                </c:pt>
                <c:pt idx="2">
                  <c:v>Eventi trasmessi dal vivo</c:v>
                </c:pt>
                <c:pt idx="3">
                  <c:v>Programmi di formazione</c:v>
                </c:pt>
                <c:pt idx="4">
                  <c:v>Newsletter</c:v>
                </c:pt>
                <c:pt idx="5">
                  <c:v>Podcast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rifatti'!$Q$262:$Q$268</c:f>
              <c:numCache>
                <c:formatCode>0.0%</c:formatCode>
                <c:ptCount val="7"/>
                <c:pt idx="0">
                  <c:v>0.32</c:v>
                </c:pt>
                <c:pt idx="1">
                  <c:v>0.14000000000000001</c:v>
                </c:pt>
                <c:pt idx="2">
                  <c:v>0.09</c:v>
                </c:pt>
                <c:pt idx="3">
                  <c:v>0.09</c:v>
                </c:pt>
                <c:pt idx="4">
                  <c:v>0.48</c:v>
                </c:pt>
                <c:pt idx="5">
                  <c:v>0.1</c:v>
                </c:pt>
                <c:pt idx="6">
                  <c:v>0.38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C6E-42AD-A6DA-0C55C7CF1A22}"/>
            </c:ext>
          </c:extLst>
        </c:ser>
        <c:ser>
          <c:idx val="2"/>
          <c:order val="2"/>
          <c:tx>
            <c:strRef>
              <c:f>'[Tabelle e grafici - report finale.xlsx]Grafici rifatti'!$R$261</c:f>
              <c:strCache>
                <c:ptCount val="1"/>
                <c:pt idx="0">
                  <c:v>Sì, aumentato dopo il lockdown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rifatti'!$O$262:$O$268</c:f>
              <c:strCache>
                <c:ptCount val="7"/>
                <c:pt idx="0">
                  <c:v>Collezioni online</c:v>
                </c:pt>
                <c:pt idx="1">
                  <c:v>Esposizioni online</c:v>
                </c:pt>
                <c:pt idx="2">
                  <c:v>Eventi trasmessi dal vivo</c:v>
                </c:pt>
                <c:pt idx="3">
                  <c:v>Programmi di formazione</c:v>
                </c:pt>
                <c:pt idx="4">
                  <c:v>Newsletter</c:v>
                </c:pt>
                <c:pt idx="5">
                  <c:v>Podcast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rifatti'!$R$262:$R$268</c:f>
              <c:numCache>
                <c:formatCode>0.0%</c:formatCode>
                <c:ptCount val="7"/>
                <c:pt idx="0">
                  <c:v>0.23599999999999999</c:v>
                </c:pt>
                <c:pt idx="1">
                  <c:v>0.22</c:v>
                </c:pt>
                <c:pt idx="2">
                  <c:v>0.28199999999999997</c:v>
                </c:pt>
                <c:pt idx="3">
                  <c:v>0.21199999999999999</c:v>
                </c:pt>
                <c:pt idx="4">
                  <c:v>0.156</c:v>
                </c:pt>
                <c:pt idx="5">
                  <c:v>0.14499999999999999</c:v>
                </c:pt>
                <c:pt idx="6">
                  <c:v>0.53400000000000003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C6E-42AD-A6DA-0C55C7CF1A22}"/>
            </c:ext>
          </c:extLst>
        </c:ser>
        <c:ser>
          <c:idx val="3"/>
          <c:order val="3"/>
          <c:tx>
            <c:strRef>
              <c:f>'[Tabelle e grafici - report finale.xlsx]Grafici rifatti'!$S$261</c:f>
              <c:strCache>
                <c:ptCount val="1"/>
                <c:pt idx="0">
                  <c:v>Cominciato dopo il lockdowd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6"/>
              <c:layout>
                <c:manualLayout>
                  <c:x val="1.6210066974496548E-3"/>
                  <c:y val="-2.974535539098525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6E-42AD-A6DA-0C55C7CF1A2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rifatti'!$O$262:$O$268</c:f>
              <c:strCache>
                <c:ptCount val="7"/>
                <c:pt idx="0">
                  <c:v>Collezioni online</c:v>
                </c:pt>
                <c:pt idx="1">
                  <c:v>Esposizioni online</c:v>
                </c:pt>
                <c:pt idx="2">
                  <c:v>Eventi trasmessi dal vivo</c:v>
                </c:pt>
                <c:pt idx="3">
                  <c:v>Programmi di formazione</c:v>
                </c:pt>
                <c:pt idx="4">
                  <c:v>Newsletter</c:v>
                </c:pt>
                <c:pt idx="5">
                  <c:v>Podcast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rifatti'!$S$262:$S$268</c:f>
              <c:numCache>
                <c:formatCode>0.0%</c:formatCode>
                <c:ptCount val="7"/>
                <c:pt idx="0">
                  <c:v>9.7000000000000031E-2</c:v>
                </c:pt>
                <c:pt idx="1">
                  <c:v>0.1739999999999999</c:v>
                </c:pt>
                <c:pt idx="2">
                  <c:v>0.26500000000000007</c:v>
                </c:pt>
                <c:pt idx="3">
                  <c:v>0.20399999999999993</c:v>
                </c:pt>
                <c:pt idx="4">
                  <c:v>3.0000000000000054E-2</c:v>
                </c:pt>
                <c:pt idx="5">
                  <c:v>9.099999999999997E-2</c:v>
                </c:pt>
                <c:pt idx="6">
                  <c:v>3.8000000000000034E-2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C6E-42AD-A6DA-0C55C7CF1A2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66402728"/>
        <c:axId val="866405024"/>
      </c:barChart>
      <c:catAx>
        <c:axId val="8664027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66405024"/>
        <c:crosses val="autoZero"/>
        <c:auto val="1"/>
        <c:lblAlgn val="ctr"/>
        <c:lblOffset val="100"/>
        <c:noMultiLvlLbl val="0"/>
      </c:catAx>
      <c:valAx>
        <c:axId val="866405024"/>
        <c:scaling>
          <c:orientation val="minMax"/>
          <c:max val="1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crossAx val="866402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'[Tabelle e grafici - report finale.xlsx]Grafici rifatti'!$P$288</c:f>
              <c:strCache>
                <c:ptCount val="1"/>
                <c:pt idx="0">
                  <c:v>Potenziamento di servizio già esistente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rifatti'!$O$289:$O$298</c:f>
              <c:strCache>
                <c:ptCount val="10"/>
                <c:pt idx="0">
                  <c:v>Programmi di formazione online</c:v>
                </c:pt>
                <c:pt idx="1">
                  <c:v>Esposizioni online</c:v>
                </c:pt>
                <c:pt idx="2">
                  <c:v>Tour virtuali attraverso il museo</c:v>
                </c:pt>
                <c:pt idx="3">
                  <c:v>Podcast del museo</c:v>
                </c:pt>
                <c:pt idx="4">
                  <c:v>Contenuti video (per esempio YouTube o Vimeo)</c:v>
                </c:pt>
                <c:pt idx="5">
                  <c:v>Newsletter speciali</c:v>
                </c:pt>
                <c:pt idx="6">
                  <c:v>Contenuti dal vivo dall’interno del museo</c:v>
                </c:pt>
                <c:pt idx="7">
                  <c:v>Aggiunta di oggetti alle collezioni online</c:v>
                </c:pt>
                <c:pt idx="8">
                  <c:v>Quiz e gare</c:v>
                </c:pt>
                <c:pt idx="9">
                  <c:v>Post sui social media</c:v>
                </c:pt>
              </c:strCache>
            </c:strRef>
          </c:cat>
          <c:val>
            <c:numRef>
              <c:f>'[Tabelle e grafici - report finale.xlsx]Grafici rifatti'!$P$289:$P$298</c:f>
              <c:numCache>
                <c:formatCode>0%</c:formatCode>
                <c:ptCount val="10"/>
                <c:pt idx="0">
                  <c:v>0.2</c:v>
                </c:pt>
                <c:pt idx="1">
                  <c:v>0.22</c:v>
                </c:pt>
                <c:pt idx="2">
                  <c:v>0.18</c:v>
                </c:pt>
                <c:pt idx="3">
                  <c:v>0.09</c:v>
                </c:pt>
                <c:pt idx="4">
                  <c:v>0.39</c:v>
                </c:pt>
                <c:pt idx="5">
                  <c:v>0.23</c:v>
                </c:pt>
                <c:pt idx="6">
                  <c:v>0.17</c:v>
                </c:pt>
                <c:pt idx="7">
                  <c:v>0.31</c:v>
                </c:pt>
                <c:pt idx="8">
                  <c:v>0.18</c:v>
                </c:pt>
                <c:pt idx="9">
                  <c:v>0.67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C-9749-8020-82377E59745F}"/>
            </c:ext>
          </c:extLst>
        </c:ser>
        <c:ser>
          <c:idx val="1"/>
          <c:order val="1"/>
          <c:tx>
            <c:strRef>
              <c:f>'[Tabelle e grafici - report finale.xlsx]Grafici rifatti'!$Q$288</c:f>
              <c:strCache>
                <c:ptCount val="1"/>
                <c:pt idx="0">
                  <c:v>Nuovo servizio</c:v>
                </c:pt>
              </c:strCache>
            </c:strRef>
          </c:tx>
          <c:spPr>
            <a:solidFill>
              <a:srgbClr val="F4120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rifatti'!$O$289:$O$298</c:f>
              <c:strCache>
                <c:ptCount val="10"/>
                <c:pt idx="0">
                  <c:v>Programmi di formazione online</c:v>
                </c:pt>
                <c:pt idx="1">
                  <c:v>Esposizioni online</c:v>
                </c:pt>
                <c:pt idx="2">
                  <c:v>Tour virtuali attraverso il museo</c:v>
                </c:pt>
                <c:pt idx="3">
                  <c:v>Podcast del museo</c:v>
                </c:pt>
                <c:pt idx="4">
                  <c:v>Contenuti video (per esempio YouTube o Vimeo)</c:v>
                </c:pt>
                <c:pt idx="5">
                  <c:v>Newsletter speciali</c:v>
                </c:pt>
                <c:pt idx="6">
                  <c:v>Contenuti dal vivo dall’interno del museo</c:v>
                </c:pt>
                <c:pt idx="7">
                  <c:v>Aggiunta di oggetti alle collezioni online</c:v>
                </c:pt>
                <c:pt idx="8">
                  <c:v>Quiz e gare</c:v>
                </c:pt>
                <c:pt idx="9">
                  <c:v>Post sui social media</c:v>
                </c:pt>
              </c:strCache>
            </c:strRef>
          </c:cat>
          <c:val>
            <c:numRef>
              <c:f>'[Tabelle e grafici - report finale.xlsx]Grafici rifatti'!$Q$289:$Q$298</c:f>
              <c:numCache>
                <c:formatCode>0%</c:formatCode>
                <c:ptCount val="10"/>
                <c:pt idx="0">
                  <c:v>0.27</c:v>
                </c:pt>
                <c:pt idx="1">
                  <c:v>0.22</c:v>
                </c:pt>
                <c:pt idx="2">
                  <c:v>0.28999999999999998</c:v>
                </c:pt>
                <c:pt idx="3">
                  <c:v>0.12</c:v>
                </c:pt>
                <c:pt idx="4">
                  <c:v>0.24</c:v>
                </c:pt>
                <c:pt idx="5">
                  <c:v>0.1</c:v>
                </c:pt>
                <c:pt idx="6">
                  <c:v>0.19</c:v>
                </c:pt>
                <c:pt idx="7">
                  <c:v>0.12</c:v>
                </c:pt>
                <c:pt idx="8">
                  <c:v>0.19</c:v>
                </c:pt>
                <c:pt idx="9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C9C-9749-8020-82377E59745F}"/>
            </c:ext>
          </c:extLst>
        </c:ser>
        <c:ser>
          <c:idx val="2"/>
          <c:order val="2"/>
          <c:tx>
            <c:strRef>
              <c:f>'[Tabelle e grafici - report finale.xlsx]Grafici rifatti'!$R$288</c:f>
              <c:strCache>
                <c:ptCount val="1"/>
                <c:pt idx="0">
                  <c:v>Servizio non offerto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rifatti'!$O$289:$O$298</c:f>
              <c:strCache>
                <c:ptCount val="10"/>
                <c:pt idx="0">
                  <c:v>Programmi di formazione online</c:v>
                </c:pt>
                <c:pt idx="1">
                  <c:v>Esposizioni online</c:v>
                </c:pt>
                <c:pt idx="2">
                  <c:v>Tour virtuali attraverso il museo</c:v>
                </c:pt>
                <c:pt idx="3">
                  <c:v>Podcast del museo</c:v>
                </c:pt>
                <c:pt idx="4">
                  <c:v>Contenuti video (per esempio YouTube o Vimeo)</c:v>
                </c:pt>
                <c:pt idx="5">
                  <c:v>Newsletter speciali</c:v>
                </c:pt>
                <c:pt idx="6">
                  <c:v>Contenuti dal vivo dall’interno del museo</c:v>
                </c:pt>
                <c:pt idx="7">
                  <c:v>Aggiunta di oggetti alle collezioni online</c:v>
                </c:pt>
                <c:pt idx="8">
                  <c:v>Quiz e gare</c:v>
                </c:pt>
                <c:pt idx="9">
                  <c:v>Post sui social media</c:v>
                </c:pt>
              </c:strCache>
            </c:strRef>
          </c:cat>
          <c:val>
            <c:numRef>
              <c:f>'[Tabelle e grafici - report finale.xlsx]Grafici rifatti'!$R$289:$R$298</c:f>
              <c:numCache>
                <c:formatCode>0%</c:formatCode>
                <c:ptCount val="10"/>
                <c:pt idx="0">
                  <c:v>0.42</c:v>
                </c:pt>
                <c:pt idx="1">
                  <c:v>0.44</c:v>
                </c:pt>
                <c:pt idx="2">
                  <c:v>0.4</c:v>
                </c:pt>
                <c:pt idx="3">
                  <c:v>0.64</c:v>
                </c:pt>
                <c:pt idx="4">
                  <c:v>0.24</c:v>
                </c:pt>
                <c:pt idx="5">
                  <c:v>0.39</c:v>
                </c:pt>
                <c:pt idx="6">
                  <c:v>0.51</c:v>
                </c:pt>
                <c:pt idx="7">
                  <c:v>0.36</c:v>
                </c:pt>
                <c:pt idx="8">
                  <c:v>0.44</c:v>
                </c:pt>
                <c:pt idx="9">
                  <c:v>7.0000000000000007E-2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C9C-9749-8020-82377E59745F}"/>
            </c:ext>
          </c:extLst>
        </c:ser>
        <c:ser>
          <c:idx val="3"/>
          <c:order val="3"/>
          <c:tx>
            <c:strRef>
              <c:f>'[Tabelle e grafici - report finale.xlsx]Grafici rifatti'!$S$288</c:f>
              <c:strCache>
                <c:ptCount val="1"/>
                <c:pt idx="0">
                  <c:v>Nessun cambiamento dovuto al Covid19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rifatti'!$O$289:$O$298</c:f>
              <c:strCache>
                <c:ptCount val="10"/>
                <c:pt idx="0">
                  <c:v>Programmi di formazione online</c:v>
                </c:pt>
                <c:pt idx="1">
                  <c:v>Esposizioni online</c:v>
                </c:pt>
                <c:pt idx="2">
                  <c:v>Tour virtuali attraverso il museo</c:v>
                </c:pt>
                <c:pt idx="3">
                  <c:v>Podcast del museo</c:v>
                </c:pt>
                <c:pt idx="4">
                  <c:v>Contenuti video (per esempio YouTube o Vimeo)</c:v>
                </c:pt>
                <c:pt idx="5">
                  <c:v>Newsletter speciali</c:v>
                </c:pt>
                <c:pt idx="6">
                  <c:v>Contenuti dal vivo dall’interno del museo</c:v>
                </c:pt>
                <c:pt idx="7">
                  <c:v>Aggiunta di oggetti alle collezioni online</c:v>
                </c:pt>
                <c:pt idx="8">
                  <c:v>Quiz e gare</c:v>
                </c:pt>
                <c:pt idx="9">
                  <c:v>Post sui social media</c:v>
                </c:pt>
              </c:strCache>
            </c:strRef>
          </c:cat>
          <c:val>
            <c:numRef>
              <c:f>'[Tabelle e grafici - report finale.xlsx]Grafici rifatti'!$S$289:$S$298</c:f>
              <c:numCache>
                <c:formatCode>0%</c:formatCode>
                <c:ptCount val="10"/>
                <c:pt idx="0">
                  <c:v>0.09</c:v>
                </c:pt>
                <c:pt idx="1">
                  <c:v>0.11</c:v>
                </c:pt>
                <c:pt idx="2">
                  <c:v>0.11</c:v>
                </c:pt>
                <c:pt idx="3">
                  <c:v>0.1</c:v>
                </c:pt>
                <c:pt idx="4">
                  <c:v>0.1</c:v>
                </c:pt>
                <c:pt idx="5">
                  <c:v>0.23</c:v>
                </c:pt>
                <c:pt idx="6">
                  <c:v>0.08</c:v>
                </c:pt>
                <c:pt idx="7">
                  <c:v>0.18</c:v>
                </c:pt>
                <c:pt idx="8">
                  <c:v>0.13</c:v>
                </c:pt>
                <c:pt idx="9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C9C-9749-8020-82377E59745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030074776"/>
        <c:axId val="1030079040"/>
      </c:barChart>
      <c:catAx>
        <c:axId val="103007477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30079040"/>
        <c:crosses val="autoZero"/>
        <c:auto val="1"/>
        <c:lblAlgn val="ctr"/>
        <c:lblOffset val="100"/>
        <c:noMultiLvlLbl val="0"/>
      </c:catAx>
      <c:valAx>
        <c:axId val="1030079040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030074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solidFill>
      <a:schemeClr val="bg1"/>
    </a:solidFill>
    <a:ln w="12700" cap="flat" cmpd="sng" algn="ctr">
      <a:noFill/>
      <a:round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'[Tabelle e grafici - report finale.xlsx]Grafici rifatti'!$M$308</c:f>
              <c:strCache>
                <c:ptCount val="1"/>
                <c:pt idx="0">
                  <c:v>Capacità digitali aumentate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rifatti'!$L$309:$L$310</c:f>
              <c:strCache>
                <c:ptCount val="2"/>
                <c:pt idx="0">
                  <c:v>Grandi musei</c:v>
                </c:pt>
                <c:pt idx="1">
                  <c:v>Piccoli musei</c:v>
                </c:pt>
              </c:strCache>
            </c:strRef>
          </c:cat>
          <c:val>
            <c:numRef>
              <c:f>'[Tabelle e grafici - report finale.xlsx]Grafici rifatti'!$M$309:$M$310</c:f>
              <c:numCache>
                <c:formatCode>0%</c:formatCode>
                <c:ptCount val="2"/>
                <c:pt idx="0">
                  <c:v>0.81</c:v>
                </c:pt>
                <c:pt idx="1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E0-984B-A932-08A5F83D8F82}"/>
            </c:ext>
          </c:extLst>
        </c:ser>
        <c:ser>
          <c:idx val="1"/>
          <c:order val="1"/>
          <c:tx>
            <c:strRef>
              <c:f>'[Tabelle e grafici - report finale.xlsx]Grafici rifatti'!$N$308</c:f>
              <c:strCache>
                <c:ptCount val="1"/>
                <c:pt idx="0">
                  <c:v>Capacità digitali non aumentate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rifatti'!$L$309:$L$310</c:f>
              <c:strCache>
                <c:ptCount val="2"/>
                <c:pt idx="0">
                  <c:v>Grandi musei</c:v>
                </c:pt>
                <c:pt idx="1">
                  <c:v>Piccoli musei</c:v>
                </c:pt>
              </c:strCache>
            </c:strRef>
          </c:cat>
          <c:val>
            <c:numRef>
              <c:f>'[Tabelle e grafici - report finale.xlsx]Grafici rifatti'!$N$309:$N$310</c:f>
              <c:numCache>
                <c:formatCode>0%</c:formatCode>
                <c:ptCount val="2"/>
                <c:pt idx="0">
                  <c:v>0.19</c:v>
                </c:pt>
                <c:pt idx="1">
                  <c:v>0.53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E0-984B-A932-08A5F83D8F8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81006120"/>
        <c:axId val="881007432"/>
      </c:barChart>
      <c:catAx>
        <c:axId val="881006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1007432"/>
        <c:crosses val="autoZero"/>
        <c:auto val="1"/>
        <c:lblAlgn val="ctr"/>
        <c:lblOffset val="100"/>
        <c:noMultiLvlLbl val="0"/>
      </c:catAx>
      <c:valAx>
        <c:axId val="881007432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1006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70C0"/>
            </a:solidFill>
          </c:spPr>
          <c:dPt>
            <c:idx val="0"/>
            <c:bubble3D val="0"/>
            <c:spPr>
              <a:solidFill>
                <a:srgbClr val="F4120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530-B440-A7C1-C4373E239C8A}"/>
              </c:ext>
            </c:extLst>
          </c:dPt>
          <c:dPt>
            <c:idx val="1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530-B440-A7C1-C4373E239C8A}"/>
              </c:ext>
            </c:extLst>
          </c:dPt>
          <c:dLbls>
            <c:dLbl>
              <c:idx val="0"/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30-B440-A7C1-C4373E239C8A}"/>
                </c:ext>
              </c:extLst>
            </c:dLbl>
            <c:dLbl>
              <c:idx val="1"/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30-B440-A7C1-C4373E239C8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rifatti'!$M$323:$M$324</c:f>
              <c:strCache>
                <c:ptCount val="2"/>
                <c:pt idx="0">
                  <c:v>No</c:v>
                </c:pt>
                <c:pt idx="1">
                  <c:v>Si</c:v>
                </c:pt>
              </c:strCache>
            </c:strRef>
          </c:cat>
          <c:val>
            <c:numRef>
              <c:f>'[Tabelle e grafici - report finale.xlsx]Grafici rifatti'!$N$323:$N$324</c:f>
              <c:numCache>
                <c:formatCode>0.0%</c:formatCode>
                <c:ptCount val="2"/>
                <c:pt idx="0">
                  <c:v>0.16800000000000001</c:v>
                </c:pt>
                <c:pt idx="1">
                  <c:v>0.83199999999999996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530-B440-A7C1-C4373E239C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finale.xlsx]Grafici rifatti'!$N$418</c:f>
              <c:strCache>
                <c:ptCount val="1"/>
                <c:pt idx="0">
                  <c:v>2017</c:v>
                </c:pt>
              </c:strCache>
            </c:strRef>
          </c:tx>
          <c:spPr>
            <a:solidFill>
              <a:srgbClr val="CAE8F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rifatti'!$M$419:$M$420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'[Tabelle e grafici - report finale.xlsx]Grafici rifatti'!$N$419:$N$420</c:f>
              <c:numCache>
                <c:formatCode>0%</c:formatCode>
                <c:ptCount val="2"/>
                <c:pt idx="0">
                  <c:v>0.51</c:v>
                </c:pt>
                <c:pt idx="1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7B-D546-A6CF-DEFD31DA1456}"/>
            </c:ext>
          </c:extLst>
        </c:ser>
        <c:ser>
          <c:idx val="1"/>
          <c:order val="1"/>
          <c:tx>
            <c:strRef>
              <c:f>'[Tabelle e grafici - report finale.xlsx]Grafici rifatti'!$O$418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rifatti'!$M$419:$M$420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'[Tabelle e grafici - report finale.xlsx]Grafici rifatti'!$O$419:$O$420</c:f>
              <c:numCache>
                <c:formatCode>0%</c:formatCode>
                <c:ptCount val="2"/>
                <c:pt idx="0">
                  <c:v>0.54</c:v>
                </c:pt>
                <c:pt idx="1">
                  <c:v>0.23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07B-D546-A6CF-DEFD31DA1456}"/>
            </c:ext>
          </c:extLst>
        </c:ser>
        <c:ser>
          <c:idx val="2"/>
          <c:order val="2"/>
          <c:tx>
            <c:strRef>
              <c:f>'[Tabelle e grafici - report finale.xlsx]Grafici rifatti'!$P$418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b" anchorCtr="0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rifatti'!$M$419:$M$420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'[Tabelle e grafici - report finale.xlsx]Grafici rifatti'!$P$419:$P$420</c:f>
              <c:numCache>
                <c:formatCode>0%</c:formatCode>
                <c:ptCount val="2"/>
                <c:pt idx="0">
                  <c:v>0.66</c:v>
                </c:pt>
                <c:pt idx="1">
                  <c:v>0.26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7B-D546-A6CF-DEFD31DA1456}"/>
            </c:ext>
          </c:extLst>
        </c:ser>
        <c:ser>
          <c:idx val="3"/>
          <c:order val="3"/>
          <c:tx>
            <c:strRef>
              <c:f>'[Tabelle e grafici - report finale.xlsx]Grafici rifatti'!$Q$418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rifatti'!$M$419:$M$420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'[Tabelle e grafici - report finale.xlsx]Grafici rifatti'!$Q$419:$Q$420</c:f>
              <c:numCache>
                <c:formatCode>0%</c:formatCode>
                <c:ptCount val="2"/>
                <c:pt idx="0">
                  <c:v>0.76</c:v>
                </c:pt>
                <c:pt idx="1">
                  <c:v>0.45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7B-D546-A6CF-DEFD31DA1456}"/>
            </c:ext>
          </c:extLst>
        </c:ser>
        <c:ser>
          <c:idx val="4"/>
          <c:order val="4"/>
          <c:tx>
            <c:strRef>
              <c:f>'[Tabelle e grafici - report finale.xlsx]Grafici rifatti'!$R$418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rifatti'!$M$419:$M$420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'[Tabelle e grafici - report finale.xlsx]Grafici rifatti'!$R$419:$R$420</c:f>
              <c:numCache>
                <c:formatCode>0%</c:formatCode>
                <c:ptCount val="2"/>
                <c:pt idx="0">
                  <c:v>0.79</c:v>
                </c:pt>
                <c:pt idx="1">
                  <c:v>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07B-D546-A6CF-DEFD31DA1456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154"/>
        <c:overlap val="17"/>
        <c:axId val="659788304"/>
        <c:axId val="659786664"/>
      </c:barChart>
      <c:catAx>
        <c:axId val="65978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1"/>
          <a:lstStyle/>
          <a:p>
            <a:pPr>
              <a:defRPr sz="105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59786664"/>
        <c:crosses val="autoZero"/>
        <c:auto val="1"/>
        <c:lblAlgn val="ctr"/>
        <c:lblOffset val="100"/>
        <c:noMultiLvlLbl val="0"/>
      </c:catAx>
      <c:valAx>
        <c:axId val="65978666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659788304"/>
        <c:crosses val="autoZero"/>
        <c:crossBetween val="between"/>
      </c:valAx>
      <c:spPr>
        <a:noFill/>
        <a:ln w="9525">
          <a:solidFill>
            <a:schemeClr val="tx1">
              <a:lumMod val="15000"/>
              <a:lumOff val="85000"/>
            </a:schemeClr>
          </a:solidFill>
        </a:ln>
        <a:effectLst>
          <a:outerShdw blurRad="50800" dir="5400000" sx="1000" sy="1000" algn="ctr" rotWithShape="0">
            <a:srgbClr val="000000">
              <a:alpha val="43137"/>
            </a:srgbClr>
          </a:outerShdw>
        </a:effectLst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>
              <a:glow rad="38100">
                <a:schemeClr val="accent1">
                  <a:alpha val="40000"/>
                </a:schemeClr>
              </a:glow>
              <a:softEdge rad="0"/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rifatti'!$M$449:$M$458</c:f>
              <c:strCache>
                <c:ptCount val="10"/>
                <c:pt idx="0">
                  <c:v>Chatbot</c:v>
                </c:pt>
                <c:pt idx="1">
                  <c:v>Realtà Mista</c:v>
                </c:pt>
                <c:pt idx="2">
                  <c:v>Realtà aumentata</c:v>
                </c:pt>
                <c:pt idx="3">
                  <c:v>3D display / Pannelli interattivi</c:v>
                </c:pt>
                <c:pt idx="4">
                  <c:v>Realtà virtuale</c:v>
                </c:pt>
                <c:pt idx="5">
                  <c:v>Installazioni interattive</c:v>
                </c:pt>
                <c:pt idx="6">
                  <c:v>App</c:v>
                </c:pt>
                <c:pt idx="7">
                  <c:v>Audioguida</c:v>
                </c:pt>
                <c:pt idx="8">
                  <c:v>Touch screen</c:v>
                </c:pt>
                <c:pt idx="9">
                  <c:v>QR-Cose / Beacon</c:v>
                </c:pt>
              </c:strCache>
            </c:strRef>
          </c:cat>
          <c:val>
            <c:numRef>
              <c:f>'[Tabelle e grafici - report finale.xlsx]Grafici rifatti'!$N$449:$N$458</c:f>
              <c:numCache>
                <c:formatCode>0%</c:formatCode>
                <c:ptCount val="10"/>
                <c:pt idx="0">
                  <c:v>0.02</c:v>
                </c:pt>
                <c:pt idx="1">
                  <c:v>0.03</c:v>
                </c:pt>
                <c:pt idx="2">
                  <c:v>0.09</c:v>
                </c:pt>
                <c:pt idx="3">
                  <c:v>0.09</c:v>
                </c:pt>
                <c:pt idx="4">
                  <c:v>0.1</c:v>
                </c:pt>
                <c:pt idx="5">
                  <c:v>0.19</c:v>
                </c:pt>
                <c:pt idx="6">
                  <c:v>0.24</c:v>
                </c:pt>
                <c:pt idx="7">
                  <c:v>0.32</c:v>
                </c:pt>
                <c:pt idx="8">
                  <c:v>0.32</c:v>
                </c:pt>
                <c:pt idx="9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2-C04E-B457-6D6168DAE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4"/>
        <c:overlap val="12"/>
        <c:axId val="974251536"/>
        <c:axId val="974254488"/>
      </c:barChart>
      <c:catAx>
        <c:axId val="9742515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4254488"/>
        <c:crosses val="autoZero"/>
        <c:auto val="1"/>
        <c:lblAlgn val="ctr"/>
        <c:lblOffset val="100"/>
        <c:noMultiLvlLbl val="0"/>
      </c:catAx>
      <c:valAx>
        <c:axId val="974254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742515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26F5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7D7-F744-865C-DD0AA4A1218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rifatti'!$M$481:$M$489</c:f>
              <c:strCache>
                <c:ptCount val="9"/>
                <c:pt idx="0">
                  <c:v>Nessun investimento in digitale</c:v>
                </c:pt>
                <c:pt idx="1">
                  <c:v>Altro</c:v>
                </c:pt>
                <c:pt idx="2">
                  <c:v>Conservazione della collezione</c:v>
                </c:pt>
                <c:pt idx="3">
                  <c:v>Ticketing, gestione prenotazione e controlli accessi</c:v>
                </c:pt>
                <c:pt idx="4">
                  <c:v>Servizi di supporto alla visita in loco</c:v>
                </c:pt>
                <c:pt idx="5">
                  <c:v>Atrtività educative e didattiche</c:v>
                </c:pt>
                <c:pt idx="6">
                  <c:v>Marketing, Comunicazione e Customer Care</c:v>
                </c:pt>
                <c:pt idx="7">
                  <c:v>Catalogazione e digitalizzazione della collezione</c:v>
                </c:pt>
                <c:pt idx="8">
                  <c:v>Servizi di supporto alla fruizione online</c:v>
                </c:pt>
              </c:strCache>
            </c:strRef>
          </c:cat>
          <c:val>
            <c:numRef>
              <c:f>'[Tabelle e grafici - report finale.xlsx]Grafici rifatti'!$N$481:$N$489</c:f>
              <c:numCache>
                <c:formatCode>0%</c:formatCode>
                <c:ptCount val="9"/>
                <c:pt idx="0">
                  <c:v>0.13</c:v>
                </c:pt>
                <c:pt idx="1">
                  <c:v>0.04</c:v>
                </c:pt>
                <c:pt idx="2">
                  <c:v>0.19</c:v>
                </c:pt>
                <c:pt idx="3">
                  <c:v>0.28999999999999998</c:v>
                </c:pt>
                <c:pt idx="4">
                  <c:v>0.36</c:v>
                </c:pt>
                <c:pt idx="5">
                  <c:v>0.41</c:v>
                </c:pt>
                <c:pt idx="6">
                  <c:v>0.42</c:v>
                </c:pt>
                <c:pt idx="7">
                  <c:v>0.45</c:v>
                </c:pt>
                <c:pt idx="8">
                  <c:v>0.47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D7-F744-865C-DD0AA4A1218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"/>
        <c:overlap val="-100"/>
        <c:axId val="590544760"/>
        <c:axId val="590540168"/>
      </c:barChart>
      <c:catAx>
        <c:axId val="590544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590540168"/>
        <c:crosses val="autoZero"/>
        <c:auto val="1"/>
        <c:lblAlgn val="ctr"/>
        <c:lblOffset val="100"/>
        <c:noMultiLvlLbl val="0"/>
      </c:catAx>
      <c:valAx>
        <c:axId val="590540168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5905447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finale-nl00002512.xlsx]Master -  Social precovid'!$I$4</c:f>
              <c:strCache>
                <c:ptCount val="1"/>
                <c:pt idx="0">
                  <c:v>%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finale-nl00002512.xlsx]Master -  Social precovid'!$H$5:$H$11</c:f>
              <c:strCache>
                <c:ptCount val="7"/>
                <c:pt idx="0">
                  <c:v>Facebook</c:v>
                </c:pt>
                <c:pt idx="1">
                  <c:v> Instagram</c:v>
                </c:pt>
                <c:pt idx="2">
                  <c:v> YouTube</c:v>
                </c:pt>
                <c:pt idx="3">
                  <c:v> Twitter</c:v>
                </c:pt>
                <c:pt idx="4">
                  <c:v> Pinterest</c:v>
                </c:pt>
                <c:pt idx="5">
                  <c:v>Altro</c:v>
                </c:pt>
                <c:pt idx="6">
                  <c:v>Nessuno di questi</c:v>
                </c:pt>
              </c:strCache>
            </c:strRef>
          </c:cat>
          <c:val>
            <c:numRef>
              <c:f>'[Tabelle e grafici - report finale-nl00002512.xlsx]Master -  Social precovid'!$I$5:$I$11</c:f>
              <c:numCache>
                <c:formatCode>0%</c:formatCode>
                <c:ptCount val="7"/>
                <c:pt idx="0">
                  <c:v>0.875</c:v>
                </c:pt>
                <c:pt idx="1">
                  <c:v>0.5982142857142857</c:v>
                </c:pt>
                <c:pt idx="2">
                  <c:v>0.5</c:v>
                </c:pt>
                <c:pt idx="3">
                  <c:v>0.2767857142857143</c:v>
                </c:pt>
                <c:pt idx="4">
                  <c:v>4.4642857142857144E-2</c:v>
                </c:pt>
                <c:pt idx="5">
                  <c:v>4.4642857142857144E-2</c:v>
                </c:pt>
                <c:pt idx="6">
                  <c:v>8.9285714285714288E-2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67-374A-A12A-F32062C6218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799105432"/>
        <c:axId val="799097560"/>
      </c:barChart>
      <c:catAx>
        <c:axId val="799105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99097560"/>
        <c:crosses val="autoZero"/>
        <c:auto val="1"/>
        <c:lblAlgn val="ctr"/>
        <c:lblOffset val="100"/>
        <c:noMultiLvlLbl val="0"/>
      </c:catAx>
      <c:valAx>
        <c:axId val="7990975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99105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756111689280732"/>
          <c:y val="0.12540192926045018"/>
          <c:w val="0.71049672406909248"/>
          <c:h val="0.62549420068472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finale.xlsx]Master - format digitali'!$B$6</c:f>
              <c:strCache>
                <c:ptCount val="1"/>
                <c:pt idx="0">
                  <c:v>Utilizzo medio pre-lockdown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finale.xlsx]Master - format digitali'!$C$5:$H$5</c:f>
              <c:strCache>
                <c:ptCount val="6"/>
                <c:pt idx="0">
                  <c:v>Nuovi format di video</c:v>
                </c:pt>
                <c:pt idx="1">
                  <c:v>Rubriche tematiche</c:v>
                </c:pt>
                <c:pt idx="2">
                  <c:v>Dirette social</c:v>
                </c:pt>
                <c:pt idx="3">
                  <c:v>Challenge social</c:v>
                </c:pt>
                <c:pt idx="4">
                  <c:v>Podcast</c:v>
                </c:pt>
                <c:pt idx="5">
                  <c:v>Webinar</c:v>
                </c:pt>
              </c:strCache>
            </c:strRef>
          </c:cat>
          <c:val>
            <c:numRef>
              <c:f>'[Tabelle e grafici - report finale.xlsx]Master - format digitali'!$C$6:$H$6</c:f>
              <c:numCache>
                <c:formatCode>0.0</c:formatCode>
                <c:ptCount val="6"/>
                <c:pt idx="0">
                  <c:v>2.3392857142857144</c:v>
                </c:pt>
                <c:pt idx="1">
                  <c:v>2.3839285714285716</c:v>
                </c:pt>
                <c:pt idx="2">
                  <c:v>1.5357142857142858</c:v>
                </c:pt>
                <c:pt idx="3">
                  <c:v>1.2321428571428572</c:v>
                </c:pt>
                <c:pt idx="4">
                  <c:v>1.2053571428571428</c:v>
                </c:pt>
                <c:pt idx="5">
                  <c:v>1.2678571428571428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60-5B4F-846F-C2A222E9029D}"/>
            </c:ext>
          </c:extLst>
        </c:ser>
        <c:ser>
          <c:idx val="1"/>
          <c:order val="1"/>
          <c:tx>
            <c:strRef>
              <c:f>'[Tabelle e grafici - report finale.xlsx]Master - format digitali'!$B$7</c:f>
              <c:strCache>
                <c:ptCount val="1"/>
                <c:pt idx="0">
                  <c:v>Utilizzo medio post-lockdown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finale.xlsx]Master - format digitali'!$C$5:$H$5</c:f>
              <c:strCache>
                <c:ptCount val="6"/>
                <c:pt idx="0">
                  <c:v>Nuovi format di video</c:v>
                </c:pt>
                <c:pt idx="1">
                  <c:v>Rubriche tematiche</c:v>
                </c:pt>
                <c:pt idx="2">
                  <c:v>Dirette social</c:v>
                </c:pt>
                <c:pt idx="3">
                  <c:v>Challenge social</c:v>
                </c:pt>
                <c:pt idx="4">
                  <c:v>Podcast</c:v>
                </c:pt>
                <c:pt idx="5">
                  <c:v>Webinar</c:v>
                </c:pt>
              </c:strCache>
            </c:strRef>
          </c:cat>
          <c:val>
            <c:numRef>
              <c:f>'[Tabelle e grafici - report finale.xlsx]Master - format digitali'!$C$7:$H$7</c:f>
              <c:numCache>
                <c:formatCode>0.0</c:formatCode>
                <c:ptCount val="6"/>
                <c:pt idx="0">
                  <c:v>2.9464285714285716</c:v>
                </c:pt>
                <c:pt idx="1">
                  <c:v>2.9910714285714284</c:v>
                </c:pt>
                <c:pt idx="2">
                  <c:v>1.9375</c:v>
                </c:pt>
                <c:pt idx="3">
                  <c:v>1.4017857142857142</c:v>
                </c:pt>
                <c:pt idx="4">
                  <c:v>1.3482142857142858</c:v>
                </c:pt>
                <c:pt idx="5">
                  <c:v>1.5357142857142858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60-5B4F-846F-C2A222E9029D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678240424"/>
        <c:axId val="678236160"/>
      </c:barChart>
      <c:lineChart>
        <c:grouping val="standard"/>
        <c:varyColors val="0"/>
        <c:ser>
          <c:idx val="2"/>
          <c:order val="2"/>
          <c:tx>
            <c:strRef>
              <c:f>'[Tabelle e grafici - report finale.xlsx]Master - format digitali'!$B$8</c:f>
              <c:strCache>
                <c:ptCount val="1"/>
                <c:pt idx="0">
                  <c:v>Incremento Percentuale pre-post lockdown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accent6">
                  <a:lumMod val="75000"/>
                </a:schemeClr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4.7065337763012194E-2"/>
                  <c:y val="-2.5008931761343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760-5B4F-846F-C2A222E9029D}"/>
                </c:ext>
              </c:extLst>
            </c:dLbl>
            <c:dLbl>
              <c:idx val="1"/>
              <c:layout>
                <c:manualLayout>
                  <c:x val="-3.5991140642303431E-2"/>
                  <c:y val="-2.5008931761343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60-5B4F-846F-C2A222E9029D}"/>
                </c:ext>
              </c:extLst>
            </c:dLbl>
            <c:dLbl>
              <c:idx val="2"/>
              <c:layout>
                <c:manualLayout>
                  <c:x val="-5.2602436323366558E-2"/>
                  <c:y val="-2.50089317613433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760-5B4F-846F-C2A222E9029D}"/>
                </c:ext>
              </c:extLst>
            </c:dLbl>
            <c:dLbl>
              <c:idx val="3"/>
              <c:layout>
                <c:manualLayout>
                  <c:x val="-2.2148394241417499E-2"/>
                  <c:y val="-2.5008931761343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60-5B4F-846F-C2A222E9029D}"/>
                </c:ext>
              </c:extLst>
            </c:dLbl>
            <c:dLbl>
              <c:idx val="4"/>
              <c:layout>
                <c:manualLayout>
                  <c:x val="-5.8139534883721034E-2"/>
                  <c:y val="-3.2154340836012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760-5B4F-846F-C2A222E9029D}"/>
                </c:ext>
              </c:extLst>
            </c:dLbl>
            <c:dLbl>
              <c:idx val="5"/>
              <c:layout>
                <c:manualLayout>
                  <c:x val="-3.045404208194916E-2"/>
                  <c:y val="-2.50089317613433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60-5B4F-846F-C2A222E9029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'[Tabelle e grafici - report finale.xlsx]Master - format digitali'!$C$8:$H$8</c:f>
              <c:numCache>
                <c:formatCode>0%</c:formatCode>
                <c:ptCount val="6"/>
                <c:pt idx="0">
                  <c:v>0.25954198473282442</c:v>
                </c:pt>
                <c:pt idx="1">
                  <c:v>0.25468164794007475</c:v>
                </c:pt>
                <c:pt idx="2">
                  <c:v>0.2616279069767441</c:v>
                </c:pt>
                <c:pt idx="3">
                  <c:v>0.13768115942028972</c:v>
                </c:pt>
                <c:pt idx="4">
                  <c:v>0.11851851851851866</c:v>
                </c:pt>
                <c:pt idx="5">
                  <c:v>0.21126760563380295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5760-5B4F-846F-C2A222E902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79061672"/>
        <c:axId val="679075776"/>
      </c:lineChart>
      <c:catAx>
        <c:axId val="67824042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78236160"/>
        <c:crosses val="autoZero"/>
        <c:auto val="1"/>
        <c:lblAlgn val="ctr"/>
        <c:lblOffset val="100"/>
        <c:noMultiLvlLbl val="0"/>
      </c:catAx>
      <c:valAx>
        <c:axId val="678236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78240424"/>
        <c:crosses val="autoZero"/>
        <c:crossBetween val="between"/>
      </c:valAx>
      <c:valAx>
        <c:axId val="679075776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79061672"/>
        <c:crosses val="max"/>
        <c:crossBetween val="between"/>
      </c:valAx>
      <c:catAx>
        <c:axId val="679061672"/>
        <c:scaling>
          <c:orientation val="minMax"/>
        </c:scaling>
        <c:delete val="1"/>
        <c:axPos val="b"/>
        <c:majorTickMark val="out"/>
        <c:minorTickMark val="none"/>
        <c:tickLblPos val="nextTo"/>
        <c:crossAx val="67907577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  <c:userShapes r:id="rId5"/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'[Tabelle e grafici - report finale.xlsx]Grafici rifatti'!$M$55</c:f>
              <c:strCache>
                <c:ptCount val="1"/>
                <c:pt idx="0">
                  <c:v>%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'[Tabelle e grafici - report finale.xlsx]Grafici rifatti'!$L$56:$L$64</c:f>
              <c:strCache>
                <c:ptCount val="9"/>
                <c:pt idx="0">
                  <c:v>Nessuno</c:v>
                </c:pt>
                <c:pt idx="1">
                  <c:v>Altro</c:v>
                </c:pt>
                <c:pt idx="2">
                  <c:v>Chatbot</c:v>
                </c:pt>
                <c:pt idx="3">
                  <c:v>Tavolo interattivo</c:v>
                </c:pt>
                <c:pt idx="4">
                  <c:v>Videogame</c:v>
                </c:pt>
                <c:pt idx="5">
                  <c:v>Ricostruzione 3D</c:v>
                </c:pt>
                <c:pt idx="6">
                  <c:v>Applicazioni per Smartphone e Tablet</c:v>
                </c:pt>
                <c:pt idx="7">
                  <c:v>Audioguide / Videoguide</c:v>
                </c:pt>
                <c:pt idx="8">
                  <c:v>Tour virtuali</c:v>
                </c:pt>
              </c:strCache>
            </c:strRef>
          </c:cat>
          <c:val>
            <c:numRef>
              <c:f>'[Tabelle e grafici - report finale.xlsx]Grafici rifatti'!$M$56:$M$64</c:f>
              <c:numCache>
                <c:formatCode>0%</c:formatCode>
                <c:ptCount val="9"/>
                <c:pt idx="0">
                  <c:v>0.28000000000000003</c:v>
                </c:pt>
                <c:pt idx="1">
                  <c:v>0.14000000000000001</c:v>
                </c:pt>
                <c:pt idx="2">
                  <c:v>0</c:v>
                </c:pt>
                <c:pt idx="3">
                  <c:v>0.01</c:v>
                </c:pt>
                <c:pt idx="4">
                  <c:v>0.03</c:v>
                </c:pt>
                <c:pt idx="5">
                  <c:v>0.04</c:v>
                </c:pt>
                <c:pt idx="6">
                  <c:v>0.12</c:v>
                </c:pt>
                <c:pt idx="7">
                  <c:v>0.18</c:v>
                </c:pt>
                <c:pt idx="8">
                  <c:v>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64-EE41-8B89-F79C976CF7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882291224"/>
        <c:axId val="882290896"/>
      </c:barChart>
      <c:catAx>
        <c:axId val="8822912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2290896"/>
        <c:crosses val="autoZero"/>
        <c:auto val="1"/>
        <c:lblAlgn val="ctr"/>
        <c:lblOffset val="100"/>
        <c:noMultiLvlLbl val="0"/>
      </c:catAx>
      <c:valAx>
        <c:axId val="882290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882291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'[Tabelle e grafici - report finale.xlsx]2020 - Quesito 17'!$B$20</c:f>
              <c:strCache>
                <c:ptCount val="1"/>
                <c:pt idx="0">
                  <c:v>SI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'[Tabelle e grafici - report finale.xlsx]2020 - Quesito 17'!$A$21:$A$23</c:f>
              <c:strCache>
                <c:ptCount val="3"/>
                <c:pt idx="0">
                  <c:v>Personale interno con competenze pregresse</c:v>
                </c:pt>
                <c:pt idx="1">
                  <c:v>Formazione a personale interno</c:v>
                </c:pt>
                <c:pt idx="2">
                  <c:v>Figure professionali esterne</c:v>
                </c:pt>
              </c:strCache>
            </c:strRef>
          </c:cat>
          <c:val>
            <c:numRef>
              <c:f>'[Tabelle e grafici - report finale.xlsx]2020 - Quesito 17'!$B$21:$B$23</c:f>
              <c:numCache>
                <c:formatCode>0%</c:formatCode>
                <c:ptCount val="3"/>
                <c:pt idx="0">
                  <c:v>0.88161993769470404</c:v>
                </c:pt>
                <c:pt idx="1">
                  <c:v>0.16510903426791276</c:v>
                </c:pt>
                <c:pt idx="2">
                  <c:v>0.24922118380062305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C3-4E78-A1A0-20F922DD3CEF}"/>
            </c:ext>
          </c:extLst>
        </c:ser>
        <c:ser>
          <c:idx val="1"/>
          <c:order val="1"/>
          <c:tx>
            <c:strRef>
              <c:f>'[Tabelle e grafici - report finale.xlsx]2020 - Quesito 17'!$C$20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'[Tabelle e grafici - report finale.xlsx]2020 - Quesito 17'!$A$21:$A$23</c:f>
              <c:strCache>
                <c:ptCount val="3"/>
                <c:pt idx="0">
                  <c:v>Personale interno con competenze pregresse</c:v>
                </c:pt>
                <c:pt idx="1">
                  <c:v>Formazione a personale interno</c:v>
                </c:pt>
                <c:pt idx="2">
                  <c:v>Figure professionali esterne</c:v>
                </c:pt>
              </c:strCache>
            </c:strRef>
          </c:cat>
          <c:val>
            <c:numRef>
              <c:f>'[Tabelle e grafici - report finale.xlsx]2020 - Quesito 17'!$C$21:$C$23</c:f>
              <c:numCache>
                <c:formatCode>0%</c:formatCode>
                <c:ptCount val="3"/>
                <c:pt idx="0">
                  <c:v>9.657320872274143E-2</c:v>
                </c:pt>
                <c:pt idx="1">
                  <c:v>0.73520249221183798</c:v>
                </c:pt>
                <c:pt idx="2">
                  <c:v>0.66666666666666663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9C3-4E78-A1A0-20F922DD3CEF}"/>
            </c:ext>
          </c:extLst>
        </c:ser>
        <c:ser>
          <c:idx val="2"/>
          <c:order val="2"/>
          <c:tx>
            <c:strRef>
              <c:f>'[Tabelle e grafici - report finale.xlsx]2020 - Quesito 17'!$D$20</c:f>
              <c:strCache>
                <c:ptCount val="1"/>
                <c:pt idx="0">
                  <c:v>NON RISPONDE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'[Tabelle e grafici - report finale.xlsx]2020 - Quesito 17'!$A$21:$A$23</c:f>
              <c:strCache>
                <c:ptCount val="3"/>
                <c:pt idx="0">
                  <c:v>Personale interno con competenze pregresse</c:v>
                </c:pt>
                <c:pt idx="1">
                  <c:v>Formazione a personale interno</c:v>
                </c:pt>
                <c:pt idx="2">
                  <c:v>Figure professionali esterne</c:v>
                </c:pt>
              </c:strCache>
            </c:strRef>
          </c:cat>
          <c:val>
            <c:numRef>
              <c:f>'[Tabelle e grafici - report finale.xlsx]2020 - Quesito 17'!$D$21:$D$23</c:f>
              <c:numCache>
                <c:formatCode>0%</c:formatCode>
                <c:ptCount val="3"/>
                <c:pt idx="0">
                  <c:v>2.1806853582554516E-2</c:v>
                </c:pt>
                <c:pt idx="1">
                  <c:v>9.9688473520249218E-2</c:v>
                </c:pt>
                <c:pt idx="2">
                  <c:v>8.4112149532710276E-2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9C3-4E78-A1A0-20F922DD3C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2465896"/>
        <c:axId val="172464256"/>
      </c:barChart>
      <c:catAx>
        <c:axId val="172465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2464256"/>
        <c:crosses val="autoZero"/>
        <c:auto val="1"/>
        <c:lblAlgn val="ctr"/>
        <c:lblOffset val="100"/>
        <c:noMultiLvlLbl val="0"/>
      </c:catAx>
      <c:valAx>
        <c:axId val="172464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724658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A1-AE46-A15E-D53206104629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A1-AE46-A15E-D53206104629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7A1-AE46-A15E-D53206104629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7A1-AE46-A15E-D5320610462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rifatti'!$L$348:$L$351</c:f>
              <c:strCache>
                <c:ptCount val="4"/>
                <c:pt idx="0">
                  <c:v>Per la gestione e lo sviluppo delle tecnologie</c:v>
                </c:pt>
                <c:pt idx="1">
                  <c:v>Per la comunicazione e gestione dei social media</c:v>
                </c:pt>
                <c:pt idx="2">
                  <c:v>Per entrambi i settori</c:v>
                </c:pt>
                <c:pt idx="3">
                  <c:v>Per nessuno dei due</c:v>
                </c:pt>
              </c:strCache>
            </c:strRef>
          </c:cat>
          <c:val>
            <c:numRef>
              <c:f>'[Tabelle e grafici - report finale.xlsx]Grafici rifatti'!$M$348:$M$351</c:f>
              <c:numCache>
                <c:formatCode>0.0%</c:formatCode>
                <c:ptCount val="4"/>
                <c:pt idx="0">
                  <c:v>9.9000000000000005E-2</c:v>
                </c:pt>
                <c:pt idx="1">
                  <c:v>0.216</c:v>
                </c:pt>
                <c:pt idx="2">
                  <c:v>0.57699999999999996</c:v>
                </c:pt>
                <c:pt idx="3">
                  <c:v>0.108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7A1-AE46-A15E-D5320610462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8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1F-694A-AB1B-85C37F5D79CE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1F-694A-AB1B-85C37F5D79CE}"/>
              </c:ext>
            </c:extLst>
          </c:dPt>
          <c:dPt>
            <c:idx val="2"/>
            <c:bubble3D val="0"/>
            <c:spPr>
              <a:solidFill>
                <a:srgbClr val="FFC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1F-694A-AB1B-85C37F5D79CE}"/>
              </c:ext>
            </c:extLst>
          </c:dPt>
          <c:dPt>
            <c:idx val="3"/>
            <c:bubble3D val="0"/>
            <c:spPr>
              <a:solidFill>
                <a:srgbClr val="00B05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1F-694A-AB1B-85C37F5D79C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finale.xlsx]Grafici rifatti'!$L$368:$L$371</c:f>
              <c:strCache>
                <c:ptCount val="4"/>
                <c:pt idx="0">
                  <c:v>Per la gestione e lo sviluppo delle tecnologie</c:v>
                </c:pt>
                <c:pt idx="1">
                  <c:v>Per la comunicazione e gestione dei social media</c:v>
                </c:pt>
                <c:pt idx="2">
                  <c:v>Per entrambi i settori</c:v>
                </c:pt>
                <c:pt idx="3">
                  <c:v>Per nessuno dei due</c:v>
                </c:pt>
              </c:strCache>
            </c:strRef>
          </c:cat>
          <c:val>
            <c:numRef>
              <c:f>'[Tabelle e grafici - report finale.xlsx]Grafici rifatti'!$M$368:$M$371</c:f>
              <c:numCache>
                <c:formatCode>0.0%</c:formatCode>
                <c:ptCount val="4"/>
                <c:pt idx="0">
                  <c:v>3.5999999999999921E-2</c:v>
                </c:pt>
                <c:pt idx="1">
                  <c:v>0.153</c:v>
                </c:pt>
                <c:pt idx="2">
                  <c:v>0.13500000000000001</c:v>
                </c:pt>
                <c:pt idx="3">
                  <c:v>0.67600000000000005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11F-694A-AB1B-85C37F5D79C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1"/>
          <c:order val="1"/>
          <c:tx>
            <c:strRef>
              <c:f>'[Tabelle e grafici - report finale.xlsx]2020 - Quesito 20'!$C$10</c:f>
              <c:strCache>
                <c:ptCount val="1"/>
                <c:pt idx="0">
                  <c:v>%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655C-4D4C-9DB4-DC685D73981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655C-4D4C-9DB4-DC685D73981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655C-4D4C-9DB4-DC685D739811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655C-4D4C-9DB4-DC685D73981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655C-4D4C-9DB4-DC685D73981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655C-4D4C-9DB4-DC685D73981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655C-4D4C-9DB4-DC685D73981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finale.xlsx]2020 - Quesito 20'!$A$11:$A$17</c:f>
              <c:strCache>
                <c:ptCount val="7"/>
                <c:pt idx="0">
                  <c:v>Prenotazione online della visita</c:v>
                </c:pt>
                <c:pt idx="1">
                  <c:v>Tour virtuali del museo/istituto</c:v>
                </c:pt>
                <c:pt idx="2">
                  <c:v>Attività online di laboratori didattici, seminari, corsi, etc…</c:v>
                </c:pt>
                <c:pt idx="3">
                  <c:v>Presenza sui canali social (Facebook, Instangram, Tweeter)</c:v>
                </c:pt>
                <c:pt idx="4">
                  <c:v>Presentazioni dei beni e/o delle collezioni su piattaforme streaming</c:v>
                </c:pt>
                <c:pt idx="5">
                  <c:v>Altro</c:v>
                </c:pt>
                <c:pt idx="6">
                  <c:v>Non risponde</c:v>
                </c:pt>
              </c:strCache>
            </c:strRef>
          </c:cat>
          <c:val>
            <c:numRef>
              <c:f>'[Tabelle e grafici - report finale.xlsx]2020 - Quesito 20'!$C$11:$C$17</c:f>
              <c:numCache>
                <c:formatCode>0%</c:formatCode>
                <c:ptCount val="7"/>
                <c:pt idx="0">
                  <c:v>0.18407960199004975</c:v>
                </c:pt>
                <c:pt idx="1">
                  <c:v>0.24129353233830847</c:v>
                </c:pt>
                <c:pt idx="2">
                  <c:v>0.15422885572139303</c:v>
                </c:pt>
                <c:pt idx="3">
                  <c:v>0.17661691542288557</c:v>
                </c:pt>
                <c:pt idx="4">
                  <c:v>0.21393034825870647</c:v>
                </c:pt>
                <c:pt idx="5">
                  <c:v>1.4925373134328358E-2</c:v>
                </c:pt>
                <c:pt idx="6">
                  <c:v>1.4925373134328358E-2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98BE-447B-968F-F8F8B84A769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'[Tabelle e grafici - report finale.xlsx]2020 - Quesito 20'!$B$10</c15:sqref>
                        </c15:formulaRef>
                      </c:ext>
                    </c:extLst>
                    <c:strCache>
                      <c:ptCount val="1"/>
                      <c:pt idx="0">
                        <c:v>Tot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F-655C-4D4C-9DB4-DC685D739811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1-655C-4D4C-9DB4-DC685D739811}"/>
                    </c:ext>
                  </c:extLst>
                </c:dPt>
                <c:dPt>
                  <c:idx val="2"/>
                  <c:bubble3D val="0"/>
                  <c:spPr>
                    <a:solidFill>
                      <a:schemeClr val="accent3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3-655C-4D4C-9DB4-DC685D739811}"/>
                    </c:ext>
                  </c:extLst>
                </c:dPt>
                <c:dPt>
                  <c:idx val="3"/>
                  <c:bubble3D val="0"/>
                  <c:spPr>
                    <a:solidFill>
                      <a:schemeClr val="accent4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5-655C-4D4C-9DB4-DC685D739811}"/>
                    </c:ext>
                  </c:extLst>
                </c:dPt>
                <c:dPt>
                  <c:idx val="4"/>
                  <c:bubble3D val="0"/>
                  <c:spPr>
                    <a:solidFill>
                      <a:schemeClr val="accent5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7-655C-4D4C-9DB4-DC685D739811}"/>
                    </c:ext>
                  </c:extLst>
                </c:dPt>
                <c:dPt>
                  <c:idx val="5"/>
                  <c:bubble3D val="0"/>
                  <c:spPr>
                    <a:solidFill>
                      <a:schemeClr val="accent6"/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9-655C-4D4C-9DB4-DC685D739811}"/>
                    </c:ext>
                  </c:extLst>
                </c:dPt>
                <c:dPt>
                  <c:idx val="6"/>
                  <c:bubble3D val="0"/>
                  <c:spPr>
                    <a:solidFill>
                      <a:schemeClr val="accent1">
                        <a:lumMod val="60000"/>
                      </a:schemeClr>
                    </a:solidFill>
                    <a:ln w="19050">
                      <a:solidFill>
                        <a:schemeClr val="lt1"/>
                      </a:solidFill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1B-655C-4D4C-9DB4-DC685D739811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it-IT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'[Tabelle e grafici - report finale.xlsx]2020 - Quesito 20'!$A$11:$A$17</c15:sqref>
                        </c15:formulaRef>
                      </c:ext>
                    </c:extLst>
                    <c:strCache>
                      <c:ptCount val="7"/>
                      <c:pt idx="0">
                        <c:v>Prenotazione online della visita</c:v>
                      </c:pt>
                      <c:pt idx="1">
                        <c:v>Tour virtuali del museo/istituto</c:v>
                      </c:pt>
                      <c:pt idx="2">
                        <c:v>Attività online di laboratori didattici, seminari, corsi, etc…</c:v>
                      </c:pt>
                      <c:pt idx="3">
                        <c:v>Presenza sui canali social (Facebook, Instangram, Tweeter)</c:v>
                      </c:pt>
                      <c:pt idx="4">
                        <c:v>Presentazioni dei beni e/o delle collezioni su piattaforme streaming</c:v>
                      </c:pt>
                      <c:pt idx="5">
                        <c:v>Altro</c:v>
                      </c:pt>
                      <c:pt idx="6">
                        <c:v>Non risponde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'[Tabelle e grafici - report finale.xlsx]2020 - Quesito 20'!$B$11:$B$17</c15:sqref>
                        </c15:formulaRef>
                      </c:ext>
                    </c:extLst>
                    <c:numCache>
                      <c:formatCode>General</c:formatCode>
                      <c:ptCount val="7"/>
                      <c:pt idx="0">
                        <c:v>74</c:v>
                      </c:pt>
                      <c:pt idx="1">
                        <c:v>97</c:v>
                      </c:pt>
                      <c:pt idx="2">
                        <c:v>62</c:v>
                      </c:pt>
                      <c:pt idx="3">
                        <c:v>71</c:v>
                      </c:pt>
                      <c:pt idx="4">
                        <c:v>86</c:v>
                      </c:pt>
                      <c:pt idx="5">
                        <c:v>6</c:v>
                      </c:pt>
                      <c:pt idx="6">
                        <c:v>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1D-98BE-447B-968F-F8F8B84A769B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578573733462407E-2"/>
          <c:y val="0.3037037037037037"/>
          <c:w val="0.4938191898326359"/>
          <c:h val="0.59277881429479951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'[Tabelle e grafici - report finale.xlsx]2020 - Quesito 21'!$B$13</c:f>
              <c:strCache>
                <c:ptCount val="1"/>
                <c:pt idx="0">
                  <c:v>%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5FA-4CA1-9992-99BA6BCE1F91}"/>
              </c:ext>
            </c:extLst>
          </c:dPt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5FA-4CA1-9992-99BA6BCE1F91}"/>
              </c:ext>
            </c:extLst>
          </c:dPt>
          <c:dPt>
            <c:idx val="2"/>
            <c:invertIfNegative val="0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5FA-4CA1-9992-99BA6BCE1F91}"/>
              </c:ext>
            </c:extLst>
          </c:dPt>
          <c:dPt>
            <c:idx val="3"/>
            <c:invertIfNegative val="0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5FA-4CA1-9992-99BA6BCE1F91}"/>
              </c:ext>
            </c:extLst>
          </c:dPt>
          <c:dPt>
            <c:idx val="4"/>
            <c:invertIfNegative val="0"/>
            <c:bubble3D val="0"/>
            <c:spPr>
              <a:gradFill rotWithShape="1">
                <a:gsLst>
                  <a:gs pos="0">
                    <a:schemeClr val="accent5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5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5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5FA-4CA1-9992-99BA6BCE1F91}"/>
              </c:ext>
            </c:extLst>
          </c:dPt>
          <c:dPt>
            <c:idx val="5"/>
            <c:invertIfNegative val="0"/>
            <c:bubble3D val="0"/>
            <c:spPr>
              <a:gradFill rotWithShape="1">
                <a:gsLst>
                  <a:gs pos="0">
                    <a:schemeClr val="accent6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6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6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5FA-4CA1-9992-99BA6BCE1F91}"/>
              </c:ext>
            </c:extLst>
          </c:dPt>
          <c:dPt>
            <c:idx val="6"/>
            <c:invertIfNegative val="0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5FA-4CA1-9992-99BA6BCE1F91}"/>
              </c:ext>
            </c:extLst>
          </c:dPt>
          <c:dPt>
            <c:idx val="7"/>
            <c:invertIfNegative val="0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5FA-4CA1-9992-99BA6BCE1F91}"/>
              </c:ext>
            </c:extLst>
          </c:dPt>
          <c:dPt>
            <c:idx val="8"/>
            <c:invertIfNegative val="0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lumMod val="60000"/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60000"/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5FA-4CA1-9992-99BA6BCE1F91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finale.xlsx]2020 - Quesito 21'!$D$14:$D$22</c:f>
              <c:strCache>
                <c:ptCount val="9"/>
                <c:pt idx="0">
                  <c:v>Altro (specificare)</c:v>
                </c:pt>
                <c:pt idx="1">
                  <c:v>Presenza nel Web come produttori ed editori di specifiche produzioni e proposte culturali</c:v>
                </c:pt>
                <c:pt idx="2">
                  <c:v>Organizzazione dei flussi e degli accessi in sicurezza</c:v>
                </c:pt>
                <c:pt idx="3">
                  <c:v>Attività di formazione per lo sviluppo delle competenze digitali del personale</c:v>
                </c:pt>
                <c:pt idx="4">
                  <c:v>Potenziamento delle forme di fruizione a distanza dei beni e/o delle collezioni (tour virtuali, etc.)</c:v>
                </c:pt>
                <c:pt idx="5">
                  <c:v>Recupero del rapporto con il pubblico in presenza attraverso biglietti integrati, promozioni o accessi agevolati</c:v>
                </c:pt>
                <c:pt idx="6">
                  <c:v>Avvio o completamento dell'attività di digitalizzazione delle collezioni</c:v>
                </c:pt>
                <c:pt idx="7">
                  <c:v>Coinvolgimento del pubblico a distanza attraverso soluzioni narrative digitali e forme interattive online</c:v>
                </c:pt>
                <c:pt idx="8">
                  <c:v>Collaborazione e/o partenariato con enti, istituzioni scolastiche e/o associazioni per la realizzazione di progetti culturali e sociali sul territorio</c:v>
                </c:pt>
              </c:strCache>
            </c:strRef>
          </c:cat>
          <c:val>
            <c:numRef>
              <c:f>'[Tabelle e grafici - report finale.xlsx]2020 - Quesito 21'!$B$14:$B$22</c:f>
              <c:numCache>
                <c:formatCode>0.0%</c:formatCode>
                <c:ptCount val="9"/>
                <c:pt idx="0">
                  <c:v>8.0645161290322578E-3</c:v>
                </c:pt>
                <c:pt idx="1">
                  <c:v>3.7634408602150539E-2</c:v>
                </c:pt>
                <c:pt idx="2">
                  <c:v>5.9139784946236562E-2</c:v>
                </c:pt>
                <c:pt idx="3">
                  <c:v>6.9892473118279563E-2</c:v>
                </c:pt>
                <c:pt idx="4">
                  <c:v>0.11155913978494623</c:v>
                </c:pt>
                <c:pt idx="5">
                  <c:v>0.13172043010752688</c:v>
                </c:pt>
                <c:pt idx="6">
                  <c:v>0.13172043010752688</c:v>
                </c:pt>
                <c:pt idx="7">
                  <c:v>0.13709677419354838</c:v>
                </c:pt>
                <c:pt idx="8">
                  <c:v>0.31317204301075269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5FA-4CA1-9992-99BA6BCE1F9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743234936"/>
        <c:axId val="743238544"/>
      </c:barChart>
      <c:catAx>
        <c:axId val="74323493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43238544"/>
        <c:crosses val="autoZero"/>
        <c:auto val="1"/>
        <c:lblAlgn val="ctr"/>
        <c:lblOffset val="100"/>
        <c:noMultiLvlLbl val="0"/>
      </c:catAx>
      <c:valAx>
        <c:axId val="743238544"/>
        <c:scaling>
          <c:orientation val="maxMin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743234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3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389C-CF41-9837-81E81B5768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389C-CF41-9837-81E81B576899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389C-CF41-9837-81E81B576899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389C-CF41-9837-81E81B57689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'[Tabelle e grafici - report finale.xlsx]2020 - Quesito 21'!$O$25:$O$26</c:f>
              <c:strCache>
                <c:ptCount val="2"/>
                <c:pt idx="0">
                  <c:v>Ambito Digitale</c:v>
                </c:pt>
                <c:pt idx="1">
                  <c:v>Altri Ambiti</c:v>
                </c:pt>
              </c:strCache>
            </c:strRef>
          </c:cat>
          <c:val>
            <c:numRef>
              <c:f>'[Tabelle e grafici - report finale.xlsx]2020 - Quesito 21'!$P$25:$P$26</c:f>
              <c:numCache>
                <c:formatCode>0%</c:formatCode>
                <c:ptCount val="2"/>
                <c:pt idx="0">
                  <c:v>0.48790322580645157</c:v>
                </c:pt>
                <c:pt idx="1">
                  <c:v>0.51209677419354838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89C-CF41-9837-81E81B5768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 w="12700">
      <a:solidFill>
        <a:srgbClr val="808080"/>
      </a:solidFill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'[Tabelle e grafici - report finale.xlsx]2019 - Quesito 17 - 20 BIS'!$Q$9</c:f>
              <c:strCache>
                <c:ptCount val="1"/>
                <c:pt idx="0">
                  <c:v>Micro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finale.xlsx]2019 - Quesito 17 - 20 BIS'!$R$8:$T$8</c:f>
              <c:strCache>
                <c:ptCount val="3"/>
                <c:pt idx="0">
                  <c:v>Non Presente sul web</c:v>
                </c:pt>
                <c:pt idx="1">
                  <c:v>Non Presente sui Social</c:v>
                </c:pt>
                <c:pt idx="2">
                  <c:v>*Non ha digitalizzato le Collezioni</c:v>
                </c:pt>
              </c:strCache>
            </c:strRef>
          </c:cat>
          <c:val>
            <c:numRef>
              <c:f>'[Tabelle e grafici - report finale.xlsx]2019 - Quesito 17 - 20 BIS'!$R$9:$T$9</c:f>
              <c:numCache>
                <c:formatCode>0.0%</c:formatCode>
                <c:ptCount val="3"/>
                <c:pt idx="0">
                  <c:v>0.25454545454545452</c:v>
                </c:pt>
                <c:pt idx="1">
                  <c:v>0.37818181818181817</c:v>
                </c:pt>
                <c:pt idx="2">
                  <c:v>0.55042016806722693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8F-734B-B496-35EC2A2A680B}"/>
            </c:ext>
          </c:extLst>
        </c:ser>
        <c:ser>
          <c:idx val="1"/>
          <c:order val="1"/>
          <c:tx>
            <c:strRef>
              <c:f>'[Tabelle e grafici - report finale.xlsx]2019 - Quesito 17 - 20 BIS'!$Q$10</c:f>
              <c:strCache>
                <c:ptCount val="1"/>
                <c:pt idx="0">
                  <c:v>Piccoli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5.3686728010794098E-2"/>
                  <c:y val="-4.753795475017829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8F-734B-B496-35EC2A2A68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finale.xlsx]2019 - Quesito 17 - 20 BIS'!$R$8:$T$8</c:f>
              <c:strCache>
                <c:ptCount val="3"/>
                <c:pt idx="0">
                  <c:v>Non Presente sul web</c:v>
                </c:pt>
                <c:pt idx="1">
                  <c:v>Non Presente sui Social</c:v>
                </c:pt>
                <c:pt idx="2">
                  <c:v>*Non ha digitalizzato le Collezioni</c:v>
                </c:pt>
              </c:strCache>
            </c:strRef>
          </c:cat>
          <c:val>
            <c:numRef>
              <c:f>'[Tabelle e grafici - report finale.xlsx]2019 - Quesito 17 - 20 BIS'!$R$10:$T$10</c:f>
              <c:numCache>
                <c:formatCode>0.0%</c:formatCode>
                <c:ptCount val="3"/>
                <c:pt idx="0">
                  <c:v>0.13924050632911392</c:v>
                </c:pt>
                <c:pt idx="1">
                  <c:v>0.12658227848101267</c:v>
                </c:pt>
                <c:pt idx="2">
                  <c:v>0.35820895522388058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8F-734B-B496-35EC2A2A680B}"/>
            </c:ext>
          </c:extLst>
        </c:ser>
        <c:ser>
          <c:idx val="2"/>
          <c:order val="2"/>
          <c:tx>
            <c:strRef>
              <c:f>'[Tabelle e grafici - report finale.xlsx]2019 - Quesito 17 - 20 BIS'!$Q$11</c:f>
              <c:strCache>
                <c:ptCount val="1"/>
                <c:pt idx="0">
                  <c:v>Medi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6.7971988556630135E-3"/>
                  <c:y val="-3.09978273999340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8F-734B-B496-35EC2A2A680B}"/>
                </c:ext>
              </c:extLst>
            </c:dLbl>
            <c:dLbl>
              <c:idx val="1"/>
              <c:layout>
                <c:manualLayout>
                  <c:x val="-5.7720475528417062E-3"/>
                  <c:y val="-4.05411117362672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68F-734B-B496-35EC2A2A68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finale.xlsx]2019 - Quesito 17 - 20 BIS'!$R$8:$T$8</c:f>
              <c:strCache>
                <c:ptCount val="3"/>
                <c:pt idx="0">
                  <c:v>Non Presente sul web</c:v>
                </c:pt>
                <c:pt idx="1">
                  <c:v>Non Presente sui Social</c:v>
                </c:pt>
                <c:pt idx="2">
                  <c:v>*Non ha digitalizzato le Collezioni</c:v>
                </c:pt>
              </c:strCache>
            </c:strRef>
          </c:cat>
          <c:val>
            <c:numRef>
              <c:f>'[Tabelle e grafici - report finale.xlsx]2019 - Quesito 17 - 20 BIS'!$R$11:$T$11</c:f>
              <c:numCache>
                <c:formatCode>0.0%</c:formatCode>
                <c:ptCount val="3"/>
                <c:pt idx="0">
                  <c:v>1.3698630136986301E-2</c:v>
                </c:pt>
                <c:pt idx="1">
                  <c:v>0.13698630136986301</c:v>
                </c:pt>
                <c:pt idx="2">
                  <c:v>0.21875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568F-734B-B496-35EC2A2A680B}"/>
            </c:ext>
          </c:extLst>
        </c:ser>
        <c:ser>
          <c:idx val="3"/>
          <c:order val="3"/>
          <c:tx>
            <c:strRef>
              <c:f>'[Tabelle e grafici - report finale.xlsx]2019 - Quesito 17 - 20 BIS'!$Q$12</c:f>
              <c:strCache>
                <c:ptCount val="1"/>
                <c:pt idx="0">
                  <c:v>Grandi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tar"/>
            <c:size val="5"/>
            <c:spPr>
              <a:noFill/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2817577993184747E-2"/>
                  <c:y val="-2.98049168578924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68F-734B-B496-35EC2A2A68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finale.xlsx]2019 - Quesito 17 - 20 BIS'!$R$8:$T$8</c:f>
              <c:strCache>
                <c:ptCount val="3"/>
                <c:pt idx="0">
                  <c:v>Non Presente sul web</c:v>
                </c:pt>
                <c:pt idx="1">
                  <c:v>Non Presente sui Social</c:v>
                </c:pt>
                <c:pt idx="2">
                  <c:v>*Non ha digitalizzato le Collezioni</c:v>
                </c:pt>
              </c:strCache>
            </c:strRef>
          </c:cat>
          <c:val>
            <c:numRef>
              <c:f>'[Tabelle e grafici - report finale.xlsx]2019 - Quesito 17 - 20 BIS'!$R$12:$T$12</c:f>
              <c:numCache>
                <c:formatCode>0.0%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0.2857142857142857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568F-734B-B496-35EC2A2A680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8065336"/>
        <c:axId val="688061072"/>
      </c:lineChart>
      <c:catAx>
        <c:axId val="6880653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88061072"/>
        <c:crosses val="autoZero"/>
        <c:auto val="1"/>
        <c:lblAlgn val="ctr"/>
        <c:lblOffset val="100"/>
        <c:noMultiLvlLbl val="0"/>
      </c:catAx>
      <c:valAx>
        <c:axId val="68806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88065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25400" cap="flat" cmpd="sng" algn="ctr">
      <a:solidFill>
        <a:schemeClr val="bg2">
          <a:lumMod val="50000"/>
        </a:schemeClr>
      </a:solidFill>
      <a:round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'[Tabelle e grafici - report finale.xlsx]2020 - Quesito 16'!$A$45:$B$45</c:f>
              <c:strCache>
                <c:ptCount val="2"/>
                <c:pt idx="0">
                  <c:v>%</c:v>
                </c:pt>
                <c:pt idx="1">
                  <c:v>Micro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finale.xlsx]2020 - Quesito 16'!$C$44:$H$44</c:f>
              <c:strCache>
                <c:ptCount val="6"/>
                <c:pt idx="0">
                  <c:v>Non ha reso disponibile online il catalogo delle collezioni in formato digitale</c:v>
                </c:pt>
                <c:pt idx="1">
                  <c:v>Non ha attivato modalità online di interazione e coinvolgimento del pubblico come video interviste, incontri streaming, etc</c:v>
                </c:pt>
                <c:pt idx="2">
                  <c:v>Non ha erogato Online servizi come laboratori, corsi di formazione, seminari, etc</c:v>
                </c:pt>
                <c:pt idx="3">
                  <c:v>Non ha attivato e/o incrementato presenza sui Social Media</c:v>
                </c:pt>
                <c:pt idx="4">
                  <c:v>Non ha messo a disposizione tour virtuali, video-visite guidate e/o modalità alternative di visita al museo</c:v>
                </c:pt>
                <c:pt idx="5">
                  <c:v>Non ha attivato e/o incrementato presenza sul web</c:v>
                </c:pt>
              </c:strCache>
            </c:strRef>
          </c:cat>
          <c:val>
            <c:numRef>
              <c:f>'[Tabelle e grafici - report finale.xlsx]2020 - Quesito 16'!$C$45:$H$45</c:f>
              <c:numCache>
                <c:formatCode>0.0%</c:formatCode>
                <c:ptCount val="6"/>
                <c:pt idx="0">
                  <c:v>0.87317073170731707</c:v>
                </c:pt>
                <c:pt idx="1">
                  <c:v>0.68292682926829273</c:v>
                </c:pt>
                <c:pt idx="2">
                  <c:v>0.76585365853658538</c:v>
                </c:pt>
                <c:pt idx="3">
                  <c:v>0.47804878048780486</c:v>
                </c:pt>
                <c:pt idx="4">
                  <c:v>0.73170731707317072</c:v>
                </c:pt>
                <c:pt idx="5">
                  <c:v>0.66829268292682931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D5-40DE-9078-248408D08266}"/>
            </c:ext>
          </c:extLst>
        </c:ser>
        <c:ser>
          <c:idx val="1"/>
          <c:order val="1"/>
          <c:tx>
            <c:strRef>
              <c:f>'[Tabelle e grafici - report finale.xlsx]2020 - Quesito 16'!$A$46:$B$46</c:f>
              <c:strCache>
                <c:ptCount val="2"/>
                <c:pt idx="0">
                  <c:v>%</c:v>
                </c:pt>
                <c:pt idx="1">
                  <c:v>Piccoli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5"/>
              <c:layout>
                <c:manualLayout>
                  <c:x val="-1.2193278030770362E-2"/>
                  <c:y val="-3.90421811156234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9D5-40DE-9078-248408D082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finale.xlsx]2020 - Quesito 16'!$C$44:$H$44</c:f>
              <c:strCache>
                <c:ptCount val="6"/>
                <c:pt idx="0">
                  <c:v>Non ha reso disponibile online il catalogo delle collezioni in formato digitale</c:v>
                </c:pt>
                <c:pt idx="1">
                  <c:v>Non ha attivato modalità online di interazione e coinvolgimento del pubblico come video interviste, incontri streaming, etc</c:v>
                </c:pt>
                <c:pt idx="2">
                  <c:v>Non ha erogato Online servizi come laboratori, corsi di formazione, seminari, etc</c:v>
                </c:pt>
                <c:pt idx="3">
                  <c:v>Non ha attivato e/o incrementato presenza sui Social Media</c:v>
                </c:pt>
                <c:pt idx="4">
                  <c:v>Non ha messo a disposizione tour virtuali, video-visite guidate e/o modalità alternative di visita al museo</c:v>
                </c:pt>
                <c:pt idx="5">
                  <c:v>Non ha attivato e/o incrementato presenza sul web</c:v>
                </c:pt>
              </c:strCache>
            </c:strRef>
          </c:cat>
          <c:val>
            <c:numRef>
              <c:f>'[Tabelle e grafici - report finale.xlsx]2020 - Quesito 16'!$C$46:$H$46</c:f>
              <c:numCache>
                <c:formatCode>0.0%</c:formatCode>
                <c:ptCount val="6"/>
                <c:pt idx="0">
                  <c:v>0.79120879120879117</c:v>
                </c:pt>
                <c:pt idx="1">
                  <c:v>0.53846153846153844</c:v>
                </c:pt>
                <c:pt idx="2">
                  <c:v>0.60439560439560436</c:v>
                </c:pt>
                <c:pt idx="3">
                  <c:v>0.21978021978021978</c:v>
                </c:pt>
                <c:pt idx="4">
                  <c:v>0.59340659340659341</c:v>
                </c:pt>
                <c:pt idx="5">
                  <c:v>0.50549450549450547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D5-40DE-9078-248408D08266}"/>
            </c:ext>
          </c:extLst>
        </c:ser>
        <c:ser>
          <c:idx val="2"/>
          <c:order val="2"/>
          <c:tx>
            <c:strRef>
              <c:f>'[Tabelle e grafici - report finale.xlsx]2020 - Quesito 16'!$A$47:$B$47</c:f>
              <c:strCache>
                <c:ptCount val="2"/>
                <c:pt idx="0">
                  <c:v>%</c:v>
                </c:pt>
                <c:pt idx="1">
                  <c:v>Medi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5.4176121549889877E-2"/>
                  <c:y val="6.22974267619352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9D5-40DE-9078-248408D082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finale.xlsx]2020 - Quesito 16'!$C$44:$H$44</c:f>
              <c:strCache>
                <c:ptCount val="6"/>
                <c:pt idx="0">
                  <c:v>Non ha reso disponibile online il catalogo delle collezioni in formato digitale</c:v>
                </c:pt>
                <c:pt idx="1">
                  <c:v>Non ha attivato modalità online di interazione e coinvolgimento del pubblico come video interviste, incontri streaming, etc</c:v>
                </c:pt>
                <c:pt idx="2">
                  <c:v>Non ha erogato Online servizi come laboratori, corsi di formazione, seminari, etc</c:v>
                </c:pt>
                <c:pt idx="3">
                  <c:v>Non ha attivato e/o incrementato presenza sui Social Media</c:v>
                </c:pt>
                <c:pt idx="4">
                  <c:v>Non ha messo a disposizione tour virtuali, video-visite guidate e/o modalità alternative di visita al museo</c:v>
                </c:pt>
                <c:pt idx="5">
                  <c:v>Non ha attivato e/o incrementato presenza sul web</c:v>
                </c:pt>
              </c:strCache>
            </c:strRef>
          </c:cat>
          <c:val>
            <c:numRef>
              <c:f>'[Tabelle e grafici - report finale.xlsx]2020 - Quesito 16'!$C$47:$H$47</c:f>
              <c:numCache>
                <c:formatCode>0.0%</c:formatCode>
                <c:ptCount val="6"/>
                <c:pt idx="0">
                  <c:v>0.74468085106382975</c:v>
                </c:pt>
                <c:pt idx="1">
                  <c:v>0.35106382978723405</c:v>
                </c:pt>
                <c:pt idx="2">
                  <c:v>0.45744680851063829</c:v>
                </c:pt>
                <c:pt idx="3">
                  <c:v>0.15957446808510639</c:v>
                </c:pt>
                <c:pt idx="4">
                  <c:v>0.43617021276595747</c:v>
                </c:pt>
                <c:pt idx="5">
                  <c:v>0.28723404255319152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9D5-40DE-9078-248408D08266}"/>
            </c:ext>
          </c:extLst>
        </c:ser>
        <c:ser>
          <c:idx val="3"/>
          <c:order val="3"/>
          <c:tx>
            <c:strRef>
              <c:f>'[Tabelle e grafici - report finale.xlsx]2020 - Quesito 16'!$A$48:$B$48</c:f>
              <c:strCache>
                <c:ptCount val="2"/>
                <c:pt idx="0">
                  <c:v>%</c:v>
                </c:pt>
                <c:pt idx="1">
                  <c:v>Grandi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star"/>
            <c:size val="5"/>
            <c:spPr>
              <a:noFill/>
              <a:ln w="9525">
                <a:solidFill>
                  <a:schemeClr val="accent4"/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9.7108142400746007E-3"/>
                  <c:y val="-1.0398281615389645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9D5-40DE-9078-248408D08266}"/>
                </c:ext>
              </c:extLst>
            </c:dLbl>
            <c:dLbl>
              <c:idx val="2"/>
              <c:layout>
                <c:manualLayout>
                  <c:x val="1.1536155262644947E-2"/>
                  <c:y val="-7.373553653886300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9D5-40DE-9078-248408D08266}"/>
                </c:ext>
              </c:extLst>
            </c:dLbl>
            <c:dLbl>
              <c:idx val="5"/>
              <c:layout>
                <c:manualLayout>
                  <c:x val="-6.1477485640171532E-2"/>
                  <c:y val="1.373886465393837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9D5-40DE-9078-248408D0826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finale.xlsx]2020 - Quesito 16'!$C$44:$H$44</c:f>
              <c:strCache>
                <c:ptCount val="6"/>
                <c:pt idx="0">
                  <c:v>Non ha reso disponibile online il catalogo delle collezioni in formato digitale</c:v>
                </c:pt>
                <c:pt idx="1">
                  <c:v>Non ha attivato modalità online di interazione e coinvolgimento del pubblico come video interviste, incontri streaming, etc</c:v>
                </c:pt>
                <c:pt idx="2">
                  <c:v>Non ha erogato Online servizi come laboratori, corsi di formazione, seminari, etc</c:v>
                </c:pt>
                <c:pt idx="3">
                  <c:v>Non ha attivato e/o incrementato presenza sui Social Media</c:v>
                </c:pt>
                <c:pt idx="4">
                  <c:v>Non ha messo a disposizione tour virtuali, video-visite guidate e/o modalità alternative di visita al museo</c:v>
                </c:pt>
                <c:pt idx="5">
                  <c:v>Non ha attivato e/o incrementato presenza sul web</c:v>
                </c:pt>
              </c:strCache>
            </c:strRef>
          </c:cat>
          <c:val>
            <c:numRef>
              <c:f>'[Tabelle e grafici - report finale.xlsx]2020 - Quesito 16'!$C$48:$H$48</c:f>
              <c:numCache>
                <c:formatCode>0.0%</c:formatCode>
                <c:ptCount val="6"/>
                <c:pt idx="0">
                  <c:v>0.75</c:v>
                </c:pt>
                <c:pt idx="1">
                  <c:v>8.3333333333333329E-2</c:v>
                </c:pt>
                <c:pt idx="2">
                  <c:v>0.75</c:v>
                </c:pt>
                <c:pt idx="3">
                  <c:v>0</c:v>
                </c:pt>
                <c:pt idx="4">
                  <c:v>0.66666666666666663</c:v>
                </c:pt>
                <c:pt idx="5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29D5-40DE-9078-248408D0826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88065336"/>
        <c:axId val="688061072"/>
      </c:lineChart>
      <c:catAx>
        <c:axId val="688065336"/>
        <c:scaling>
          <c:orientation val="minMax"/>
        </c:scaling>
        <c:delete val="0"/>
        <c:axPos val="b"/>
        <c:numFmt formatCode="General" sourceLinked="1"/>
        <c:majorTickMark val="in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88061072"/>
        <c:crosses val="autoZero"/>
        <c:auto val="1"/>
        <c:lblAlgn val="ctr"/>
        <c:lblOffset val="100"/>
        <c:noMultiLvlLbl val="0"/>
      </c:catAx>
      <c:valAx>
        <c:axId val="68806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688065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19050" cap="flat" cmpd="sng" algn="ctr">
      <a:solidFill>
        <a:srgbClr val="000000">
          <a:lumMod val="85000"/>
          <a:lumOff val="15000"/>
        </a:srgbClr>
      </a:solidFill>
      <a:round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'[Tabelle e grafici - report finale.xlsx]Grafici rifatti'!$L$525</c:f>
              <c:strCache>
                <c:ptCount val="1"/>
                <c:pt idx="0">
                  <c:v>Piccoli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10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rifatti'!$M$524:$S$524</c:f>
              <c:strCache>
                <c:ptCount val="7"/>
                <c:pt idx="0">
                  <c:v>Collezioni online</c:v>
                </c:pt>
                <c:pt idx="1">
                  <c:v>Mostre online</c:v>
                </c:pt>
                <c:pt idx="2">
                  <c:v>Eventi live</c:v>
                </c:pt>
                <c:pt idx="3">
                  <c:v>Programmi di apprendimento online</c:v>
                </c:pt>
                <c:pt idx="4">
                  <c:v>Newsletters</c:v>
                </c:pt>
                <c:pt idx="5">
                  <c:v>Podcasts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rifatti'!$M$525:$S$525</c:f>
              <c:numCache>
                <c:formatCode>0.0%</c:formatCode>
                <c:ptCount val="7"/>
                <c:pt idx="0">
                  <c:v>0.5081</c:v>
                </c:pt>
                <c:pt idx="1">
                  <c:v>0.5806</c:v>
                </c:pt>
                <c:pt idx="2">
                  <c:v>0.5081</c:v>
                </c:pt>
                <c:pt idx="3">
                  <c:v>0.629</c:v>
                </c:pt>
                <c:pt idx="4">
                  <c:v>0.4597</c:v>
                </c:pt>
                <c:pt idx="5">
                  <c:v>0.7177</c:v>
                </c:pt>
                <c:pt idx="6">
                  <c:v>9.6799999999999997E-2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0A-4482-81B1-AC1B85BB1C7C}"/>
            </c:ext>
          </c:extLst>
        </c:ser>
        <c:ser>
          <c:idx val="1"/>
          <c:order val="1"/>
          <c:tx>
            <c:strRef>
              <c:f>'[Tabelle e grafici - report finale.xlsx]Grafici rifatti'!$L$526</c:f>
              <c:strCache>
                <c:ptCount val="1"/>
                <c:pt idx="0">
                  <c:v>Medi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10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rifatti'!$M$524:$S$524</c:f>
              <c:strCache>
                <c:ptCount val="7"/>
                <c:pt idx="0">
                  <c:v>Collezioni online</c:v>
                </c:pt>
                <c:pt idx="1">
                  <c:v>Mostre online</c:v>
                </c:pt>
                <c:pt idx="2">
                  <c:v>Eventi live</c:v>
                </c:pt>
                <c:pt idx="3">
                  <c:v>Programmi di apprendimento online</c:v>
                </c:pt>
                <c:pt idx="4">
                  <c:v>Newsletters</c:v>
                </c:pt>
                <c:pt idx="5">
                  <c:v>Podcasts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rifatti'!$M$526:$S$526</c:f>
              <c:numCache>
                <c:formatCode>0.0%</c:formatCode>
                <c:ptCount val="7"/>
                <c:pt idx="0">
                  <c:v>0.307</c:v>
                </c:pt>
                <c:pt idx="1">
                  <c:v>0.44700000000000001</c:v>
                </c:pt>
                <c:pt idx="2">
                  <c:v>0.33</c:v>
                </c:pt>
                <c:pt idx="3">
                  <c:v>0.48</c:v>
                </c:pt>
                <c:pt idx="4">
                  <c:v>0.29599999999999999</c:v>
                </c:pt>
                <c:pt idx="5">
                  <c:v>0.65900000000000003</c:v>
                </c:pt>
                <c:pt idx="6">
                  <c:v>3.9E-2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0A-4482-81B1-AC1B85BB1C7C}"/>
            </c:ext>
          </c:extLst>
        </c:ser>
        <c:ser>
          <c:idx val="2"/>
          <c:order val="2"/>
          <c:tx>
            <c:strRef>
              <c:f>'[Tabelle e grafici - report finale.xlsx]Grafici rifatti'!$L$527</c:f>
              <c:strCache>
                <c:ptCount val="1"/>
                <c:pt idx="0">
                  <c:v>Grandi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tar"/>
            <c:size val="10"/>
            <c:spPr>
              <a:noFill/>
              <a:ln w="22225">
                <a:solidFill>
                  <a:srgbClr val="F4EE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'[Tabelle e grafici - report finale.xlsx]Grafici rifatti'!$M$524:$S$524</c:f>
              <c:strCache>
                <c:ptCount val="7"/>
                <c:pt idx="0">
                  <c:v>Collezioni online</c:v>
                </c:pt>
                <c:pt idx="1">
                  <c:v>Mostre online</c:v>
                </c:pt>
                <c:pt idx="2">
                  <c:v>Eventi live</c:v>
                </c:pt>
                <c:pt idx="3">
                  <c:v>Programmi di apprendimento online</c:v>
                </c:pt>
                <c:pt idx="4">
                  <c:v>Newsletters</c:v>
                </c:pt>
                <c:pt idx="5">
                  <c:v>Podcasts</c:v>
                </c:pt>
                <c:pt idx="6">
                  <c:v>Social media</c:v>
                </c:pt>
              </c:strCache>
            </c:strRef>
          </c:cat>
          <c:val>
            <c:numRef>
              <c:f>'[Tabelle e grafici - report finale.xlsx]Grafici rifatti'!$M$527:$S$527</c:f>
              <c:numCache>
                <c:formatCode>0.0%</c:formatCode>
                <c:ptCount val="7"/>
                <c:pt idx="0">
                  <c:v>0.186</c:v>
                </c:pt>
                <c:pt idx="1">
                  <c:v>0.28599999999999998</c:v>
                </c:pt>
                <c:pt idx="2">
                  <c:v>0.2</c:v>
                </c:pt>
                <c:pt idx="3">
                  <c:v>0.28599999999999998</c:v>
                </c:pt>
                <c:pt idx="4">
                  <c:v>0.214</c:v>
                </c:pt>
                <c:pt idx="5">
                  <c:v>0.55700000000000005</c:v>
                </c:pt>
                <c:pt idx="6">
                  <c:v>1.4E-2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0A-4482-81B1-AC1B85BB1C7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42516712"/>
        <c:axId val="1042514416"/>
      </c:lineChart>
      <c:catAx>
        <c:axId val="1042516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42514416"/>
        <c:crosses val="autoZero"/>
        <c:auto val="1"/>
        <c:lblAlgn val="ctr"/>
        <c:lblOffset val="100"/>
        <c:noMultiLvlLbl val="0"/>
      </c:catAx>
      <c:valAx>
        <c:axId val="1042514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42516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9050">
      <a:solidFill>
        <a:schemeClr val="tx1"/>
      </a:solidFill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f>'https://regioneemiliaromagna-my.sharepoint.com/personal/renato_agostini_regione_emilia-romagna_it/Documents/05. Musei/Report/[Dati.xlsx]Tipologia'!$E$6:$E$14</cx:f>
        <cx:nf>'https://regioneemiliaromagna-my.sharepoint.com/personal/renato_agostini_regione_emilia-romagna_it/Documents/05. Musei/Report/[Dati.xlsx]Tipologia'!$E$5</cx:nf>
        <cx:lvl ptCount="9" name="Regione Emilia-Romagna">
          <cx:pt idx="0">Bologna</cx:pt>
          <cx:pt idx="1">Ferrara</cx:pt>
          <cx:pt idx="2">Forlì</cx:pt>
          <cx:pt idx="3">Modena</cx:pt>
          <cx:pt idx="4">Parma</cx:pt>
          <cx:pt idx="5">Piacenza</cx:pt>
          <cx:pt idx="6">Ravenna</cx:pt>
          <cx:pt idx="7">Reggio Emilia</cx:pt>
          <cx:pt idx="8">Rimini</cx:pt>
        </cx:lvl>
      </cx:strDim>
      <cx:numDim type="colorVal">
        <cx:f>'[Tabelle e grafici - report finale.xlsx]PATER - Dati geografici'!$F$6:$F$14</cx:f>
        <cx:lvl ptCount="9" formatCode="Standard">
          <cx:pt idx="0">124</cx:pt>
          <cx:pt idx="1">44</cx:pt>
          <cx:pt idx="2">54</cx:pt>
          <cx:pt idx="3">69</cx:pt>
          <cx:pt idx="4">76</cx:pt>
          <cx:pt idx="5">36</cx:pt>
          <cx:pt idx="6">56</cx:pt>
          <cx:pt idx="7">39</cx:pt>
          <cx:pt idx="8">47</cx:pt>
        </cx:lvl>
      </cx:numDim>
    </cx:data>
  </cx:chartData>
  <cx:chart>
    <cx:plotArea>
      <cx:plotAreaRegion>
        <cx:series layoutId="regionMap" uniqueId="{5FD70ACF-B631-44F6-9433-F8E525E480FD}" formatIdx="0">
          <cx:tx>
            <cx:txData>
              <cx:f>'[Tabelle e grafici - report finale.xlsx]PATER - Dati geografici'!$F$5</cx:f>
              <cx:v>Totali</cx:v>
            </cx:txData>
          </cx:tx>
          <cx:spPr>
            <a:effectLst>
              <a:innerShdw blurRad="63500" dist="50800" dir="18000000">
                <a:prstClr val="black">
                  <a:alpha val="50000"/>
                </a:prstClr>
              </a:innerShdw>
            </a:effectLst>
          </cx:spPr>
          <cx:dataLabels/>
          <cx:dataId val="0"/>
          <cx:layoutPr>
            <cx:regionLabelLayout val="showAll"/>
            <cx:geography cultureLanguage="it-IT" cultureRegion="IT" attribution="Con tecnologia Bing">
              <cx:geoCache provider="{E9337A44-BEBE-4D9F-B70C-5C5E7DAFC167}">
                <cx:binary>7HvZct24suWvVPilXy5dIIiJJ06dB5B7lLZmS7JfGLIsA+AIEuD4Tf0X/WOd27N8qnxdHRUdpzo6
bEmxCQIEkUDmWitz//Nx+sdj+fTQ/TJVZe3+8Tj99kJ7b//x66/uUT9VD+5lZR67xjXv/cvHpvq1
ef/ePD79+q57GE2tfsUoJL8+6ofOP00v/vVPGE09NafN44M3TX3ZP3Xz1ZPrS+9+0Pa7Tb88vKtM
nRrnO/Po8W8vrgx8Ni9+eaq98fPNbJ9+e/H8nhe//Pr9UP/22F9KmJnv30FnEr2MOYoFJSGmMWeU
vfilbGr1qTnELymPYxwxDI2IE/z52WcPFXT/ifl8mM3Du3fdk3PwPh/+fu34bPK/vVhVL6+a6uWL
P3zxx6av/XE9FSztby92/qE0Dy9+Ma5JPrYkzfG1djcf1uHX56b41z+/uwAr892Vb6z1/TL+d03/
NucL8/D4VC8wvb/OXOSlYBxFIYo5WAz+PDNX/JJhhHnIBOZRjCkXn5/90Vw/NaPfN9jXrj9rsq89
/k5GWz913UP3F9uMCxFSwhBGFHERPrNZGL4UhPMIsYjRmLHvTPYz8/l9i33p+bMG+9Lh72Svi4eu
+outxRj4Q44wDQkjgjy3FnqJCKcYrMVpiDHi352w/3Y6v2+sT6/xs6b6dPvfyVDgssFn/7KqzAeP
/Ve6RIZYSEMqkAgRJWCRbyMYeklpyGIqIIixmERgz4/P/hTBPk6rfirL//ETc/t96316t2eD/Kwp
f6/v38mu66Yr/9f//LyofwUkIS9RBJaKQ8p5CAfwuxOIoZmzKBJgU04Qjj4/+6NBP84nSJ7cU/1j
x/D7tvyu/8+a8btu/8kW/IO5PXvT8Bss9odH9c9iTfKS4khEiISRCEVEn4MXCITQgggLyRG5AB59
btiPp/MXwIcP6oeW/QjB/w1yft//2ft+87p/sDz/kRDzAGj3h2sBeP3P8QGwUcQIoSzkjB/N8L03
FTEmUSwIxviIQJ/b6Cfm8/un7nPHPzLKs+tAhD7f/3cy1tXD8FT/1daKOKAQjsFkiABHe26t8GUM
iBKFcKp4xCL8Hbb8mQn9vrm+9Hxml28O0bPrR+L6+d3/TgaTTdn82NX8HxwvEgFMYYyiKEbs6OO+
BSvhy4hwAfwO0AwhHH+HLn9mQr9vsC89nxnmBwb70uH/qsH+mI1/ETHSB/+w+iB/fEPIf9z6YUlA
kvmu6w9p+cegt3v324sQaFtMKZydL570ONBzFPlMl3ne6+nBeRgFv+SUchZzHH+IcDDe+PSpBcZn
wNexEBgJBD61bjqvQZ0hL0Ng9Ay4fhRFCLjji19c039oil4CZwSeIgAoHYUA8kV5umjKWTX1lzX5
9PmXuq8uGlN7BwMfUZP9eN9xthwD0Dq6Cg4en4egBMEk7OPDFchbcHv4X4P3U0BnQWQcdGNiaBfL
gau3cSOueNGMsp08loVHs1SDsDKYC7PuVbUd+u6MuoYmS87eBbopkpxWrwddvS2YMbtwLK9x7VOq
u/XSo3KbW7LItqPv2MjH0zpbNo2IBslJmcmcCZRG01wl8TJrOZbsZIrwjs2RkpkNznDQHYIxesI+
alNc9HqFBj7sBlIkYVuXSd7WlxQsmQRsQGsRietM8zdU2VFWvbrKGD4UzG/6PF9TxjcTz4aN0/0N
Gvtb4cyqM3laLPxq7nElp1Zd2ahOmGh2ce5rGfdhlxS4MjLM4puYTNc1xteu9YNkKoCe+fKUk3Yd
TsEkTV2fmHw4Dd24LWd7NRhzgzJdJTirrBQ8ukC0qpK6c8U6LIML3Syt9ALtw74qkqqZuRyqdofC
uk9G2jVJGKrzPESDDIcx3+SkY5ulC4KTAKy0NQqHW8LzJ067B2i/8ax9XNgIL0HO/YByaYQ6afPg
2lfWJMoHtdQzn5KgmI1krq1Xpa8fmzC8DosJr4KsEmnM5rei0GUSR9kTLpctIiLfcBWXCbiuc14Y
tV0IOo+rqpXFoMg6iLI3C7dvrDanM9cHzPC1gOf1VbkKFnZCIh7IGIfuMLu8Xrva35JSbyLXGxlp
d1GyqZdRsGhZt1nig2w9lm2iuF8NJUrbevGJ7Wsrx1lUsh7ofurrd02ee4nKcpCqZibRU2EkdnVi
fP6mU9Mpmdi+1eNurv1KjHgXBuy1te5tWcGykJDuo1xEu6kL3GqYp4fIz2HK4/oks/ysrM0ODWNC
KyJNPr0pvXhlBl4kWeWRLEZxMtPu4IqYr6Y2U7Bt6/K0pEslcRg4mc3FWpDlnpC4SFtRniIWG5lX
+R0fySEYrJfxiO66oU1Fn8OArrmNRrLJ8XJellGqF3xtCT8t1Qg73d/ktpmlruvbkMKKLcj6VUT6
TRZOt30+vlcuPJmX3CZ9TTKZ+XhLzHLZV8QmaKH5Fa+9fWA98bd0ibItSIz5K4SCEqRVbqJAdgs6
0XOdRoVKoybeRKw8sKa7mNDwVOHwNcr5+Jp421ZJWKA8lCzEkuaDfnIRzLbQip5oE+Cd5bGSYV90
sh6LKiGC32DNN23XvG/L/MSJ6lUs9K5n1Uk0hGmWN6c6oKfC0tswD26KKUxFG10VpjytTetgy5A7
2qkoaRfYwT5b+ybYRxkekkWN3drjEklLmqQIx3eKT2cjOK8WT2nQ4atY+VVYNCm3rUomVxvYdsGw
wpN6q1v1ylpyOoFfiFizFyU+nUtdSdQW58wGIp3LtpGT9eeNM5dlUD02Y3xn/HTmInTZMruCt70n
dX/SlPq9sbyStBlJks3BOSH9hY7zt44HaxVUFzOtXRLavk3yvj5FUf3e4+Usa2q2KmuE0t6ofENz
tc8y0suFF6+6UKvETdO2E8Mp+OlW5tpk4Ml6k/hFNOCfuU60Zomt4zDJM3vGSHlmS9elHNXDurew
S4KsK2XISbHqw+KUFVXqcndrKGtWheueVDsh2YpOr7w1u7EPMomXTsssz9tkQQOTOF7uaxyd4Vlf
k6bowZz9q0UPQZI1IpB5026q1t1XYpjuB5FFSZPpUbquhtkERdJpjmTf1MFe20gkbeDopq94J0Ue
jXJoeLTR8zDIIcOTHIdSpwVROGmLGtYPln4zc3Yvugr8ISlgS8IE66aaEjd2lazM+MZV45sa1Rd9
iQ6GVWMyKLoeJzenZopNMnUFWhVNOMtujh5wM1wFGZP/pXAT88UFRPaqnjc4mkeZqzI+zYp2kNnU
JJZ7GSqIaUavwQG3qQ3wsh5w1G1br4vVUntwCtW4p6HdIFwMsiiKJWnVVMhmUkyW/XQrRKCTbiFj
olQ/pdkskkiU0XZk8atvMxjPQvpjY+fOKP0pn/Tl479umgr+f0hpfL14TEd9/bR5ao4yifv+piPw
+nLX17TIEeh8yZF8B58+5rT+AFv9sPEngVcMYVAcBdYf4K4/VO+OqObLAJ8gGHopIIsFGRJgRCE6
KrufEBh6CZrDc1b7FYFB+gtFAiiWQIwRwEWfERh5iTGo+pyBmAESPmN/BoFFR6H/GQJDgseMxyTk
goPujI4I7RsENum2HGfbYdm6qINz6947x1USeAznfVKZLFXM9kOZ1+lCs/MeAmwfYSNtNqwm3N6C
I98zvzyEXVmmxruzsXY26Wxx31rwCB53W2r7U72wSVIs7pupyFMvYi2diys5xmZKWNAa6epylt7b
jWeDPnN1cTsU2G2anOVrJIYnrWaaqMJFyWizMi1GghJeiSoB7JTLaoqIrMuylbbnl1mPF+mYfa96
fKVs75OiI6GM+njZoKBYx4vbLdy8J3n0dpgBlgRtDG5BQ7xvzBCshpBGa0BDfqPDqFsXjeOyJ0GV
zIttknjm+GzGyL8ah5jdtUEVnoux2y1zx++Gpu+T3hfhCeddsI8bgmQVR2e+YndiKdBmEfaRZcXF
lOX3UQ2w1Ob9iff5GQv0OzWyTVbWKcZ22ZZ6KJOhxetsQT7hcxCsQx/wRJX5U9n3OqHEvHetAxRF
H/vGqXTsbSWdJ1ucNYeu5T6JmRFX42JcGoouS0UNrnUI7co3+lUI7B1cVd1e8rLuZF6rRzQhteks
PG6ohVupTGxQT+ZkyEaahCh6GptJ8tLshAZEFHQQHgT3D0E2XyxMLadZBTGBNbM9BBWp5cL820bU
GyuyLeCoTd9XyTD0ZzU3hzAKIcq17nroj2NafEmbaZKKFocWBa+jjD7NQu+jmb5tWp4IYwvYTvap
HsMn1vWLDIl/FE1Zn/Z4fvKmwoDWSyVFrNpVO7NXQuc0JYMdtl1PX4kFny0kP4HkSuqy4aJn3eNi
+HnBxbBHgSdJUYxo24aZSUzdlUlXZjppyPhmsM2wh/BXrKewNHte8XG7GDqcE+r0eUdmJd3S7paq
qtMGuapM6jGiWxS2SgLv2SuXRanAc5DGQdWtJz9lSW6GHBrzVPXjoRIRTJ0ySQd862t1qWlQJhWJ
3oxTESekmMUKTnAtj3BmXJaNnSFJX/Mn1ZC1CcZ7ERWbPCtyaeFdFl946Xr+UNVjGjt6CDw8C7mW
QBDwo/SmXy9Rf687n4qpXrVaXGrXXDbaXldqOHUe3VkdXmSDvmvL+b507GwOl11TVG8XYy486HNy
QMUq4rWWlro9YwpYTNvnsqiCVVZNm1hN76vWvw9IA4gV+bFZ83y8mLo839SDb9LOmXdu6C4IIWFC
ixlZqX1+zZzo0pygp2qx8XZswxjQbIVT2BBNGrQkT9HYFGmA81d+dK+965msq0knBRAjmfs4ycJu
G8+dkmM2q1VTFUvKc65lmU23CzCCpIrVDI7CNLCx64OeA5+wIhsB+xwdESMqHQS6x4bscVHlshnc
WvRoP+YBAKmO3pMJeIcfaJP2kDJfk5bBMqpIpF5nPYjB/on1uJBZnK9LF9/RDHb5kveFVAWOAevP
mUSGVKkJlj3LAeEr1p23nbiPchRv67Yp1tzoHcGlSiqtamkxP3WsLDfMeC39snSrHvBIwrIJwrqK
Tvui2LWm8mlIano1BfVt1oSHQnkH9piuDesAXTlqpOrNveKhlaSZ3vicLYmuaiwr8F8bNzmRlIrp
FNXVXVij/MzWzG+HSGxqFZzkDZnXdJoe7FL57RzTN1qoMpnI7FKLFNsUS/F+4GN3zpfwpq3sUzmR
VwFlr10+tXIJ8XapRgOc1p6Pc8NXs+o3oC+cQsy8CdUSbUts+SGevJV/HqIcPtfRfA9AvsUffwBk
/mMxCoVQ/QOM8ln6/CopfQAmx15ftCFIi8QYKjaAEhPIK39BJiGkTCgK4Z+IoUqAAmb5ikwY5iKO
IbkJnFlwkBK/IhMo6YEMGolwBCoRpEQ/w7RnQBIksU+fv9WGIPf2HTIBbegoVzIeUYIYyJfPkYkb
3DyWYiQyQ9Fdg7NUlWOdFGZsNtVU3BXRcJY39toBmdaqr5MqCPTWBXZJqCbNxqihBtpSF9JQWq/5
BGQ8M4Mk49IkOOqHkyyugWQXR2Ay633WIXUYvD6Mar4ouuVNPtbvMC4f2q5Y6cVt2iUSa8Jaepp3
CPoUy0lUz6d53azYHOKUqrqF4xzaOO2XeK2z6MICf0o9orvIMroS8IM6m9RmWLdqOSnj6KCORL+2
SkhMB5TkbvbJOE4ksWEfSai6sckYtYEMDToZM0IlnVwvi2U5W9wwy3mYgBhM1b0e49u8X3Ztpe9x
KZaVHaO9o5NZmYiw69y2PK2nZq+KKr6acHcxu6yUAGRuqqxwm7nXD3PZXVZVdjdX0ZDMuD20uZ4v
e2NScHRvepQd9DCFSVMua6T9us/xtg9xmY5cqD0Vvm2AcxRkg7kppPBBiiLlJR0jOeroqh9wIyEu
7HCf1QCw+ms6OsBt2ewBJuhzxoGyo8zKPlI0cXRZ1uDTdpGq3wq2vOK9wRLxMpeKOwCLtNjqPEgJ
i7dKNzrtVP2+Gu2eZqAj1pOP72PckHe+MbqTRYTZaRN3oLXkSOzcONp1JuYJOHAEbFflIOzwPkhr
FpSyGufl1kTKnZVRuMmW8oCyeOKS+0w1Es06e0+R7rWEc1PsAHzi1RT5k3KZdzMVe5JFjwNd7nhp
r8spPJ+rR4eGA1+Ck7CZy73IF6CRWp06w3Zdx/36KJCmdhohqpZzd1+WJYiQCN6dawUbrunMqlec
HnBRhu98BwBhtwAQkZVq3wSjOl20wqkL471zWbD1bK6THJQSmef1DOKO4jKyAKwyykQyOHeC0PAY
l8udGcNUZS0F6mxtooX1JxQF62wE6q7acC0sm5IB+/e2wheoG+dTf4x9aoje9nX2tmnM65io1ZAF
xZn1QbdtingE1c22130XF6DXzeTcTaDeCQHlhj73/bbsx17mRFVppDWIZxxbttMapwECXRITk8RT
pG9mxP2ewn0SjWjjRD6tqSqCixjX8eUS5fRSF/i8Gqk6eMQnDYJWTk/8bM/d0Eyv3QyKhbf2vPf0
XtBwlfHx0VAQbNuxvgnbgaw1CsuEU+VT281mlXNAT6Mp9wupFkk1yK0zuDnZRMNqUPiiB1DT5X4f
eVQksGgaCPxcJllZaUkpMBo2V7EMFiHnujvYYDo3ZjgLAmbSYSTZRmTkfavptKpN4eRQ99Mm47Dj
M1o2cuxMk84alj2mtZC9tosMKDrrvH+nS7XBrT4ddZv0KBxkLcpLFtEhGT3sk2IZt6bSWupoVEnR
dzipUXgZFPR+stX9oINTBfonrHN5CaKHkAsteJrbEeQtXrK1ZsX7OeZBYketAL2YKlnG8hWeQLsu
4HgqVu+GyZ6oTm0Jy8EeKrs2MQUc5ZudYYGVnNp61WHA/bZ1rwBQPM46VHLAupWddWTVLyQtQdam
UXZas/a+p3OUaF61q7xtxqSLqNlg2z7GeIlkDbgaozJYgYxz5qBwNI0ndFKF5jTTdkqJpW9DIMWS
zCbftSG/GgbUSg7KPJDcRwOuuhJLAMqs2vgmdxLkMRBmq/msIXS3OBMluOTpiPn5YlUhdUcvRRWS
hMTDyiALfMvE54zMdxqkfbii1hVaOHiwAu2znpaSQPyQJDIPQzvq5M9Dlf/31BSGEPoRUnlWS/dJ
QPnY54uAAlgkjqE8jkKpBvx8xinxSwIIBnQVCnjkYzbqC06hx4o5DEb/WvXxFadAyIPQGUFh8Ydq
gz+DU6A47zucAgoKZMEJcANEoUToewXF2qrJIOCAvODJVakMPukAB6eCoDwBZcWnAwB0AkCdESwS
IAdBks8jsEFuS1lwV24agPgVKCyyg43KhqGVTV7Eq3kua4gp2b0GisC4JTIH0iCKuErzCWdSgYyy
qgtQ/uKCNuDq4zsog1uzgRayBCICLnNYoUWIdASak+LJhGu7ZE1KqG3BbfH76chqkMJ7CzQH5zaX
UEu679roHrQikOO7GjgR0pP0Qd4nqLKHpbYN0PgCoMeRTU0Nug1UpqWa7ZIqBPEgO7KvXgN1aLKk
PPIyEE5Bq6hmBrQRHTj3RorRA5tv4zxtSWHTTDmcTke6Vx+JXwTZNrNol5ZTeR27AiiLggUG/+Yv
HDDH5kgh5yOZFMAqHUT69RRoDCwDfLJqcn2Gu/kRMmN35czeMqV3XRXs3JGhAlYyK9/2+56CfyIg
xiczkFphlruY69Mlmy7Mgu4DIL+hii48kOEej6ek7K6hVOey0+GrqBnWsynvaw2u+ciowyO37vyc
ywzodlVOqdPZQ604wCBIbU4+2quhf+3zYJUDW9fA2hdg7yVFNxOw+QhYfUDCWja4bFdkCF3aW/ZG
HUWAHtQAz8gtLmJguqATaNALBOgGg4bHlRZnSWC6c29Uf8Gzmq1bjsUuAsFkX0DtYoLrlq1chpat
XyJIJhrQm4JWuXTB0d04uPy8wmUgywKByq0gAzPnA3udI0CAKARho86qAMR+cjNMJoGM20apYcvD
Yat6BlmmfDofpnJcNd7YlFege5ZRBmxvMj7NKj1vO8obGc643jRNf7Uw/KZw4u0cQiBbWDwkvoG8
n20qd90UY7tmSwuPg5T0rmtjtx6sG6Xhel8gM+6MOA5ISLUZgfKeFq46tKNIBAoAQIsyGUOj1iEk
VoMJIu5E2ikhA70FXeH13NrVzCYmA8Xf6CLTmyCq1t7XeO2Om0Frc97m+BR1VEnIJKfLgu+aeXww
3J9qXBwy09w4Wl5qBVncGbU7r4mTUWcvlKdn9qg0AZZ43QzdZeghfRuX5QG0qULyqSRbZQMQ8jmu
kmrEQupRv4mqpkuCHD24Ni+3qM72WW6D1cTrat1XtJWlczvIxQYywLBH49Y+9R0L5RKQN1gst3pZ
QDgxvElEySERWphrUUdb3s8nkLs7q4l55EXLkjlw/R6Uh/XSdC4RSmwbbqkMWXZEL7BgyvVqncfk
pCBtsYGx5pUKI5dMkLIuR/AkWVRo2bKObCc8xKu+U1f5rIbzZu66TdyBaFz39qZnmKWMuTXHE2yF
wlzYcr5wBgSOHOlxnZVdBZYVF23MqBSQ5kgK2504lt2hrLoEZ33OYapSNOo65/WStkF9B1OdD2Zm
9QNeBpY4UZNVMOMDpKCfSiAXKasGD5px/rqD0oMk19ZK1nWvQusAwvJ+E8fjWZRBdqjIazguk1E3
zs9ROpsinRa3NiR61U5hsZmmPFwXvt6XbDjTbSx2XU79hjf81odhkRaFIuDxytcGXMZaifLt4Jc4
rZR7q2b1rhjcezM1fpX1M163oDNCmqq8DQKCJZ9Rl1iinUThSGXBFE/bZcAJPNJIYn2bqgnoROA5
HAJl5DjqUE7hdBjj4KGmM5COYNj0Bbsso/zARIWk0fNVPeBT0uZvW1Jdhxkkz8Yx2ka23zM8r4ow
OoRzBwsENCqas4ROMBVCAcB0CFx5YYqnth476SzNN/DtH7WL6ASqesxPMxudEde/nsqASygqWmdq
KFKdKUi9UnHaqq5Lhj4ATU1zC3TJPPgJoJDpM9g1emkkC+1xx6IVr7PXfhm5rGqbrSpqQOflTZ7Q
Njifu+ItUBvYjr4HVBnvxQxKdmwqQKYdyPiFyV2SefpErd5Cnhp+Rbxc90vbrCCV0d9PIs4lI74C
vTnrpBJzvoqGcUkmNfFd5EDDtrEf07BfSlCaijiNeB5v0FI3KdPTPWybN2aexsRhzhM9qFSN8+NS
RbtWxLe95m3a+BmCZQ1+Sqn51YLqRnri2iSbzIZU+pVw+FgnEZ/M7aIP8xJdLl3BZDg2J1A2t6Qu
Yg9F7EH9ner7vl8ECAOBWYWZ8OC2Rb4aRsik9ABwNn1I10i5Ma3IwFb/H1YKUM6PRfV/LIB9rtV8
pn997PQJV0LZGxMMapgwYDEokvqqf6GXBL7uJGKo3Q9JHCNo+ap/xSCAUQ6pPBrD9zVATvuKK8MQ
Sqagaov9+cwcINl/w5UCRDgEX6mKAf8KfNTHvsnM1bxzY4l6LFlRnlWNvmETuaBZ+XYaYnhpSL0M
kP2QnNU38CXCTi5V3q5F57vUNpDkHutolZdAgVrTvfGRBjI3Fo+oq65EL8SmCY9nAUVJicM5gbQO
OJ5BQ7UGv1tYGV2ITkBZS64HIGjNvMq6dt9p4JjNCAc7r4DCldNYb0I69Smkf+Idh6ofwCtBvh1G
A2Albg8VRvcdDVoI/su7wYbVGStAwkPzLmvtIcRBuK0z9TBFcZ9EoJ/U3TiswiYzh9xMU+Kt2nnR
dLIds5Nac5bUBISYPgPlxtZcreH6vGvibJKxWMA7IffaUAWpkfLB8VzIDrtBoiy/bH17Xpd9JYO8
geqX2tyqgVyW9XRjTXgDGRDQiIa5lr7MIWRjnsnQFieFaO489QHkpOwAnhBpOWdqOi8DZFIzOiK5
YoCGmlLaBRX3hPITSIwAHMfdVbu4g/X5IaPRtF1g8CTWwXoe7Pu6asXWIrusKk/UxTL2w3qiUDTQ
zmO+85HbCx97IAqYJx7n9a4r/jd7Z9Yct5Fm7V+UHUBiv8VSOxeRlETpBiFqwb4ldvz6eeB227K+
7v6mLydmfOOwg1XFqgIyT57znJejdRB2Otw7yraeXJTSXZHiNRYOoafn1bg3mnOu8oYVpWLXy5MJ
xT5f2tYY/biwHiGroiwfD2jS+3Iro03Tz4XYZk6znj8LdYB3Oa2afWzbnLfg8e70Q1KYZ81o743C
Gf12cU+aNbMA1vOr0cbvU7dYQ73IurOw3SdTZqPvGfOK8Wdah6UqzpadSD8frRfusINrNzy20OoP
2+SZ4WbnEYQD52ozY+NRkec0t7bVonpev0zK/ogWOWFXPrjW+n1u02+jRL30OQHIvGrfMyHKWy7A
ZdzucWmtY+Ys32Y2gOswNdhrZc6yHxtLfmy3VHbBMlUePJ/9mSf46iTakzZiPLgSXeIatcLsFMdS
5AcRx9fRjp2jQpYeJBUUcuUiPTqrtYZrk5vI7gwAxOmnMiT3k8cJZsfK+odh6UOzNGwWc88OJGjL
nSgJbzhB3dn4hlhb5selTj9JO+mDSovr4zrFb9nGUSJ3o9ImynSSO9wKHFOv3tjO+i4aK3Srkbef
LImluqXpLYsJatOp+DIDdPilXAlnjNwfuionU7O/uEMfcjc9lZu1Hb2p/dgBXnEu0uAqNb0J69Ro
jtOmLF+B/oWr9KYr+5LCHYw1v85U73PUEdfBnvWj3VRNNCg3PdZFbwfagA035o4XrmZ2y61Rj1AA
7oFHanBXym9m91tn92GS8VzQme7uSn42hFf7VukMj7NR3swcbdv0qz8SBjVT+W3QUwtSJzsaXJj+
anuccZrRgTrCqMJn1HzFAhbWmZnfm27b4CNW17Gr7hzOpUEyqRF/v/qappY8xY3sHsbRE37TNte5
7cXJ2qwHYdZvqvCwqvbQejKT80LinLra93GPtQuwzyDRnOPWyj5qO2QMu3h2nFbvzXBzxUravbOM
hKy8JzUv5sFlkULO7YF6M3istxRjn2pPDoGs6jvSQPhUgvhR1UlYkM0rlI0uxHer71Lgx/x7C3wb
1LopIBHQKapAfO5hf+Wl28kj/28q62jBAyxbeq9P/VXuoIC+pK9rkj+uEARuB8qQ2sbHOJX37CKa
L7xMXIYdPFgSTo6WVPorPsTZLlztIRGT/XH16uG9hXVwvyrwO7lgQLp94/h8sepgopiAE1bAB7Ph
pKqLLYx3LEINLhfyTkpkyQ8XcoK19eCUcjuyJOp+g3EcmJ32pOAtYmfl9+wx1bYGD1BpZdCjhv06
MXktd9M4nltEBmNtBHozwBRAdsxyywlEEu3g5TFvuQT/gAMpZLr67B5sTEM8B1pjV37LMojXILJQ
b+zXMjMWFPR4s3fMJOs7stv0tVgacW54m4cZPmVwx2jYgZU4T+6WPmHxEYvwnZgDtzHmn1zOMT7x
yOwDM5aRwsc42bV4k5X3A4xDhbGXqiCV9R3QKLcS35lAGhwSnI1gEdygQqvTYMgmnfebv3bGiCNS
Zjt+N/tr3mpH22gPcms/de0yBGxsn9WyjX6qs1r+n9BzXSn3ZPJfC71fOnA/673fH/tH3skODPFO
y0/iCtowXr+TWPrf7L0A5mGcG/xrx63+1HsGvQj4eI+QCEgdFfYPvbez8NiSdAFNarn/iYnIw34R
ezsIb7rStslWWY0dfrefxV47L7Y1TzpgIMSIKKpvfal990Rn+YZlX3M9JcezXTb7dLllzTo+ljuv
OO3kYtWlXE3rdojj5eO2ZSa6Dgh7nDkVdUqzjmXukvzsMKShs546OyCple19M5RwD2uObNu85bWG
pyzgKrWE/WdS4q5MhedbcJeLW5p+R6i1Lda9Dpm57oimt8Oa1czRldNgzHqanNsd6RQtcCc46PdO
S9pIwX12TclSUt2Y9FBETjKV/rRDokaD8inVwjE1zu8zSFLdSWUATBeMO2RqWaLx5bxmQS3g9O0x
7/weKrX31tOkw0dMef1+7N3RJ5m4xGmdH1Oq8KGcBjtaFv0+McfvnTlfGuF8MgrtqVr1NliK4lQl
y+MwV2+mMT/Gc/qIOjEDhORbww5gVs332ZmuGeHR6nRRIdd3OfRtC4ULK/G1hcpdoXO3HdNti0EP
a8t+B7gBwusaN1W0hw4SJcuKr/qSvYfLeXPGzQgTVWpBnRChLSNQSd5+0CCETY/VddXWcAEfToBz
i377xgocpF3LjrxKdZA7c5w6yXUEQl765sWLveNCv8F3pfmx2VllzahuHvCyO8lQAjNzrPiQATdL
q73lixZOQM+JJjltT8+Fp11JIn+05Xicdeul2WlpCx3k46mkfraz1H3XWteiUkZYVS374bYcOMKf
1qG3LoiW+8LT71qZas+Wm8LO9luwWt6HrTZvZHL5S+z0S4SL8kTX1njoBaSK2ekl0rpIijDek9lN
Cvd1mEjgR1FfOuJbkPo0NAf3lBDsKiepA33Pe2sQGt8jAjaT+i0nFnUnezuMY2kF1p4XZ/z2GgFy
teIF6Qse9ky4XGlmHSHWz2OLI7EQQHtcw/qeSLtDAruEoOr3tNr+Lbgm80wv055mT8TabjUeWmJu
s6o9rpe8YHknBU+a62q6X8zVoIEwHJpEF4E99nd4BlNQk5x31fBuI0mvf4vUNe0l6xwkpNE9JiUi
eUvqy4SaDruxt5+1jO7HEOuXCvA+wub/WIvlXJbOh64oXjO7VSdhKxJcc7m399B/2eP/BYNP02rP
Z1JAd4wz55LYvckNMnBiKPs5YCsT/lyQghfgBV2/XB13OGxgB65hcjdqFtuhOosx78MMRAG9e0h3
ZsH+DV9Yi1mGBUiDWuabZ2rXYmcdkiK1bqsxuwe9U0e7y6Oi6FaY7QJ+eesOC8jEZqkHtnnnZgJT
eBtcdadpnCzrbr6uRBmBPYvRr/PpnO48RjxwUEp3RmPU3faE7nifsbkfjK2Q4TybfRgLvTx0U/qh
KUo7aKz9xrH7i2ZuV3eDH9U8GzerE/ck89WT1lqwCQJ8YtrE0dpczOtldoK5965J0/F9omf0wSqj
mSQ88FxlhsrLHlbhYhbb7UtmgTKNth6UFlybpm8nqQk+2dr1wqktd7qwH0PZGE/9XJf+uOgIYS9f
AreeYK+7sSIEbkUwJ929PVI5Ec56l1Scos2yGC9yURILrDSoCWXz1Xb078syviW18znpqO4oaYAV
ll0XWtxNU+vah2VRV+pEzsekYhBNK+tvQIvdMS+SdzXnpaJfXuWkva1TcUvBqpxV8qV3w6VPcjso
VuNm2stjbtgXI23OebscJInNNOZ3pSxHv1nlexcY8VA68hVy4ClWrheMVCSOS9Zg4nuOC9zZMihI
W11fq9CnsZlhOA8OYPlifOfdvC+XtvdnDANfpNpjYq0KV3pwQscS7c3Y8h9DCWdmCk36JfYtp9Hi
ko1ILjtuHnFL6djEl37jUNUYjQyccbGiqlqr/7PAoLksywC/+tfK6M9ZOD+Lot8f9ke4yq5L3Cp1
j7jU+tME8/6m07fGzfKYcGGgjX4SRdbfdpsL+stwHI8T7U+iiCb3/o+DdcVGvT/ffwCB8W5+gdNt
3cKh87iXwUr1X1TRao4mdijGc+YND2mjndp6K/zaTP4evP99DtM/gc3Qgf/0lUwCYc8AiNcYSPWz
/pJ1Vmo5SSOVNc2hA9TlvlsqPYgd74uaKrYZcG8B2u53e9SQuuUnZw8f9HY5OWk7H/LevHPT0cQp
0+xgGjgZrW4zHjs7nkNH9ua5JdEo9mjDI+Nw97CjsqyHQjTvijp9zUlDCgMaNYN8xkGKH6t+gpZu
mvkAyW7SnF0fbXIVew9YyPsOwx65YIYVfsePggkDQUydmh4GIppB6F6k9tRG7PkN9g2ZcD4dm9Tt
A8ud16g3l+IIN3s1JZTDODcJy3he0UAhH/IIiiZt6tlEkBx7hiTc0Q7yofzqbd69gEZziJtyYidn
z58GJZqgrIF5DcIp1s3PuDi6n+b9d2WMCZQd8mLx8qfGjDH427FiAwC0L2xx0dyuPG1SftmWXgVJ
p32hQIe8BBEJRENyxt5mnpw9TSvm/n6wRpplg/XoTdOnYWmscG6ce9XRGOud3oftvjjlEkcs9e9g
kV4y4rucGK8lztOI9Sa3DAF5Ez+zjVsv9fetMHyv6rvTuOeBHFQPHsNkjmr1Pme6bvsbZzyUyKfZ
dj54zbQETpKIY9vMLwwU2Q5N0cCbzESnygtKQsnZHYrbJobkWHmadSrcbj6DIF9wm9MDkPwaFKId
g8ZuMFhdNgoCpvQQF2YMuDY+DiYWTZphKnbOmL7ERp09aNShrpyS5QHYazlmmjFcQKzo+jWmflz3
TN9OkeUUEzdbvU0NfLAzudVhTlJepLaU387JF5mqC5V9uqmiuozF1h4bIVpfmnMXzqWsP8U6B46J
UmSY2ZRrAeBqUp5hDNVQIjlAELjCxvmUOhnAzWivYTm0fTSMSNCpUdNZ6ym4WebJbVUcZZbLQWIa
EBQcvwCZM8JnzOsj3JX3oYZAPIKQP9rj/N4zBy1Y5kXDUuJcD8QZCvgkvy4K/RJntOPKtKt8e1P1
wfRkeq0r40eze8OulurXalL1UVKDDJeZimGcp8iSEY9RZloAY1fRbsmKwGbi3ak3OX/kuRMHsXLG
MLVpDYoW+gxeKI1kQ942Cba5tHHTYK229EFrWvMyNZ6MlK71GOZpS8mi6z7GRcoe1ye+jU18aK1t
CpXUv1d9kpzXsjEAJYQMemWxYOTdcvJ6lT2v1XiqZvPgCSNsZXESa8+Nut3Z64hr2y8/lLedVLEd
HKe3uPYtMtzhuhb2t0rPI0ognZ+tZSg81y+U/kFL1jvPWqhLm8dm1lECxfeMU1Rn0Bxw1neLgTNY
TVcsh6jShmuS6Z+8bon6rH7XdutBH80HFtSnOY6fqY8cVSnus7yMSrewgoXiaxDPrGUGlp/MEW9W
d4W4JXnriqvoNPB6bbQI2TxM6BbixaOPrK8d2eyyWT47Txs21GwiY6yJnZOEpszURKaFX7haG03I
egq5fglN+8Mo3Vs/txJkon/G/j23/XTtG+9Db/RHynV06+xnrp3nJMsPlTeebas92C0nEFvN+MN1
+nEaE+vUKyR7bY4H18N1nKtI1K3na6PA6dE6jouJeppi9Uz9c+9MpN4p99Yv5brrvjjnV3eHd2k1
mVE9GdbBdBd12db55hTGU2ldPCysY+ON+svgZlPg0KbESxtP2opCmi2ZHOO5zs96D5jWrCzW5Tw+
54tR8SGSfhibM536jryis3EqZTu+y93y2Vzj2p83nDuomDsqmf01s+Y3fegjxPxL1fRe2Mwwu3Uy
3qqJu3PO0saPxyLgqqYUVK3k++OKdpz5QFxzai70mb6YNhG8Z5rpXQbIzLtF5BljVt837FXa4NBR
0ZU86l1Lh7O9zdvuytfC9Vs+s3B0wWq8uK3CuXCO6zB1kT6nVMEwa49aA+GyGdu7rG45QbauebBJ
u895tWSHtWy/JI32JVftqR1c316HD8KE11vrSDrpS8FGZenT+yS1o0mb01Cm5bepKkYf6ODT0C7N
KdPm8YDWADNIrKeuULlvoIT9TFRVlDibPOcxHZtk9R5FWT4nBUbzAOiTr9sx995THK6Dwd3eE998
HWS8YYlsH7hn3/S8dqPYyBLchWH1Y+nkwbRm73rbu1YxbRGvo5q2qE4LWE6Bj/Th/f4FBELMS5hV
3VtMbvyTMvtnEuT/FSAYOAgQ6Xjw+LsF9bMAKeqS/p2F1OnHqo6qraKm1PZPv73I7/Mrfn+Vv09g
+LlW+d9oOfzlR/5n1TVxzXQ+rX8tgw9/Ha74d8Tw90f9YQ1iyel/Vhr+8AXx9pC4hgVHqCFFf/YF
PZduputQxLToY/5VAiMwkcBISTqfzn8kgX9NgTEGmTKH1HYx8W1zH9Px83VRu7NO0kH/0Jpj8Fhj
fLOWOVrM9iXfituAmrPBF376eP7JtUgJ5Jer8bdXxXh1LeaDgFzuwvyn7NmY8rYd5GD7yzovIOEJ
0wC6z/XWgCtstQZ8P09F44+czO9mMUOoe5l1ttzJhF1rmLfRGCIaaQ+6qu7pQKv2vOju9kOOvfjW
V1tyz/BKKnoLgUguuc9Su5N+2+c4U8bFXvOPeZ8+9q5zEK4ldieBWRx5eyMovw079dZXnPmnpL9Z
SWP41mZ/LGK4QmaaRLE+HkajChNDnzDzdoSpFN/G0Xmc16W/44nvGML4uNZEwUTJ2IilfVrX/MAk
gUM88vt6ICvprCtfWtRBDPuBpPDBpkv9qCcLcLQTeqYtDoRWlXuMtRXoeHE1XEg9BG6GWBZxpGbX
fjSMmnpEEtWNK31hO91lbC0V8kzk82XTh1rVabc0meWVBH/3WMv2Oy3slZ1A1+75qLPDPFF0XSrA
nHSWnJPHwlguVm3nR4+YYls3WBv45ydVOzLIUsM5T6uzBuDN2nHWlBXKroGrSmmXrf2I0ZC09olI
V4EDVXfuUIowKfhk5XiZlXMZ6u5BNK3yHXDMwE7LC1UZdZ/n+njxprU9kZw7h2rR8ZtcSjHkM2Ft
sLZP8i7LgeAtcyfTKvYlp+Ak0S7yTRrVcpiBKcCx5V0dW2T1sDOBUMW5QeMCnD71lpTk0pgP9jj4
SewdRA3hlcvkszWVXxjtxvFDWUepsuzDVBvZeWnxUMZFDQfeQwZqWMpT6q3aw9CuzUVHXx6HwSvA
qCbvxRTGEw3+LCxLy45sKx6DCbL7G9MpbvoaM9Nhbr1j30ywqWP2scMRZt/z8mjQsN1R/Oudcuf8
OjpjtyC8egZWJO1jpvfezdbjD6NX27Twc9Sa19rRYNqvibXll6IY50dhlhtoGNMsfKc13Guf9vNz
WrWf7Mk4VR7zMESbHGqjdH1zjo+DgjhqzCH2zcGLTI9tfqlihG+H3k1dIz56w46Ddl1+jJMi3um2
OSyzrYaH3Zurq7w4bvfsdPZxktM5m+srW/KZ6Rl3a2Z+F2ldPfdSXYXWfiuVSdINwVtSvOGbFE8k
+DhtezJc52MXKhvhtsVTc3TmGex2z5LbPVVeHPWx2HNmSeDcwzl3BND9nkRXeybdiu1Ie5BSA8Ou
0j23XgmwAQUKH9L407Bn28Ih5R5mtXE9GANwGBHdNH/tEofG1XTIHOet3LNyfU/NS0hogxg9M9w6
cOjlyJwG9yaS+5jbMcBas/1UU2FZEQKTy5uNpR+pX5uRofU1EPQUc6g39UfL7bInbVomgzdd4V4q
+4TIO0OpmDTg68gaZRrEctwiFeOIp20GQGcyNEjrNYa29I3xvFIq/9hP1soFaYGLrPX7Ps5BMtak
OzhFypSXJcsN7sDaOAuhesYYZQ0l1rR1fSu2W/SS0z1kfPFMlpG2Exolw4qsPsYMNeqpfI+RfAN0
e+xz537iS/dpkt5V2gLRwqnoqcc5CUhBviVNeudO7mVSXB1GrO4Bqx8ygJwOvKYb4yhB1q51YgdG
5maE5cN45r8IK6ikhwuoTiVS99j1xLQaKwFqh0FCU/25tOiiiJigvajPGu/BT1RV+5o58FUW5dtg
TYqxS/plLccfTV9+knM28EganKmd5UFJkS60heeE2+ByiifxCJyymU5a5x03EBfqbXHK5KXkWM/C
CNSk0QjK9nIQNw1+t62N9PnqOuyXHDyZNlHlMnIniFu9e272+B9mvseLX7tbnaiLipe3eHXexGi8
kQNgYe6lpYb2EnfDD2evMyWFdkA8U+MY0lObdupa7+Un4VGDSgf6vvMy/WhK7aZ1hDVy703VnmPy
v8l+O5Gf14RhA2mVCEbQxPL87/fdfxIC6ixzf+y6v9hdqVdaCTeS45swRPkB5DqW8qCbrzar0sBw
G0uE//4Vf7W9ft3n99/op31+HZesS0peMeboZCQHzdCidbiTfbpni/+ft7d7aL8M+0LdMjjQ3d8i
8uivL+bkbY1hzos5yVM3JUd+JnTLh6nqb7+9q//lMhcakK/vX8vcP2bn/Wz2Ep/vj/qDeGR9o5qL
KHWw7y1k3+9KlyEluFUW3V1Pc21PB638MwF3KbYQT2uMerR/bfzapPMetwAPRiv/R2avSS3oLxeI
5rqG4fFSSGradTvf+fPViKTWxqITYGOVfLZ01VHlH9qz6PX0QI7xCL3/rC/5yWPgD7nf8EmrndMs
aX1q9QNDgl5Ysl5cw6aQsGUHM9lHKRm32cFfnBLwvgoS61jylP7sQAaTlbeoyv5WmvbdyEgKpcE/
2WZms9eUZ2ymbwm+zhobx6yP4Zq17lY0xm1R5quZxd9yfWBAQGc9GFr+ocgmed9sKgkGBoX45GTv
KzYjj73WzxZtDkVjXsATJp84dD1kC1B2pzkv8P9WIDp5bob8MpjZ0anqT1WyyacYSHncJrJOQzBu
RLqHZBOvrrO+eT1zWWZn+WBVyzXecLv0QXVBN2ZV1Mv0g2jpWXjmZ/68QhcopSAYi/6TMlB1K2dZ
sqGSGRdLcUiyLijK4SCk8X4wx09rsZKTptGUOu90Dz6lhMyif51tEW3QLJRuDKNnLU1UKzguyXkg
ogunQmYT4dDU/btUpMhxZ3QuWm+9Zrp5cePC8Ddp3oaO/mHar5/nZmijRGkMmGlgF6cio01sFG/K
sR81LoIg5xrxK5Wzo1hfUGkwcTZWGINLwoS2pe/GTeMrq32WbYbHNMziW7OUF8TESnAn85PoxnNm
ThdDqsGXDXXNVg43jS+2Ki1QognUrE0q6ldm+a6LS6RoC1vI+LG7yfHIqXVmy0iuEztr8/veaVq/
pD+oPOdx6uRV8HZ8Y89vDXqLhmSG1mSRvSYOpcZhrzcypum1nJK7it7jqBnhBDhAuaPF8+fl/Ng1
v3a0JY0ukwEmVh3ZGIR+SafSzmhm6LQsZ71K6Ccmp3HvXzbtecyZ4zGWi08tHjsCx3LFnw4Hsbbh
sNU/oNfsQ9FS7awZ/RISxeK60Ps0NwdoliaoLpvXfHNeN91452Yzp4W9NAqngPijR7rshVK7QgtX
dEwJMCYwujaIRXbzSAGyaUvptZj3Bg+Ilr2uOu3F1VHwZciMuD6f9OW49Ryg1kwsUWE5P5gVGB9z
Aa+V0ofFjHlY6Mcmmutnc+f5pdWiFrOWyV9kkkG6F2vVSk930mhoTetxpHvbWHO0sVyAtHIxrgYF
3X50r9le2S0zM4tEwvCL2FQGs8m4KttuFP4q2xcG7hfBuGxfibIinNjXkUpwT5ub+R20hEfqwvHe
G2bTZe5jDblwR63nYeom6128N43tvXPcL91y2KghD8JO/EWjmcyEtewFRzTIHabS4baGQCTjB2UV
RpDJ7FKnNuIm4fS7yx00D53/hnTG2cVQscui0qtyOgdcYXzWHHec+lMn5h+iMy6qYkDJ2Gq0/LMF
qHJqax94UAEu9pRxEWTt5Pk5Ai1pVxxVFFsGkefXu4pjJfNbVWLIuswdocIyns1d9dl8MgSz21Ht
ojBzz9rZRCrOu2Yke7uIOr3LRfaN0AYmb9eXcYkdHXt7nIH2dGvr3kWMTpa4mrs6tX8TquQx894v
scL8NyFr75rW3tWtXVKWYCpjHSVJj/hddh2MXwIyO6v4i2V2LwbDGy/D4lWR7YzJNWNm3kevcOVz
kfb87GRAsA6eRyM3xqjTmo05R2tKy9jF7RyZ5oBsr3b97i4VQwZggbMn0K5HMPbCX8U0r2FvNW/E
Ylblbzu9u4BgE/sU53zOnUNcoQPZW5pDRfh2SkQM8gOISCxRDLkKtMyZsMchhQ1veSpAh9fU/MyY
FyYIJFXGlCdrzGPAgimkdQ52DJ6aX1NQZKx9Bsj1jyLLH9KdVWbq5veJHpcvO+bxTQDNDmCzo1UP
BqBzLphvAfjsVZwSCfaV2UUTYHTecMrTQKUNYZhhDjzt2nJqGAHhHkRlvJg7YT2DWrtwWYd4p68B
hUdfGfaT3MnskpmgobnD2vr6qv9GbxfOydx5bh2w29RwUAG9Hc0NG351RlscU0Dw2e4OBMI+oykg
GEHFFxwORrje23TyYlDykX5A0xojWxmQuQTAGsHOYwaZRnC051RH6ec7m160mM8FwDtDiEbrqXd0
RgUYmkvvXNXnAbUYODvrvjTjhXwuP1OmyQJ6fma4Jp4IhDRHNuwcVH6H5hfoefc3ih6c3tYrBoEY
4mEUepg53R1I/ZPS+O5x866TklSiSrnPBgE7Gdwqok3WBWsp54fCYmQAh5nJx5nwfCmmj3xwV3of
sd/vFQDaBAze2WsBg7O+VPQExGi+W2LxnqmRg5/vELg9Nw/b3i3YSwa9oCtl69mXboufbVF/HpEr
nlJzmNVypcWwR6weUFSzNxg6njqoHPc67gnWSM2BW30JOIZndNs65kRShpj3VgSK5Uslqxg8hNkC
yapOK/78NjQjQyhVdd8s8zczZ9LtpHPobdbXvKSjK0mQY93IT/beyeCQvV2dzv2aVaUTaWYmwr5a
fgiDAqwmu7O7shvqynMPRdKXIXR5HeadGcGBT0dtBXLTmbDastX56yZulsoB1erNOf5vFO3/GEy/
m8w6UMW/Vey//m2AP4X77w/9w51G9aCyIQt4RpC5f8j2ndHYh/EwCpCUnj9jgKD/h2yH0TAZnsSf
2ULVg3ZwGvsZXMXs5r7G6PRAXv8T2a4ziv8X3c4pktYmNjjPRusew/svur0nFadMQtV5YFhd6epf
Xf6AGXQDR2iXbF6bUFpzi9hO5thv1JYQbXc5457h7RoBmN9nqR50ZlaxbiNWmNyGNcZc2HJbLvns
nkyiYBeVwIi2183OHkWt6yhvasiUIPu4e8jXCrd2nX6UOpjfCo1othG/6cvQaBWh0GfKIE8qgdrX
LeeI1qBhqakP0l4/pUjpDGuSNlLue9PynRFd5GRqvKpOB6gabpVM6by7PfBUZUClJr2f9+KhmFiL
FZ8H6JNX+Iv5rBrrszdoX+wWJeW5DCUtzA+JnE/zKDu/ardrEU/fY3WVqetRl7EWLIr0qiRjZ1pm
heYWkZRh4EKRrFEQbc2Dasz3/fSSbWwHbN2G3n/WPLEGDWRH168CFxBRbSTXds7msDN6cnWdd5la
yIKyfewH83lsjShmtG2o5/J5Xry3VtpY0pMWbg3AWpFYj3073CQjWYKuTFDU+aks5DlpJmB+h91T
d7uvUsn3/YqP7Q2xuQuCs+FQjhil2TM3dX5KsW09LZ/8nGRVZfTOvCbg0nwYPLrT7twFrSpClQ33
WbVGAsRBWExpK5pIT43INtUN0wD8wzBoU21+7KiGdg5WsdE7zHWLYqvw4B2y+7UEIWuhbXOv0BhF
RpU47tNvM6R9LHMGIljtXV7gZukTRVAPHCPwYhs5mryThXxKK3qujQlR46UZI83mSEzJe/Wkjm0w
qH3TKnqWz5SSUuCB2pkqLcJxmrBf8uZqLWc90U99lr8sNg3O2aYatlqvbeyUQcHPUsOzzxjNx4LR
yv1QBKnlvdJrf9/F1meli/2WMAnVy0jm5kem7T70rv6DEhMwKKe1RNt56nhA5bs5sxyb9X1un/Ds
4VUYXFkV5ndmG34uGk569Dfo2izvzN47ecDUVA7ui46cudIvmnT7S6JzzKs/N62mRXOxvIszNZwI
MqNsE2O0alYS1HZj+wbl2MoZQBVc+9ZpzFcqxhHSydX96r+YO5PttpFsi/5LzZELCAS6QdWAIEiK
VGe1lidYVIe+7/H1b0O2M+1MpyvLHjwPbUkUFQxE3OacfaepcJsIOvmo33PedOumoUp2TOP6RLbR
BfZdZ8/tC3t3hLTSxhVYSJo6oe/PeIBJKY3h1u+nxUaYlWvbx4eoWIBssyLB3nbfVknpqWpkbLWu
PUefiWyT8BqPnhrtgmRb+HbtcShej5SmtqXqoFTmJ0LBAzSmY7we1e6WmtlLifV2k0Tl4sewgD3R
3yAlU2iJ23xwqvCiobPXQGRO4R36jjV6c0yCMcQB5Gfwg7oCLrDohDdpIy7cgFiNHeq2aekB2UlP
gHeco5eQG12UZ3ivHWzRQBVM1MLFOK2kEk94vs1dmmvRTtTsBtbDJeIEmQ3alPodWO5sCq6COFCo
Twx08iV+37q9lq0JZM+fWP8yIpcPVYxQ0udhiTd9e21rkYHHWTFcp0xOTJ2oZLJnOgRDGPMTV3Lu
oQ8C9lmH6qlcvOoThe3ChP7gFMeMUMHqZc8zyiugxF8VOOpBc9O9Co0lb+qQb/kskN0XFK2FdfL2
uw0nAX+J+XEKi2ENNjnF+1JgsQqQjra8VBm1J922V+Q5rkL0z514ZJkS0zrnKTBdn16g22ydLnxt
FRsQT8rGLg3pGuYxLQTdMigDIFO6y8oqei+HHbAyouwYqqMnBKvTFaFDps/GqMU7p1AezcQbGw35
3/KttPKuMN4c2U4DWnZNae+VNnlyYtYuL8LXMn0IeNCwp6sD+zvguA183Ecy+zCLy2BUj1Np7ZKZ
rUrJ/lYAGuqVcosKcABOEj9V7XSlF/l50qaXUUtqio498GE+WL6P9re7jwfw4VV+ToljzX3yNJfR
az53EKL28GAoIZgaYGp4HOSsIbaGdTQHG7+In7V5SJAt56Vn2MHFPKMHMwcHn1SWnZr5s15jyEqc
lGVJnsqJPTvsDCdkowNZhHIC9n/UVHpT9A264S7Tyqe0xoc/Nv0u6atrfb5Cy3aCaFwvBqJU0NOh
QPgRnmUmLE5QFU8LClqehGPYuf5SBSIYnWbtURptCLqU0oYzlu+tJLlRlYHjShsz9PcN0XTdOCBh
vYIQ2R18tgXnb9AoMcyXECxWD0u+bfaTal0KDJLlqCT7MDPdwBkcajoMcdCgd3DmzyBS596DhFBu
mne23dw2ZovAPsJQUugdjUrbOY8k3dZm3spgN4EaPQ2Ld0J1CKjpq6zD5syR6IvCMDjXBzyAPqn2
xpDhtjBNjKZz9gRuK/ZKeKKhLs+bST80sTxU+mUFHIgyidioggaQrcGpD2kEuLAEjVWQIW4x2n6t
R1bqTbrMQFstsO3sMJG9Yhm4J6+gRYsYMvKNeZVoU0tKn3yoFJgD2Rk8ueshiyOPewnEeQBXJDFP
8Zm/tAJ5iizI9v1Odt4QpO9lzR1hZGF/ULpNmO9MlNXrtpnhKIBiyNgIPfJpMj+5G/Lbsn3JbB9G
6GK+6NvbGYvERpqUW/wRs5uRGPt84jbSmA+76qMphHqQrowqPebIWbzwvk5nyEN8UdBMXceFeTFF
ixkP5SotvE2dJrS9qzHElBhfGD4g/cJHLcU1gUJMRcYU46LRjROp1Mco7DdDiPa7K5wSuPtEERUo
kE1YZ1ZYv1VuYtsnXCqL50Cx5y2CvdNAPFel3uzAH/VYk3T7PPDFO/8J3QOtZhlJ1xqqi5GCwZrC
0GOgJWweLvJh6uGR1Xa7drKdZo25WxpVfVZrV4y8aVYn+LbAmFaEJWIkpsLXtE3TYr7WHB+mn9yV
VVGc5HqtrtF40GsM5KLi8k+dGWRvCDFRR604O/UHWouNNyjxQWOuh6NSGMsbayumAAVri7+gH4ps
Z3KzsdsY4yAMT9PycleQ5yFEvR4EsZKPqZViQQtXCW2AHV5OwV4fnmmUceVqBCI4ezeJxUWFDPm1
/LAQBVYyOy0Ch7gtpcE7WNcZpwxF8D3N152d+qDgG8zrCgC1gfQNKjBlMvNiqOC01dHA1IpQumKq
+n3Qxe8tRZ9cWCMaUqpqHdftXZ9WszuIjFMKudNFqwO/m3PjXSEUEIzltLYT1VzFtdy2JRXsKIdn
7HNnj8k4ueTJN8Ncw+5Q3iN4ledqRcxkZ5YrBsD86tRpKy03VTctyMQvNXOwt5Te3oeIrGDrHRgo
cK9WJNs8V9jZ2GV3NqMTEo2qX5EnoLnpu+WpclcUTuMhSq3qJj0NO0BHne8zI4HDMTftS41iRl/N
r83Uj2gtTHXfqsZ1LJVjRljIPWXdRIVxg9+KA8APL2x9ghfckurjohdbhZqz6d8p3ItTViCjU48d
M2MKSr1mcxv0cAyAmkDsKndRHGzNabxp4rtBU+580wIQ5d8ViAgoymUjPOIhWFE6POWO9+zYii4U
nrCqElCE9LOk5g/kTXAsM1PBGF+1asHUoH6R/JiNWDzAM7KyG/WYanWPyFn37BCGctsF7zRKOYOC
/pl6mI7YvNkUjSqg1tXUYopOcVV4gtwB9qqJo30RMiKg9RCBPJdCV9wJ2+t6GPP7NO3uEcC9S3sQ
CUHH6d21fJRNfJJDPs1LNpzskgsM3LGrjGG+iQcoV4VlbOch7PcU2ZsoSg/xowMTGiv1BynXg8pl
0eOHcpVwvqqM/GUAKuC9NIN1aPhyI/1NXlFDQRT8nFBMX0Q01zPlJNDqVk2xvEWfPVHv4SS11z2l
+POgPFOtmcUImnFVokBQlQCPdyZ36LcHPmbnNteM+3HOUeka1ZEwkCoRN1c22UcO/mtUPBjhKx+G
NTtHQ7FhxFAXJja2bKejWif6VsMUxpPdrgpNbvxyNpD6WO/LYrY2js/dYXGr0sbfwAiMd0Y3XKcz
DAQLOT/vtGmuZx+xZXGZOsG8h/wShMFFP5/14oanoL/UBmUrtTg8DRNTR1SD+lCnRBIJmFQ91Vkf
6ARhKjQFkqacCnu4bP56tyTEsa4XqxTqjRvUSYt5670WhK+NGVlerXZPYEhpv6OYkHqIXmfurqOE
1k81RsIzo8CzLQKRmZJ3IA+FyAUqheFMxVpPYwMoZIxNFFY48LT92NsHRjwVuzGgXYMRdqtbyrSR
73NqQTR3cFrmUAQ2Up5PedaBb0RXOlQIZv0jOjDf7R30D/kyLck6SSi9rmwEC6tUK6cDlUnyZeI+
+9YMSQJ8MxldnxJWrRiOx1CReZsEooWlUCWMu5guKtiQWzNQkN3655VORSydhnkT9pyV9bhN+xkM
gcOe5QNLLkqH3Qhw7TnMScERV+tkxZdwRyi9l9ZzXiHObPXn0sz3oiiW+Dm7M/1+ExjOFS74EHjP
iBphHJhylMgNRwMgdqM4kMfmK1IEtgW6p45Mzp3weq7oR6NyU+er1Je008Z2txzrhmIfc9W8LUwa
emHanFSdfWZ2XYGWlzqxLafS80MeWdXZLwRWYohRjpcNhqrzxiAAI0wxT1RY+rE05IElXYPjo/rM
UvVYLIn6jTWEYLFx0v5BTfSTqaAWXzTtcRyzC6c/NcyQhhCrog3qaZozQinIoQBi/cJeoBheKm7C
bFG+a+AESoFkXs1uWkHiXRjCP61Ne6P7bjlirdOnacsIlRuV8UxhCru7Ns5TCpkbtR5gOcSjXDWZ
2FCTyNbtyKOu3A9RdD/MUA617IwrBcOnxu1FqZmQoSeFC++mODfOevhUlIF0zcvD5JjX9iGt++t6
yj4oDfMdKmnBU4hngPbhTHOGrJOb9RWHx15I7b5KUPqbtB9WptntIhM/hwqCCVFEtbPM7topF+l9
Ht9Uw+RvB8XEthDdUARNKJaUp9UI4iJU/R4/xzbQX6RPBtsEqe0xm0hdjT3tXX/ajGLa0VRCLp04
e7NCfbK2etqOSRo+JhMDtKoGrEYULHaX87zAgmnW9cWsOF4pmG+TEVkMU0LGTF1WJnKfTDNoQ1xy
dH0zUA3laTLy6iLsd7GU+yrhUnKyOxEM56KIOqo0A0ozvsMx/RvDHy6coJs2rbQ/5AzTmGteETBW
X4DYd7InzntPYZDZKp6M27BMT6bpFcyePJ/VInD1PkcoPGNcsmv0/6PH4uIFoOc1Q6WlzQQOYvLU
cS7XAdqL1WD3/lq3u/eJoj1bUXlp1E6zzzFnOx2RYaxrAPizQ7NAD6JpAIVgpReqRb3bNkE5drXy
WPfO8+BHKR8UHJFwth+03CeY13dRlMfu3BEaTRbjMCr1XZunhzll1zThNuiUkyFxaG6FOACGjAWY
IRpVRqXtdRJiOpYVPuekf+D0xWAwdO/5mI+aWWu7csmuqc8RUG8no6Vfmpu9R0hYu3lcGqD86Ow4
qY1tR2lPqSqB2zF46q+ZqUPAFjybIAJp0Pg2hchdpScY7WvKPIimmMPAeKI24LCvY+VOH6tzXFrK
mdWgXKd4T+/ONBO3pMHlWlGPED5Ds6qKxxTZoKcvn33RHhM9rjCPZAnVDXp4Sf3QZAg6264hvDDf
wbUBtCkV8jVtm3fNrSLb8dbRw6c6Yh4TrF2kW9gjLQCDKwJdKkf4sfqcUnw9jbvSNnYCq3TCFIq1
ktjB2uj72d1UdvHgMK9gkbzj6S/m11IxIKDp2g0b2FqDmhyZNaGcVH796CxBCyjGg59R05ElHDmS
/2eB/NRNFMmZ14cnDclgl6urIAzt9WhYIz1a4rveiNdGUUmUWeyf0gHKYXDBYAwTZ/XsNfRyQ6M4
ycquWzultk1DcZhhy53kNF5mSaEiT/31PPrnDUY0VGlIQY3CpnxRnxfNA++enLhQ7pyppCo5y+cS
LJfb35laE63jYLQR4geT28VIWaEPcQZCPZGmvY6j/EmUVLMKs1XcKvTP8sYpT3TfORiGuPdHQk4A
hGRejbHX0uJyVphX4xRs2DlyBwlbsbOKQwBbmN2rHAxkfYPKjIaqclGYUMnJa6TL84fSqom2mDHF
SK1NoYpgX9mEBspOGwk+e1Ka1Thj+ZGJf2e0VGzEfaA0KLjMGFQfFUzHhE1XmNFFo01bPS9hOMKy
p+KM03emxQx0c1FGlReOr+6VLEZHTGzXx+3B6uQDo1FuRW0ymsvLx9Kj930JcCAC7VgiKg3mym0D
YW9beyB3slE/m5F8XPqDalHmbtH7z1OTXUwUcuEEtumm0UMF2xFyV1mUwcGnQCKDiI52PwK18ZOd
YWqAj671S5NxGq6MUSw3RXpDGSdZN0RO29gOd7TP7uDgI6Ajre0q56GrEWGPklrkWMzUPWxAjrLb
IQN46DSdZKyGq6MHFGBnHSJetCcnbam20XYFBuFSmL7pVDtaYyekhjfrNyG3vL4c446Z1J4Kbkix
x8fGIvUS8C6oY8UXdSxSzxrpQsMKWOo4k+pOeodqVck3RmxS+1M74rYYgm32xHuJ+cacwWZ6Xrg6
Y3dch+fWKKj5FUrwQbXwDWLliZMUBWuB5HFhbVK+evYlmnfkxMUlWOwkbxgKxrSTDZTHYaVE7Wsv
M1xIackTor8UOqE9B+Kzw8WPiZCcydDTrWPl53qqPxvwuWG0KuQrVNnxznC7mGgYW264ELTmKXTO
G7HUvJ2lGw/R5KSaT+sMvqAy+wGxanwtu7ssqWipiGL0opG+pcnnENLLRefCvT8MVu1aJicU/jpq
WNVIdb6Ug+fMQ+xpmfMezTT1PqFwndfb2Nw4ISQhGR2VQlsYIM6Z1DX7MtLLZ4aW3bc5Vd+srfMd
mJzGbSv/xbar3VA1xkZI6yYL2lOgSPM6w9o4hYIAzUyvTKK9VVQw02Ce0qcQ/Kavx88ywUqnWBS6
39507HDn4uxbg4JEEiSnpeQXenGp0OJgJiPZznRLsgMMaBZnla8Ne1WeZdKetnYQdySwQNo11wZ4
sKaKX6wro3+ZFPhAVs1yxE5+J2KU21IRr3FvXEWN+cEfl2qFfSNze94NaqKQNr7DuLBk/cVyebYU
IFNS4lugx+Ytzkfi3Kx9VE2F0SzaTTeOh0Ht7pySOAXkKULsoSYvCygqklKo69Aha2as0nza4kO0
oCpFuhOCrJevamrS7/GDR2ROM/gzhwM0nYjxwKkKSnsizvo1jAsOrpYmLHL8cKF4atDwjalnv3B5
2YN9jnxkV2d0+FWcSYmSYnK04JOP+A7EZKEdygGMxeNK6RF9aE53GYOlXQF2ubNj8g+j4XQqUrEO
p6Jkwo5WbpSJjRQEjnU+6KXYpXp+VhHMdpJ8fepIohIB6CqglCh8Gm3LFisbedVA50/mpaGV5m6j
Dpg2xlbb6j1/ZpMdlJbbEKamukGqMYkxcUWcNCcil9ZaNa8DB6FWHJnMtxDV4GY902ic+LTtensF
T5rJqVFZ7OESQEGjr5Z0FSNbVbp42R2ItYNZ25fd0EfrIOcMo9WIXTuSXpEPu8QvHhoVNBZhBAJn
R9h0QOzy0Eux6yPrcVLq2EUtGV3FN8y4Gb2pYZLhstuVmJGg+C7iC2Z93peN37pzq3kKJBv0NBVS
4OSqDGuohdFFLOHLhswBEzrXEOOSvM6wVguFvlKjrc4sWcQneuAKQ7wYuFqsejoWcBCNttQIharL
EdQZpK3OK6fkxqp5ZE0fU0a0zA9pyKQnhp4B5lWPKm4Q2rFeZRBo9zp1TrlbdJWsMoETiaubFOmw
mcanhpyTk63wF6Ico8Pyg+ZX09a3LUaNVo+OPvtrieRjEj4oYifcBbSakXu1j4iPtn2bNF4lekGf
ta33pEEao8L0J/VxaW30+YRujgGDaoTb/cz06hoIVtDP9SaoECwFinyXrZ6d2H4M9fBY+yole8uI
FsBs4A6VPBVlyxwLBmDibZkZqdCpXjVblKaIe1ojpoOF92BiRAojVBGrO3bziLUbF4CWXIHchVin
D4/MtinRknQZUyiC903DfyNfoANQgQiozPliYAItRSMIMgXu8/UE/kMYp+Ug0kMRR8zrlBRBIVeC
0ubGiuczbXjoFQpxehbc956zZFm5AlexaVuKxYqsrrIx42dnFNk1I8HgudwAKzkitWRsbEBtNSXK
juE8rUpEn8+9gsYlllF8mtKxQqmu7YxFNmqMs3WJ5rTDES599htjRJUr1ZbKOu3EuKOtfzaYyPQo
mJMyb5mMKYDEAq4hARS5jWK7SG4rWzyoTJNYjbHxoezlC3gNqOYVpNm5aUPI8xwg5UI6V8VEn28J
VpnnhanbKWAC0SOzZqK7knMD0SDtwllZSWa97ZBkEjgurcKY+IBSzRJR6O3k8eFa63JAcTIOwXlA
bZtWaM49WIMpSK2LyTxh8smpAVC7jCobT/DIfDo4KqnTMU2kotnRqilmlcu5N5x9YGuHEm/RO222
dK9MAuBX/U1tXKLu7DZpSQtU8cv+o7/tf9KH/8xIqK/Mkn/7Qj8xOOrTX/LN0Ze/D9hevvo2WfsG
uW0btdPfTSb/u2/6DOb49gv9L+MyDRQpXwnT337l2/v57sukR9539/zCaHD5m25pCL6EKd+E5ghn
vh5R7yxzcDQNPYVu6gKbJL/wi3X6sT/yrwND//o63/0L/pDsfJvH8iMLAZlO1RcInAR5ouKS+GIh
nN+WSaKWZoKUxLZpLLPZf72F+MbIjx9ZCJM2AZp/RErSlDZugC8WQlOXAR+GUAFdGWwc9aPS6lfa
EcixEF8ZHz+hjyya3x+1/+nZ0H+jWchSsB+MN6jO1yshfsOe7AidO4bxIww1+QW3xCcfyk8fEhJ1
KE09Q8WnYgpsyV9uCYDeiNp5djTDZhi8+PW2hMM6/BVn+SPPBm4dRu2hVrNQ38k/PRviN4oFpo6T
hmASGe/H4/lXejY4Lb8xZflHFgJWEwZ5Ays+2FX5p2tDhUaF0tGweTpYL511+uVOy2/xC35kIXDM
a9S8OHQM6iBwAr5+NJgVjfPLxKfFRfpL3hrfIPr/yDoYOiEE5SnrbbbTn9YBn5sjMLmhlxV0FMRH
cMT/85Px30TD/2QV+Li/DKYw49mM4NR0pMG68XUMoWlcnQRSpoZCgZ2yHKP/9Kn4Byv1e4DqhjTl
3kLT6KX5VnD6d9/wOTD969c/xWJ/qKu/+tabqXz5+Ns/hmXLv/9zfGZ8yTpq2jqC8vIWMn7x1c8h
5Nuv+vTzn/7Gv/72r37Z5z/s83/uopf6WFO/evvC9OmdLmPv//2vq48D4z/qvb/8tH8/Bv94S//+
19fv+O2z+Rg9fPdXfG/e61t6sPx1P/ji3wcJ/vSrH+vs+KdV+TQA7mdf+ntDQH72tT9yp79+359u
95/+NDcvNZvpT4vyGVnzs2/8u0bhn33xq4jHLfpyVf4Ig//Lsnzrufs9x/vr0/g5d/vWj3192izf
8ZS+HOv//B8AAAD//w==</cx:binary>
              </cx:geoCache>
            </cx:geography>
          </cx:layoutPr>
        </cx:series>
      </cx:plotAreaRegion>
    </cx:plotArea>
    <cx:legend pos="t" align="ctr" overlay="0"/>
  </cx:chart>
  <cx:spPr>
    <a:effectLst>
      <a:softEdge rad="31750"/>
    </a:effectLst>
  </cx:spPr>
  <cx:clrMapOvr bg1="lt1" tx1="dk1" bg2="lt2" tx2="dk2" accent1="accent1" accent2="accent2" accent3="accent3" accent4="accent4" accent5="accent5" accent6="accent6" hlink="hlink" folHlink="folHlink"/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f dir="row">'[Tabelle e grafici - report finale.xlsx]PATER - Anno apertura'!$B$5:$M$5</cx:f>
        <cx:lvl ptCount="12">
          <cx:pt idx="0">Prima del 1861</cx:pt>
          <cx:pt idx="1">1861-1921</cx:pt>
          <cx:pt idx="2">1922-1946</cx:pt>
          <cx:pt idx="3">1947-1959</cx:pt>
          <cx:pt idx="4">Anni '60</cx:pt>
          <cx:pt idx="5">Anni '70</cx:pt>
          <cx:pt idx="6">Anni '80</cx:pt>
          <cx:pt idx="7">Anni '90</cx:pt>
          <cx:pt idx="8">Anni 2000</cx:pt>
          <cx:pt idx="9">Anni 2010</cx:pt>
          <cx:pt idx="10">Anni 2020</cx:pt>
          <cx:pt idx="11">Anno apertura Non Disponibile</cx:pt>
        </cx:lvl>
      </cx:strDim>
      <cx:numDim type="val">
        <cx:f dir="row">'[Tabelle e grafici - report finale.xlsx]PATER - Anno apertura'!$B$6:$M$6</cx:f>
        <cx:lvl ptCount="12" formatCode="0%">
          <cx:pt idx="0">0.034862385321100919</cx:pt>
          <cx:pt idx="1">0.051376146788990829</cx:pt>
          <cx:pt idx="2">0.064220183486238536</cx:pt>
          <cx:pt idx="3">0.020183486238532111</cx:pt>
          <cx:pt idx="4">0.033027522935779818</cx:pt>
          <cx:pt idx="5">0.073394495412844041</cx:pt>
          <cx:pt idx="6">0.10458715596330276</cx:pt>
          <cx:pt idx="7">0.16146788990825689</cx:pt>
          <cx:pt idx="8">0.22201834862385322</cx:pt>
          <cx:pt idx="9">0.13944954128440368</cx:pt>
          <cx:pt idx="10">0.011009174311926606</cx:pt>
          <cx:pt idx="11">0.084403669724770647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it-IT" sz="1400" b="0" i="0" u="none" strike="noStrike" baseline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Anni di apertura al pubblico dei Musei/Istituti in Emilia-Romagna (valori %) </a:t>
            </a:r>
            <a:endParaRPr lang="it-IT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endParaRPr>
          </a:p>
        </cx:rich>
      </cx:tx>
    </cx:title>
    <cx:plotArea>
      <cx:plotAreaRegion>
        <cx:series layoutId="funnel" uniqueId="{BAFEBEB7-DF88-49BA-89D9-63F0A8B046B0}">
          <cx:tx>
            <cx:txData>
              <cx:f>'[Tabelle e grafici - report finale.xlsx]PATER - Anno apertura'!$A$6</cx:f>
              <cx:v>%</cx:v>
            </cx:txData>
          </cx:tx>
          <cx:spPr>
            <a:solidFill>
              <a:schemeClr val="accent1">
                <a:lumMod val="60000"/>
                <a:lumOff val="40000"/>
              </a:schemeClr>
            </a:solidFill>
          </cx:spPr>
          <cx:dataLabels>
            <cx:visibility seriesName="0" categoryName="0" value="1"/>
          </cx:dataLabels>
          <cx:dataId val="0"/>
        </cx:series>
      </cx:plotAreaRegion>
      <cx:axis id="0">
        <cx:catScaling/>
        <cx:tickLabels/>
      </cx:axis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dk1">
            <a:lumMod val="50000"/>
            <a:lumOff val="50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3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3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4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2-15T12:24:38.556" idx="11">
    <p:pos x="10" y="10"/>
    <p:text>Interessante in confronto con la rappresentazione dei visitatori assoluti nell'anno 2019: permette di evidenziare come alcuni Comuni, Maranello in particolare, abbiano alcuni singoli Musei di forte attrattività</p:text>
    <p:extLst>
      <p:ext uri="{C676402C-5697-4E1C-873F-D02D1690AC5C}">
        <p15:threadingInfo xmlns:p15="http://schemas.microsoft.com/office/powerpoint/2012/main" timeZoneBias="-6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12-15T12:27:30.621" idx="12">
    <p:pos x="10" y="10"/>
    <p:text>Aumento complessivo dei visitatori nei Musei ER negli anni pre-covid con un andamento annuale nettamente in aumento negli anni 2019 e 2019: il lockdown 2020 ha segato un trend nettamente positivo</p:text>
    <p:extLst>
      <p:ext uri="{C676402C-5697-4E1C-873F-D02D1690AC5C}">
        <p15:threadingInfo xmlns:p15="http://schemas.microsoft.com/office/powerpoint/2012/main" timeZoneBias="-60"/>
      </p:ext>
    </p:extLst>
  </p:cm>
</p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0.00666</cdr:x>
      <cdr:y>0.93399</cdr:y>
    </cdr:from>
    <cdr:to>
      <cdr:x>0.36631</cdr:x>
      <cdr:y>1</cdr:y>
    </cdr:to>
    <cdr:sp macro="" textlink="">
      <cdr:nvSpPr>
        <cdr:cNvPr id="2" name="CasellaDiTesto 1">
          <a:extLst xmlns:a="http://schemas.openxmlformats.org/drawingml/2006/main">
            <a:ext uri="{FF2B5EF4-FFF2-40B4-BE49-F238E27FC236}">
              <a16:creationId xmlns:a16="http://schemas.microsoft.com/office/drawing/2014/main" id="{C5EF5A0E-FFFC-468D-B780-6D3413958D14}"/>
            </a:ext>
          </a:extLst>
        </cdr:cNvPr>
        <cdr:cNvSpPr txBox="1"/>
      </cdr:nvSpPr>
      <cdr:spPr>
        <a:xfrm xmlns:a="http://schemas.openxmlformats.org/drawingml/2006/main">
          <a:off x="34195" y="4074485"/>
          <a:ext cx="1847119" cy="28796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it-IT" sz="1000" dirty="0"/>
            <a:t>* 12 Tipologie inferiori all’ 1,6%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0.82941</cdr:x>
      <cdr:y>0.44837</cdr:y>
    </cdr:from>
    <cdr:to>
      <cdr:x>0.98921</cdr:x>
      <cdr:y>0.82564</cdr:y>
    </cdr:to>
    <cdr:sp macro="" textlink="">
      <cdr:nvSpPr>
        <cdr:cNvPr id="3" name="CasellaDiTesto 2">
          <a:extLst xmlns:a="http://schemas.openxmlformats.org/drawingml/2006/main">
            <a:ext uri="{FF2B5EF4-FFF2-40B4-BE49-F238E27FC236}">
              <a16:creationId xmlns:a16="http://schemas.microsoft.com/office/drawing/2014/main" id="{DF0E9232-4E1C-4F1C-987C-0B653CD5A8F6}"/>
            </a:ext>
          </a:extLst>
        </cdr:cNvPr>
        <cdr:cNvSpPr txBox="1"/>
      </cdr:nvSpPr>
      <cdr:spPr>
        <a:xfrm xmlns:a="http://schemas.openxmlformats.org/drawingml/2006/main">
          <a:off x="8387351" y="2001788"/>
          <a:ext cx="1615974" cy="1684376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 anchor="ctr"/>
        <a:lstStyle xmlns:a="http://schemas.openxmlformats.org/drawingml/2006/main"/>
        <a:p xmlns:a="http://schemas.openxmlformats.org/drawingml/2006/main">
          <a:pPr algn="l">
            <a:lnSpc>
              <a:spcPts val="2880"/>
            </a:lnSpc>
          </a:pPr>
          <a:r>
            <a:rPr lang="it-IT" sz="1500" dirty="0">
              <a:solidFill>
                <a:schemeClr val="bg2">
                  <a:lumMod val="25000"/>
                </a:schemeClr>
              </a:solidFill>
            </a:rPr>
            <a:t>=   1 - 5 Addetti</a:t>
          </a:r>
        </a:p>
        <a:p xmlns:a="http://schemas.openxmlformats.org/drawingml/2006/main">
          <a:pPr algn="l">
            <a:lnSpc>
              <a:spcPts val="2880"/>
            </a:lnSpc>
          </a:pPr>
          <a:r>
            <a:rPr lang="it-IT" sz="1500" dirty="0">
              <a:solidFill>
                <a:schemeClr val="bg2">
                  <a:lumMod val="25000"/>
                </a:schemeClr>
              </a:solidFill>
            </a:rPr>
            <a:t>=   6 - 10 Addetti</a:t>
          </a:r>
        </a:p>
        <a:p xmlns:a="http://schemas.openxmlformats.org/drawingml/2006/main">
          <a:pPr algn="l">
            <a:lnSpc>
              <a:spcPts val="2880"/>
            </a:lnSpc>
          </a:pPr>
          <a:r>
            <a:rPr lang="it-IT" sz="1500" dirty="0">
              <a:solidFill>
                <a:schemeClr val="bg2">
                  <a:lumMod val="25000"/>
                </a:schemeClr>
              </a:solidFill>
            </a:rPr>
            <a:t>=  11 - 50 Addetti</a:t>
          </a:r>
        </a:p>
        <a:p xmlns:a="http://schemas.openxmlformats.org/drawingml/2006/main">
          <a:pPr algn="l">
            <a:lnSpc>
              <a:spcPts val="2880"/>
            </a:lnSpc>
          </a:pPr>
          <a:r>
            <a:rPr lang="it-IT" sz="1500" dirty="0">
              <a:solidFill>
                <a:schemeClr val="bg2">
                  <a:lumMod val="25000"/>
                </a:schemeClr>
              </a:solidFill>
            </a:rPr>
            <a:t>=  50+ Addetti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0.33642</cdr:x>
      <cdr:y>0.07751</cdr:y>
    </cdr:from>
    <cdr:to>
      <cdr:x>0.4279</cdr:x>
      <cdr:y>0.21594</cdr:y>
    </cdr:to>
    <cdr:sp macro="" textlink="">
      <cdr:nvSpPr>
        <cdr:cNvPr id="3" name="CasellaDiTesto 1">
          <a:extLst xmlns:a="http://schemas.openxmlformats.org/drawingml/2006/main">
            <a:ext uri="{FF2B5EF4-FFF2-40B4-BE49-F238E27FC236}">
              <a16:creationId xmlns:a16="http://schemas.microsoft.com/office/drawing/2014/main" id="{F2EE1981-173C-4A41-9C8A-1A36997BA377}"/>
            </a:ext>
          </a:extLst>
        </cdr:cNvPr>
        <cdr:cNvSpPr txBox="1"/>
      </cdr:nvSpPr>
      <cdr:spPr>
        <a:xfrm xmlns:a="http://schemas.openxmlformats.org/drawingml/2006/main">
          <a:off x="3521478" y="339875"/>
          <a:ext cx="957581" cy="607060"/>
        </a:xfrm>
        <a:prstGeom xmlns:a="http://schemas.openxmlformats.org/drawingml/2006/main" prst="rect">
          <a:avLst/>
        </a:prstGeom>
        <a:solidFill xmlns:a="http://schemas.openxmlformats.org/drawingml/2006/main">
          <a:schemeClr val="lt1"/>
        </a:solidFill>
        <a:ln xmlns:a="http://schemas.openxmlformats.org/drawingml/2006/main" w="9525" cmpd="sng">
          <a:solidFill>
            <a:schemeClr val="lt1">
              <a:shade val="50000"/>
            </a:schemeClr>
          </a:solidFill>
        </a:ln>
      </cdr:spPr>
      <cdr:style>
        <a:lnRef xmlns:a="http://schemas.openxmlformats.org/drawingml/2006/main" idx="0">
          <a:scrgbClr r="0" g="0" b="0"/>
        </a:lnRef>
        <a:fillRef xmlns:a="http://schemas.openxmlformats.org/drawingml/2006/main" idx="0">
          <a:scrgbClr r="0" g="0" b="0"/>
        </a:fillRef>
        <a:effectRef xmlns:a="http://schemas.openxmlformats.org/drawingml/2006/main" idx="0">
          <a:scrgbClr r="0" g="0" b="0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 wrap="square" rtlCol="0" anchor="ctr"/>
        <a:lstStyle xmlns:a="http://schemas.openxmlformats.org/drawingml/2006/main">
          <a:lvl1pPr marL="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dk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000" dirty="0">
              <a:solidFill>
                <a:schemeClr val="tx1">
                  <a:lumMod val="75000"/>
                  <a:lumOff val="25000"/>
                </a:schemeClr>
              </a:solidFill>
              <a:latin typeface="Arial Narrow" panose="020B0604020202020204" pitchFamily="34" charset="0"/>
              <a:cs typeface="Arial Narrow" panose="020B0604020202020204" pitchFamily="34" charset="0"/>
            </a:rPr>
            <a:t>(incremento medio annuo del 2,19%)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0.74576</cdr:x>
      <cdr:y>0.1767</cdr:y>
    </cdr:from>
    <cdr:to>
      <cdr:x>0.94145</cdr:x>
      <cdr:y>0.28738</cdr:y>
    </cdr:to>
    <cdr:sp macro="" textlink="">
      <cdr:nvSpPr>
        <cdr:cNvPr id="2" name="CasellaDiTesto 1">
          <a:extLst xmlns:a="http://schemas.openxmlformats.org/drawingml/2006/main">
            <a:ext uri="{FF2B5EF4-FFF2-40B4-BE49-F238E27FC236}">
              <a16:creationId xmlns:a16="http://schemas.microsoft.com/office/drawing/2014/main" id="{875CDE80-8815-49AC-9DF6-E85200A3FA6F}"/>
            </a:ext>
          </a:extLst>
        </cdr:cNvPr>
        <cdr:cNvSpPr txBox="1"/>
      </cdr:nvSpPr>
      <cdr:spPr>
        <a:xfrm xmlns:a="http://schemas.openxmlformats.org/drawingml/2006/main">
          <a:off x="4097865" y="770467"/>
          <a:ext cx="1075267" cy="482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it-IT" sz="1100"/>
        </a:p>
      </cdr:txBody>
    </cdr:sp>
  </cdr:relSizeAnchor>
</c:userShapes>
</file>

<file path=ppt/drawings/drawing5.xml><?xml version="1.0" encoding="utf-8"?>
<c:userShapes xmlns:c="http://schemas.openxmlformats.org/drawingml/2006/chart">
  <cdr:relSizeAnchor xmlns:cdr="http://schemas.openxmlformats.org/drawingml/2006/chartDrawing">
    <cdr:from>
      <cdr:x>0</cdr:x>
      <cdr:y>0.20679</cdr:y>
    </cdr:from>
    <cdr:to>
      <cdr:x>0.12006</cdr:x>
      <cdr:y>0.27161</cdr:y>
    </cdr:to>
    <cdr:sp macro="" textlink="">
      <cdr:nvSpPr>
        <cdr:cNvPr id="2" name="CasellaDiTesto 1">
          <a:extLst xmlns:a="http://schemas.openxmlformats.org/drawingml/2006/main">
            <a:ext uri="{FF2B5EF4-FFF2-40B4-BE49-F238E27FC236}">
              <a16:creationId xmlns:a16="http://schemas.microsoft.com/office/drawing/2014/main" id="{3C0117AD-2F88-486B-9B99-743240EE6172}"/>
            </a:ext>
          </a:extLst>
        </cdr:cNvPr>
        <cdr:cNvSpPr txBox="1"/>
      </cdr:nvSpPr>
      <cdr:spPr>
        <a:xfrm xmlns:a="http://schemas.openxmlformats.org/drawingml/2006/main">
          <a:off x="0" y="567268"/>
          <a:ext cx="694267" cy="177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it-IT" sz="1100" b="1"/>
            <a:t>Piccoli</a:t>
          </a:r>
        </a:p>
      </cdr:txBody>
    </cdr:sp>
  </cdr:relSizeAnchor>
  <cdr:relSizeAnchor xmlns:cdr="http://schemas.openxmlformats.org/drawingml/2006/chartDrawing">
    <cdr:from>
      <cdr:x>0</cdr:x>
      <cdr:y>0.60802</cdr:y>
    </cdr:from>
    <cdr:to>
      <cdr:x>0.12006</cdr:x>
      <cdr:y>0.67284</cdr:y>
    </cdr:to>
    <cdr:sp macro="" textlink="">
      <cdr:nvSpPr>
        <cdr:cNvPr id="3" name="CasellaDiTesto 1">
          <a:extLst xmlns:a="http://schemas.openxmlformats.org/drawingml/2006/main">
            <a:ext uri="{FF2B5EF4-FFF2-40B4-BE49-F238E27FC236}">
              <a16:creationId xmlns:a16="http://schemas.microsoft.com/office/drawing/2014/main" id="{17F0BD5E-AD44-4EB5-ABC4-D4878868EFEF}"/>
            </a:ext>
          </a:extLst>
        </cdr:cNvPr>
        <cdr:cNvSpPr txBox="1"/>
      </cdr:nvSpPr>
      <cdr:spPr>
        <a:xfrm xmlns:a="http://schemas.openxmlformats.org/drawingml/2006/main">
          <a:off x="0" y="1667933"/>
          <a:ext cx="694267" cy="177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it-IT" sz="1100" b="1"/>
            <a:t>Grandi</a:t>
          </a:r>
        </a:p>
      </cdr:txBody>
    </cdr:sp>
  </cdr:relSizeAnchor>
</c:userShapes>
</file>

<file path=ppt/drawings/drawing6.xml><?xml version="1.0" encoding="utf-8"?>
<c:userShapes xmlns:c="http://schemas.openxmlformats.org/drawingml/2006/chart">
  <cdr:relSizeAnchor xmlns:cdr="http://schemas.openxmlformats.org/drawingml/2006/chartDrawing">
    <cdr:from>
      <cdr:x>0.06888</cdr:x>
      <cdr:y>0.5027</cdr:y>
    </cdr:from>
    <cdr:to>
      <cdr:x>0.09995</cdr:x>
      <cdr:y>0.5027</cdr:y>
    </cdr:to>
    <cdr:cxnSp macro="">
      <cdr:nvCxnSpPr>
        <cdr:cNvPr id="2" name="Connettore 1 1">
          <a:extLst xmlns:a="http://schemas.openxmlformats.org/drawingml/2006/main">
            <a:ext uri="{FF2B5EF4-FFF2-40B4-BE49-F238E27FC236}">
              <a16:creationId xmlns:a16="http://schemas.microsoft.com/office/drawing/2014/main" id="{425ADF4C-5D36-024E-9C55-2A8717BCF211}"/>
            </a:ext>
          </a:extLst>
        </cdr:cNvPr>
        <cdr:cNvCxnSpPr/>
      </cdr:nvCxnSpPr>
      <cdr:spPr bwMode="auto">
        <a:xfrm xmlns:a="http://schemas.openxmlformats.org/drawingml/2006/main">
          <a:off x="626169" y="2275264"/>
          <a:ext cx="282388" cy="0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FFC000"/>
          </a:solidFill>
          <a:headEnd type="none" w="med" len="med"/>
          <a:tailEnd type="none" w="med" len="med"/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0.07955</cdr:x>
      <cdr:y>0.80574</cdr:y>
    </cdr:from>
    <cdr:to>
      <cdr:x>0.11062</cdr:x>
      <cdr:y>0.80574</cdr:y>
    </cdr:to>
    <cdr:cxnSp macro="">
      <cdr:nvCxnSpPr>
        <cdr:cNvPr id="3" name="Connettore 1 2">
          <a:extLst xmlns:a="http://schemas.openxmlformats.org/drawingml/2006/main">
            <a:ext uri="{FF2B5EF4-FFF2-40B4-BE49-F238E27FC236}">
              <a16:creationId xmlns:a16="http://schemas.microsoft.com/office/drawing/2014/main" id="{425ADF4C-5D36-024E-9C55-2A8717BCF211}"/>
            </a:ext>
          </a:extLst>
        </cdr:cNvPr>
        <cdr:cNvCxnSpPr/>
      </cdr:nvCxnSpPr>
      <cdr:spPr bwMode="auto">
        <a:xfrm xmlns:a="http://schemas.openxmlformats.org/drawingml/2006/main">
          <a:off x="723151" y="3646864"/>
          <a:ext cx="282388" cy="0"/>
        </a:xfrm>
        <a:prstGeom xmlns:a="http://schemas.openxmlformats.org/drawingml/2006/main" prst="line">
          <a:avLst/>
        </a:prstGeom>
        <a:ln xmlns:a="http://schemas.openxmlformats.org/drawingml/2006/main" w="19050">
          <a:solidFill>
            <a:srgbClr val="0070C0"/>
          </a:solidFill>
          <a:headEnd type="none" w="med" len="med"/>
          <a:tailEnd type="none" w="med" len="med"/>
        </a:ln>
      </cdr:spPr>
      <cdr:style>
        <a:lnRef xmlns:a="http://schemas.openxmlformats.org/drawingml/2006/main" idx="1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0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drawings/drawing7.xml><?xml version="1.0" encoding="utf-8"?>
<c:userShapes xmlns:c="http://schemas.openxmlformats.org/drawingml/2006/chart">
  <cdr:relSizeAnchor xmlns:cdr="http://schemas.openxmlformats.org/drawingml/2006/chartDrawing">
    <cdr:from>
      <cdr:x>0.19576</cdr:x>
      <cdr:y>0.53998</cdr:y>
    </cdr:from>
    <cdr:to>
      <cdr:x>0.22569</cdr:x>
      <cdr:y>0.60513</cdr:y>
    </cdr:to>
    <cdr:sp macro="" textlink="">
      <cdr:nvSpPr>
        <cdr:cNvPr id="3" name="CasellaDiTesto 2">
          <a:extLst xmlns:a="http://schemas.openxmlformats.org/drawingml/2006/main">
            <a:ext uri="{FF2B5EF4-FFF2-40B4-BE49-F238E27FC236}">
              <a16:creationId xmlns:a16="http://schemas.microsoft.com/office/drawing/2014/main" id="{2A1009A0-3B41-4B84-9155-DC5B3E0AFA71}"/>
            </a:ext>
          </a:extLst>
        </cdr:cNvPr>
        <cdr:cNvSpPr txBox="1"/>
      </cdr:nvSpPr>
      <cdr:spPr>
        <a:xfrm xmlns:a="http://schemas.openxmlformats.org/drawingml/2006/main">
          <a:off x="1196340" y="2084070"/>
          <a:ext cx="182880" cy="2514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pPr algn="ctr"/>
          <a:r>
            <a:rPr lang="it-IT" sz="1200" b="1">
              <a:solidFill>
                <a:schemeClr val="tx1">
                  <a:lumMod val="65000"/>
                  <a:lumOff val="35000"/>
                </a:schemeClr>
              </a:solidFill>
            </a:rPr>
            <a:t>1</a:t>
          </a:r>
        </a:p>
      </cdr:txBody>
    </cdr:sp>
  </cdr:relSizeAnchor>
  <cdr:relSizeAnchor xmlns:cdr="http://schemas.openxmlformats.org/drawingml/2006/chartDrawing">
    <cdr:from>
      <cdr:x>0.19784</cdr:x>
      <cdr:y>0.35472</cdr:y>
    </cdr:from>
    <cdr:to>
      <cdr:x>0.22776</cdr:x>
      <cdr:y>0.41987</cdr:y>
    </cdr:to>
    <cdr:sp macro="" textlink="">
      <cdr:nvSpPr>
        <cdr:cNvPr id="6" name="CasellaDiTesto 1">
          <a:extLst xmlns:a="http://schemas.openxmlformats.org/drawingml/2006/main">
            <a:ext uri="{FF2B5EF4-FFF2-40B4-BE49-F238E27FC236}">
              <a16:creationId xmlns:a16="http://schemas.microsoft.com/office/drawing/2014/main" id="{72B21C2D-6E54-4526-9824-77DD9C957A45}"/>
            </a:ext>
          </a:extLst>
        </cdr:cNvPr>
        <cdr:cNvSpPr txBox="1"/>
      </cdr:nvSpPr>
      <cdr:spPr>
        <a:xfrm xmlns:a="http://schemas.openxmlformats.org/drawingml/2006/main">
          <a:off x="1209040" y="1369060"/>
          <a:ext cx="182880" cy="2514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200" b="1" dirty="0">
              <a:solidFill>
                <a:schemeClr val="tx1">
                  <a:lumMod val="65000"/>
                  <a:lumOff val="35000"/>
                </a:schemeClr>
              </a:solidFill>
            </a:rPr>
            <a:t>2</a:t>
          </a:r>
        </a:p>
      </cdr:txBody>
    </cdr:sp>
  </cdr:relSizeAnchor>
  <cdr:relSizeAnchor xmlns:cdr="http://schemas.openxmlformats.org/drawingml/2006/chartDrawing">
    <cdr:from>
      <cdr:x>0.20033</cdr:x>
      <cdr:y>0.17901</cdr:y>
    </cdr:from>
    <cdr:to>
      <cdr:x>0.23026</cdr:x>
      <cdr:y>0.24416</cdr:y>
    </cdr:to>
    <cdr:sp macro="" textlink="">
      <cdr:nvSpPr>
        <cdr:cNvPr id="7" name="CasellaDiTesto 1">
          <a:extLst xmlns:a="http://schemas.openxmlformats.org/drawingml/2006/main">
            <a:ext uri="{FF2B5EF4-FFF2-40B4-BE49-F238E27FC236}">
              <a16:creationId xmlns:a16="http://schemas.microsoft.com/office/drawing/2014/main" id="{A3264608-B275-4787-B595-303F74EB87B4}"/>
            </a:ext>
          </a:extLst>
        </cdr:cNvPr>
        <cdr:cNvSpPr txBox="1"/>
      </cdr:nvSpPr>
      <cdr:spPr>
        <a:xfrm xmlns:a="http://schemas.openxmlformats.org/drawingml/2006/main">
          <a:off x="1224280" y="690880"/>
          <a:ext cx="182880" cy="25146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it-IT" sz="1200" b="1" dirty="0">
              <a:solidFill>
                <a:schemeClr val="tx1">
                  <a:lumMod val="65000"/>
                  <a:lumOff val="35000"/>
                </a:schemeClr>
              </a:solidFill>
            </a:rPr>
            <a:t>3</a:t>
          </a:r>
        </a:p>
      </cdr:txBody>
    </cdr:sp>
  </cdr:relSizeAnchor>
  <cdr:relSizeAnchor xmlns:cdr="http://schemas.openxmlformats.org/drawingml/2006/chartDrawing">
    <cdr:from>
      <cdr:x>0.0806</cdr:x>
      <cdr:y>0.5</cdr:y>
    </cdr:from>
    <cdr:to>
      <cdr:x>0.18783</cdr:x>
      <cdr:y>0.62241</cdr:y>
    </cdr:to>
    <cdr:sp macro="" textlink="">
      <cdr:nvSpPr>
        <cdr:cNvPr id="8" name="CasellaDiTesto 7">
          <a:extLst xmlns:a="http://schemas.openxmlformats.org/drawingml/2006/main">
            <a:ext uri="{FF2B5EF4-FFF2-40B4-BE49-F238E27FC236}">
              <a16:creationId xmlns:a16="http://schemas.microsoft.com/office/drawing/2014/main" id="{F01EF9A0-4CA2-40C1-8D20-A753379CC84C}"/>
            </a:ext>
          </a:extLst>
        </cdr:cNvPr>
        <cdr:cNvSpPr txBox="1"/>
      </cdr:nvSpPr>
      <cdr:spPr>
        <a:xfrm xmlns:a="http://schemas.openxmlformats.org/drawingml/2006/main">
          <a:off x="760997" y="2323800"/>
          <a:ext cx="1012446" cy="5689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 anchor="ctr"/>
        <a:lstStyle xmlns:a="http://schemas.openxmlformats.org/drawingml/2006/main"/>
        <a:p xmlns:a="http://schemas.openxmlformats.org/drawingml/2006/main">
          <a:pPr marL="0" marR="0" lvl="0" indent="0" algn="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it-IT" sz="12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rPr>
            <a:t>    Mai utilizzato</a:t>
          </a:r>
          <a:endParaRPr lang="it-IT" sz="1200" dirty="0">
            <a:solidFill>
              <a:schemeClr val="tx1">
                <a:lumMod val="65000"/>
                <a:lumOff val="35000"/>
              </a:schemeClr>
            </a:solidFill>
            <a:effectLst/>
          </a:endParaRPr>
        </a:p>
      </cdr:txBody>
    </cdr:sp>
  </cdr:relSizeAnchor>
  <cdr:relSizeAnchor xmlns:cdr="http://schemas.openxmlformats.org/drawingml/2006/chartDrawing">
    <cdr:from>
      <cdr:x>0.05551</cdr:x>
      <cdr:y>0.31638</cdr:y>
    </cdr:from>
    <cdr:to>
      <cdr:x>0.18574</cdr:x>
      <cdr:y>0.43879</cdr:y>
    </cdr:to>
    <cdr:sp macro="" textlink="">
      <cdr:nvSpPr>
        <cdr:cNvPr id="9" name="CasellaDiTesto 1">
          <a:extLst xmlns:a="http://schemas.openxmlformats.org/drawingml/2006/main">
            <a:ext uri="{FF2B5EF4-FFF2-40B4-BE49-F238E27FC236}">
              <a16:creationId xmlns:a16="http://schemas.microsoft.com/office/drawing/2014/main" id="{F114063F-48F6-42C5-A51D-461CDDA47949}"/>
            </a:ext>
          </a:extLst>
        </cdr:cNvPr>
        <cdr:cNvSpPr txBox="1"/>
      </cdr:nvSpPr>
      <cdr:spPr>
        <a:xfrm xmlns:a="http://schemas.openxmlformats.org/drawingml/2006/main">
          <a:off x="524102" y="1470430"/>
          <a:ext cx="1229591" cy="56891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it-IT" sz="12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rPr>
            <a:t>    Poco utilizzato</a:t>
          </a:r>
          <a:endParaRPr lang="it-IT" sz="1200" dirty="0">
            <a:solidFill>
              <a:schemeClr val="tx1">
                <a:lumMod val="65000"/>
                <a:lumOff val="35000"/>
              </a:schemeClr>
            </a:solidFill>
            <a:effectLst/>
          </a:endParaRPr>
        </a:p>
      </cdr:txBody>
    </cdr:sp>
  </cdr:relSizeAnchor>
  <cdr:relSizeAnchor xmlns:cdr="http://schemas.openxmlformats.org/drawingml/2006/chartDrawing">
    <cdr:from>
      <cdr:x>0</cdr:x>
      <cdr:y>0.1825</cdr:y>
    </cdr:from>
    <cdr:to>
      <cdr:x>0.18924</cdr:x>
      <cdr:y>0.24124</cdr:y>
    </cdr:to>
    <cdr:sp macro="" textlink="">
      <cdr:nvSpPr>
        <cdr:cNvPr id="10" name="CasellaDiTesto 1">
          <a:extLst xmlns:a="http://schemas.openxmlformats.org/drawingml/2006/main">
            <a:ext uri="{FF2B5EF4-FFF2-40B4-BE49-F238E27FC236}">
              <a16:creationId xmlns:a16="http://schemas.microsoft.com/office/drawing/2014/main" id="{27CB01BA-0BC4-436C-922D-AB4CC93B188C}"/>
            </a:ext>
          </a:extLst>
        </cdr:cNvPr>
        <cdr:cNvSpPr txBox="1"/>
      </cdr:nvSpPr>
      <cdr:spPr>
        <a:xfrm xmlns:a="http://schemas.openxmlformats.org/drawingml/2006/main">
          <a:off x="0" y="848193"/>
          <a:ext cx="1786797" cy="27300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 anchor="ctr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marL="0" marR="0" lvl="0" indent="0" algn="r" defTabSz="91440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it-IT" sz="1200" b="1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rPr>
            <a:t>Occasionalmente utilizzato</a:t>
          </a:r>
          <a:endParaRPr lang="it-IT" sz="1200" dirty="0">
            <a:solidFill>
              <a:schemeClr val="tx1">
                <a:lumMod val="65000"/>
                <a:lumOff val="35000"/>
              </a:schemeClr>
            </a:solidFill>
            <a:effectLst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ACFEF-35D3-F449-BBA6-A2470841BE33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857393-8E9E-074E-80BF-6C40259E536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5255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D50CBFA-5B7C-804D-87F4-53A5EE6B07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C9F6EC-1C16-544A-8985-A712C450F115}" type="slidenum">
              <a:rPr kumimoji="0" lang="it-IT" alt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alt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98" name="Rectangle 2">
            <a:extLst>
              <a:ext uri="{FF2B5EF4-FFF2-40B4-BE49-F238E27FC236}">
                <a16:creationId xmlns:a16="http://schemas.microsoft.com/office/drawing/2014/main" id="{DEC16443-E3D8-8641-BFE6-EC4E9B2DBC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28CF11A-853B-CF44-922A-CEC268342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/>
              <a:t>Font 3</a:t>
            </a:r>
          </a:p>
        </p:txBody>
      </p:sp>
    </p:spTree>
    <p:extLst>
      <p:ext uri="{BB962C8B-B14F-4D97-AF65-F5344CB8AC3E}">
        <p14:creationId xmlns:p14="http://schemas.microsoft.com/office/powerpoint/2010/main" val="1442221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 3</a:t>
            </a:r>
          </a:p>
        </p:txBody>
      </p:sp>
    </p:spTree>
    <p:extLst>
      <p:ext uri="{BB962C8B-B14F-4D97-AF65-F5344CB8AC3E}">
        <p14:creationId xmlns:p14="http://schemas.microsoft.com/office/powerpoint/2010/main" val="2760555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 3</a:t>
            </a:r>
          </a:p>
        </p:txBody>
      </p:sp>
    </p:spTree>
    <p:extLst>
      <p:ext uri="{BB962C8B-B14F-4D97-AF65-F5344CB8AC3E}">
        <p14:creationId xmlns:p14="http://schemas.microsoft.com/office/powerpoint/2010/main" val="3053912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 3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15033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Mappe – Pater dati geografici – densità musei per Comune e Comuni con musei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670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Proprietà musei – ISTAT 2021 </a:t>
            </a:r>
            <a:r>
              <a:rPr lang="it-IT" err="1"/>
              <a:t>dom</a:t>
            </a:r>
            <a:r>
              <a:rPr lang="it-IT"/>
              <a:t> 6-6.1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23569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PATER tipologia musei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671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ANNO DI FONDAZIONE DEI MUSEI RIPRODOTTA DA ISPIRAZIONE ANALISI RICERCATORE UNIBO</a:t>
            </a:r>
            <a:endParaRPr lang="it-IT" sz="1600" b="1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2899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17742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Torta occupati del settore,  </a:t>
            </a:r>
            <a:r>
              <a:rPr lang="it-IT" err="1"/>
              <a:t>dom</a:t>
            </a:r>
            <a:r>
              <a:rPr lang="it-IT"/>
              <a:t> 12 e 13 ISTAT 2021 – livello ER</a:t>
            </a:r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58031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ISTAT 2020 </a:t>
            </a:r>
            <a:r>
              <a:rPr lang="it-IT" err="1"/>
              <a:t>dom</a:t>
            </a:r>
            <a:r>
              <a:rPr lang="it-IT"/>
              <a:t> 6/15.1 – numero assoluto visitatori – livello ER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2969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ISTAT 2020 tav 1.4 1.11 1.28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683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Fonte: UNESCO</a:t>
            </a:r>
          </a:p>
        </p:txBody>
      </p:sp>
    </p:spTree>
    <p:extLst>
      <p:ext uri="{BB962C8B-B14F-4D97-AF65-F5344CB8AC3E}">
        <p14:creationId xmlns:p14="http://schemas.microsoft.com/office/powerpoint/2010/main" val="2431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Situazione chiusure 2020-2021 mondiale</a:t>
            </a:r>
          </a:p>
        </p:txBody>
      </p:sp>
    </p:spTree>
    <p:extLst>
      <p:ext uri="{BB962C8B-B14F-4D97-AF65-F5344CB8AC3E}">
        <p14:creationId xmlns:p14="http://schemas.microsoft.com/office/powerpoint/2010/main" val="4351569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Situazione chiusure: Europa – </a:t>
            </a:r>
            <a:r>
              <a:rPr lang="it-IT" b="1"/>
              <a:t>3% museo chiuso permanentemente in NEMO</a:t>
            </a:r>
          </a:p>
        </p:txBody>
      </p:sp>
    </p:spTree>
    <p:extLst>
      <p:ext uri="{BB962C8B-B14F-4D97-AF65-F5344CB8AC3E}">
        <p14:creationId xmlns:p14="http://schemas.microsoft.com/office/powerpoint/2010/main" val="39430464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Perdita visitatori INT e EU</a:t>
            </a:r>
          </a:p>
        </p:txBody>
      </p:sp>
    </p:spTree>
    <p:extLst>
      <p:ext uri="{BB962C8B-B14F-4D97-AF65-F5344CB8AC3E}">
        <p14:creationId xmlns:p14="http://schemas.microsoft.com/office/powerpoint/2010/main" val="3272865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Fonte: monitoraggio Assessorato, rielaborazione </a:t>
            </a:r>
            <a:r>
              <a:rPr lang="it-IT" err="1"/>
              <a:t>ArtER</a:t>
            </a:r>
            <a:r>
              <a:rPr lang="it-IT"/>
              <a:t> - 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Fig.31 – Variazione del numero di visitatori nei musei nel 2020 dalla riapertura al momento della rilevazione rispetto allo stesso periodo del 2019 (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.%)</a:t>
            </a:r>
          </a:p>
        </p:txBody>
      </p:sp>
    </p:spTree>
    <p:extLst>
      <p:ext uri="{BB962C8B-B14F-4D97-AF65-F5344CB8AC3E}">
        <p14:creationId xmlns:p14="http://schemas.microsoft.com/office/powerpoint/2010/main" val="3839421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Mappe – 2019 visitatori per Comune – numero medio visitatori per museo su base comunale da ISTAT 2020</a:t>
            </a:r>
            <a:endParaRPr lang="it-IT" b="1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6792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ISTAT 2021 </a:t>
            </a:r>
            <a:r>
              <a:rPr lang="it-IT" err="1"/>
              <a:t>dom</a:t>
            </a:r>
            <a:r>
              <a:rPr lang="it-IT"/>
              <a:t> 11 – variazione visitatori in serie storica</a:t>
            </a:r>
            <a:endParaRPr lang="it-IT" b="1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263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sz="1600" b="1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</a:endParaRP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0488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ISTAT 2021 </a:t>
            </a:r>
            <a:r>
              <a:rPr lang="it-IT" err="1"/>
              <a:t>dom</a:t>
            </a:r>
            <a:r>
              <a:rPr lang="it-IT"/>
              <a:t> 12/13 – variazione addetti post </a:t>
            </a:r>
            <a:r>
              <a:rPr lang="it-IT" err="1"/>
              <a:t>Covid</a:t>
            </a:r>
            <a:r>
              <a:rPr lang="it-IT"/>
              <a:t> – livello ER - Variazione % delle unità di personale interno e/o esterno: </a:t>
            </a:r>
            <a:r>
              <a:rPr lang="it-IT" b="1"/>
              <a:t>Prima del </a:t>
            </a:r>
            <a:r>
              <a:rPr lang="it-IT" b="1" err="1"/>
              <a:t>Lockdown</a:t>
            </a:r>
            <a:r>
              <a:rPr lang="it-IT" b="1"/>
              <a:t> e al mese di dicembre 2020</a:t>
            </a:r>
            <a:r>
              <a:rPr lang="it-IT"/>
              <a:t> - </a:t>
            </a:r>
            <a:r>
              <a:rPr lang="it-IT" sz="1200" b="1"/>
              <a:t>*Il dato dei Volontari e Stagisti dopo</a:t>
            </a:r>
            <a:r>
              <a:rPr lang="it-IT" sz="1200" b="1" baseline="0"/>
              <a:t> il </a:t>
            </a:r>
            <a:r>
              <a:rPr lang="it-IT" sz="1200" b="1" baseline="0" err="1"/>
              <a:t>lockdown</a:t>
            </a:r>
            <a:r>
              <a:rPr lang="it-IT" sz="1200" b="1" baseline="0"/>
              <a:t> non è stato rilevato nel questionario Istat</a:t>
            </a:r>
            <a:endParaRPr lang="it-IT" sz="1200" b="1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267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Monitoraggio Assessorato – *</a:t>
            </a:r>
            <a:r>
              <a:rPr lang="it-IT" b="1"/>
              <a:t>1 fase: 24 Febbraio - 31 Marzo 2020; 2 fase: 1 Aprile - 30 Aprile; 3 fase: 1 Maggio - 15 Giugno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5784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Monitoraggio Assessorato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5865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9500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Cambio operazioni museali economiche</a:t>
            </a:r>
          </a:p>
          <a:p>
            <a:r>
              <a:rPr lang="it-IT"/>
              <a:t>Definizione NEMO: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considered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museum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 of the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Small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museums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10 or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mid-sized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museums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and 100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museums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more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employees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considered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large.</a:t>
            </a:r>
            <a:endParaRPr lang="it-IT" b="1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23280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Cambio nelle operazioni museali</a:t>
            </a:r>
          </a:p>
        </p:txBody>
      </p:sp>
    </p:spTree>
    <p:extLst>
      <p:ext uri="{BB962C8B-B14F-4D97-AF65-F5344CB8AC3E}">
        <p14:creationId xmlns:p14="http://schemas.microsoft.com/office/powerpoint/2010/main" val="28352416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ISTAT 2021 </a:t>
            </a:r>
            <a:r>
              <a:rPr lang="it-IT" err="1"/>
              <a:t>dom</a:t>
            </a:r>
            <a:r>
              <a:rPr lang="it-IT"/>
              <a:t> 21 – scelte strategiche teoriche Musei, visualizzazione 2 – Livello ER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F1EE11-E1F1-E442-B8B7-C917DB7D04D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565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61172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Fonte: elaborazione ART-ER su dati ISTAT 2020 - </a:t>
            </a:r>
            <a:r>
              <a:rPr lang="it-IT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</a:t>
            </a:r>
            <a:r>
              <a:rPr lang="it-IT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://</a:t>
            </a:r>
            <a:r>
              <a:rPr lang="it-IT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public.flourish.studio</a:t>
            </a:r>
            <a:r>
              <a:rPr lang="it-IT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it-IT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visualisation</a:t>
            </a:r>
            <a:r>
              <a:rPr lang="it-IT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/7875853/ - ER – </a:t>
            </a:r>
            <a:r>
              <a:rPr lang="it-IT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Prima del </a:t>
            </a:r>
            <a:r>
              <a:rPr lang="it-IT" sz="1200" b="1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Covid</a:t>
            </a:r>
            <a:endParaRPr lang="it-IT" sz="1200" b="1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7401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>
                <a:effectLst/>
              </a:rPr>
              <a:t>ER – </a:t>
            </a:r>
            <a:r>
              <a:rPr lang="it-IT" err="1">
                <a:effectLst/>
              </a:rPr>
              <a:t>dom</a:t>
            </a:r>
            <a:r>
              <a:rPr lang="it-IT">
                <a:effectLst/>
              </a:rPr>
              <a:t> 17-20 ISTAT 2020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50998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ICOM – tenere solo la terza indagine – verificare come è stato fatto il questionario - INT</a:t>
            </a:r>
          </a:p>
        </p:txBody>
      </p:sp>
    </p:spTree>
    <p:extLst>
      <p:ext uri="{BB962C8B-B14F-4D97-AF65-F5344CB8AC3E}">
        <p14:creationId xmlns:p14="http://schemas.microsoft.com/office/powerpoint/2010/main" val="18709953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NEMO – EU</a:t>
            </a:r>
          </a:p>
        </p:txBody>
      </p:sp>
    </p:spTree>
    <p:extLst>
      <p:ext uri="{BB962C8B-B14F-4D97-AF65-F5344CB8AC3E}">
        <p14:creationId xmlns:p14="http://schemas.microsoft.com/office/powerpoint/2010/main" val="1084999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NEMO - EU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3A023-4B68-8F48-89C5-AD279AF19AE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0965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Fonte: </a:t>
            </a:r>
            <a:r>
              <a:rPr lang="it-IT" err="1"/>
              <a:t>PoliMI</a:t>
            </a:r>
            <a:r>
              <a:rPr lang="it-IT"/>
              <a:t>, </a:t>
            </a:r>
            <a:r>
              <a:rPr lang="it-IT" err="1"/>
              <a:t>pg</a:t>
            </a:r>
            <a:r>
              <a:rPr lang="it-IT"/>
              <a:t> 13 - ITA</a:t>
            </a:r>
          </a:p>
        </p:txBody>
      </p:sp>
    </p:spTree>
    <p:extLst>
      <p:ext uri="{BB962C8B-B14F-4D97-AF65-F5344CB8AC3E}">
        <p14:creationId xmlns:p14="http://schemas.microsoft.com/office/powerpoint/2010/main" val="909810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Fonte: </a:t>
            </a:r>
            <a:r>
              <a:rPr lang="it-IT" err="1"/>
              <a:t>PoliMI</a:t>
            </a:r>
            <a:r>
              <a:rPr lang="it-IT"/>
              <a:t>, </a:t>
            </a:r>
            <a:r>
              <a:rPr lang="it-IT" err="1"/>
              <a:t>pg</a:t>
            </a:r>
            <a:r>
              <a:rPr lang="it-IT"/>
              <a:t> 14 - ITA</a:t>
            </a:r>
          </a:p>
        </p:txBody>
      </p:sp>
    </p:spTree>
    <p:extLst>
      <p:ext uri="{BB962C8B-B14F-4D97-AF65-F5344CB8AC3E}">
        <p14:creationId xmlns:p14="http://schemas.microsoft.com/office/powerpoint/2010/main" val="20082305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Fonte: </a:t>
            </a:r>
            <a:r>
              <a:rPr lang="it-IT" err="1"/>
              <a:t>PoliMI</a:t>
            </a:r>
            <a:r>
              <a:rPr lang="it-IT"/>
              <a:t>, </a:t>
            </a:r>
            <a:r>
              <a:rPr lang="it-IT" err="1"/>
              <a:t>pg</a:t>
            </a:r>
            <a:r>
              <a:rPr lang="it-IT"/>
              <a:t> 8 - ITA</a:t>
            </a:r>
          </a:p>
        </p:txBody>
      </p:sp>
    </p:spTree>
    <p:extLst>
      <p:ext uri="{BB962C8B-B14F-4D97-AF65-F5344CB8AC3E}">
        <p14:creationId xmlns:p14="http://schemas.microsoft.com/office/powerpoint/2010/main" val="20042665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61172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Master - ER</a:t>
            </a:r>
          </a:p>
        </p:txBody>
      </p:sp>
    </p:spTree>
    <p:extLst>
      <p:ext uri="{BB962C8B-B14F-4D97-AF65-F5344CB8AC3E}">
        <p14:creationId xmlns:p14="http://schemas.microsoft.com/office/powerpoint/2010/main" val="25718792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Master - ER</a:t>
            </a:r>
          </a:p>
        </p:txBody>
      </p:sp>
    </p:spTree>
    <p:extLst>
      <p:ext uri="{BB962C8B-B14F-4D97-AF65-F5344CB8AC3E}">
        <p14:creationId xmlns:p14="http://schemas.microsoft.com/office/powerpoint/2010/main" val="322348368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Dom</a:t>
            </a:r>
            <a:r>
              <a:rPr lang="it-IT"/>
              <a:t> 17 ISTAT 2021 – ER</a:t>
            </a:r>
          </a:p>
        </p:txBody>
      </p:sp>
    </p:spTree>
    <p:extLst>
      <p:ext uri="{BB962C8B-B14F-4D97-AF65-F5344CB8AC3E}">
        <p14:creationId xmlns:p14="http://schemas.microsoft.com/office/powerpoint/2010/main" val="35595980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Master – ER – Blu a destra è 3,6%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3A023-4B68-8F48-89C5-AD279AF19AED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13936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Master e </a:t>
            </a:r>
            <a:r>
              <a:rPr lang="it-IT" err="1"/>
              <a:t>Dom</a:t>
            </a:r>
            <a:r>
              <a:rPr lang="it-IT"/>
              <a:t> 20 ISTAT 2021 – ER</a:t>
            </a:r>
          </a:p>
        </p:txBody>
      </p:sp>
    </p:spTree>
    <p:extLst>
      <p:ext uri="{BB962C8B-B14F-4D97-AF65-F5344CB8AC3E}">
        <p14:creationId xmlns:p14="http://schemas.microsoft.com/office/powerpoint/2010/main" val="4483646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Dom</a:t>
            </a:r>
            <a:r>
              <a:rPr lang="it-IT"/>
              <a:t> 21 ISTAT 2021 – ER – </a:t>
            </a:r>
            <a:r>
              <a:rPr lang="it-IT" b="1"/>
              <a:t>ultima riga è 1%</a:t>
            </a:r>
          </a:p>
        </p:txBody>
      </p:sp>
    </p:spTree>
    <p:extLst>
      <p:ext uri="{BB962C8B-B14F-4D97-AF65-F5344CB8AC3E}">
        <p14:creationId xmlns:p14="http://schemas.microsoft.com/office/powerpoint/2010/main" val="28910469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Dom</a:t>
            </a:r>
            <a:r>
              <a:rPr lang="it-IT"/>
              <a:t> 17 20 ISTAT 2020 puntini – in negativo – ER – </a:t>
            </a:r>
            <a:r>
              <a:rPr lang="it-IT" b="1"/>
              <a:t>«Non ha digitalizzato le collezioni» riguarda solo i «Musei, gallerie o raccolte»</a:t>
            </a:r>
          </a:p>
        </p:txBody>
      </p:sp>
    </p:spTree>
    <p:extLst>
      <p:ext uri="{BB962C8B-B14F-4D97-AF65-F5344CB8AC3E}">
        <p14:creationId xmlns:p14="http://schemas.microsoft.com/office/powerpoint/2010/main" val="38984201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Dom</a:t>
            </a:r>
            <a:r>
              <a:rPr lang="it-IT"/>
              <a:t> 16 ISTAT 2021 puntini – in negativo - ER</a:t>
            </a:r>
          </a:p>
        </p:txBody>
      </p:sp>
    </p:spTree>
    <p:extLst>
      <p:ext uri="{BB962C8B-B14F-4D97-AF65-F5344CB8AC3E}">
        <p14:creationId xmlns:p14="http://schemas.microsoft.com/office/powerpoint/2010/main" val="26687781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ICOM – in negativo - INT</a:t>
            </a:r>
          </a:p>
        </p:txBody>
      </p:sp>
    </p:spTree>
    <p:extLst>
      <p:ext uri="{BB962C8B-B14F-4D97-AF65-F5344CB8AC3E}">
        <p14:creationId xmlns:p14="http://schemas.microsoft.com/office/powerpoint/2010/main" val="17574582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Fonti</a:t>
            </a:r>
          </a:p>
        </p:txBody>
      </p:sp>
    </p:spTree>
    <p:extLst>
      <p:ext uri="{BB962C8B-B14F-4D97-AF65-F5344CB8AC3E}">
        <p14:creationId xmlns:p14="http://schemas.microsoft.com/office/powerpoint/2010/main" val="3075172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3D12F9-4112-7F4D-9F91-EBCF59013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C0838A7-C8C0-1741-8D3C-020BFB093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BCD954-23B4-E245-8EE6-0CC42523E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FBAAD96-131A-BE48-9C53-C592BA05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6F4248-0EF9-A44A-B6AC-905E77BB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466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B6498-ED79-974D-B5F8-CDFF22AC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A99078-5EFF-4643-A151-01F5236BA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7FC9EB6-C95B-8047-AF30-CDEB32D8D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6BFCE3-234A-DB41-BD72-366E48C9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43E6A39-C358-434D-8AC6-712BBC36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0101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1340C1-1D3E-0B4E-9E13-5C334E8D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FF9046-6CE8-DE44-AED2-61D5519FBF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1EAB399-FE49-874D-B407-7B76E509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1C3ECB-0420-3E45-A644-3ACD71709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1D11BDB-0D41-2D49-AC66-0F7FC898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518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5F0E0-E867-A741-8757-F529E289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944C23-D9A7-3B48-B4BE-F37C491398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9435CA-6CFB-4F44-BBD5-D1EAA97DA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C74D0CE-721E-C647-B5CC-AEEF4033A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F42FF04-4BD3-0B40-896F-74BAEFF44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3B1CDF6-DE0D-D745-A8E8-1CE07A5A6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108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8DFD48-A62B-E849-80C2-1138FD3F8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ED5ADBC-F490-3A4B-B0C0-930E0135F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3511500-BE6E-8D42-97DD-7782911AF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C56E116-1BB2-EA42-BFE5-C0142C66C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4DE8144-79FB-8343-9840-27D1783293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3E8C63B-C5A5-E841-A727-0D306F1E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0419595-8447-A04C-A3D2-D115355D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7A62358B-8E1A-0B4A-BDAC-C81EEC7F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2280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7A39B-611F-0B4B-AF29-F37E7399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1932F0E-8DA4-6846-85D0-7F61C75D0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4AFBE85-F3C8-BF44-85E9-71AB82583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260F32-D1FD-C840-B7DB-70D5A3BD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627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1105554-3A05-584A-A073-AA18DE94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970985EB-7598-414E-84D4-E043EECED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2BDBF94-9C23-7D42-8397-5531E9B55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47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8F6375-8612-F94E-8535-FDEC15A4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43EC7B-D66E-EC4C-8637-3D77DDE7C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B437A6D-A675-6F49-896B-65284ABD1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F6F739E-5A99-C84F-A351-4CE287AE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2C05379-6EE0-6D49-8BEC-E1267377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175012-EDDD-5248-9280-6F41E079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3687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756025-2EA2-4B46-99E9-2829F8CB4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2ABDF6A-6CFE-B349-9DD8-88797A3B29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EF19C27-99BF-2448-BCB2-E47B225920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BDA13A3-619E-8948-AE63-41F007C7C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A05EEA-A598-BD4E-BB0F-D61F8E11E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1ABDF5E-5BF5-4842-AA68-EDDDFAFB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3195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628C32-CFEE-154C-8847-B2B813CCF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19DC9BF-E341-854C-B549-763985B98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7CFA15F-DE6B-4445-9E3B-79FACE266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C4AE25-17B0-C641-8B0D-C67BD122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9F6F31-E075-2545-A781-0339F940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739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580257-6118-834A-828F-80A60B8F4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0A4C82-737D-134C-B836-4C9764BD6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EA2BEB6-75A9-7D41-9310-E6EC9C8A0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8650F69-99DC-3244-8264-DD7C53678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4EA0C86-F660-D54F-8FF9-144C50A5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51824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61" name="Picture 9">
            <a:extLst>
              <a:ext uri="{FF2B5EF4-FFF2-40B4-BE49-F238E27FC236}">
                <a16:creationId xmlns:a16="http://schemas.microsoft.com/office/drawing/2014/main" id="{DF370A1E-66A6-4164-BB42-A090CCC6E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3175"/>
            <a:ext cx="12187767" cy="6854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4" name="Rectangle 2">
            <a:extLst>
              <a:ext uri="{FF2B5EF4-FFF2-40B4-BE49-F238E27FC236}">
                <a16:creationId xmlns:a16="http://schemas.microsoft.com/office/drawing/2014/main" id="{5A4CBB7B-EF3C-4DD2-946D-0973C405E5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28800" y="2286000"/>
            <a:ext cx="9448800" cy="152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it-IT" altLang="it-IT" noProof="0"/>
              <a:t>Fare clic per modificare stile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5CE227D-EB6E-41DB-87F9-BB776634C63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>
              <a:buFontTx/>
              <a:buNone/>
              <a:defRPr sz="2000"/>
            </a:lvl1pPr>
          </a:lstStyle>
          <a:p>
            <a:pPr lvl="0"/>
            <a:r>
              <a:rPr lang="it-IT" altLang="it-IT" noProof="0"/>
              <a:t>Fare clic per modificare lo stile del sottotitolo dello schema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0C4FC16B-CD8A-478E-A120-0B9DAA6ADD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fld id="{3918CCB4-5C17-E541-BD27-7199A963DE3E}" type="datetime1">
              <a:rPr lang="it-IT" smtClean="0"/>
              <a:t>11/02/26</a:t>
            </a:fld>
            <a:endParaRPr lang="it-IT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7C5CDEC7-142D-4572-BADA-0664B2BD304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8F78271C-E50F-4E57-8490-0F2B0CE1FB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5008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FDBEEB-3DC4-47B0-96A3-87853E398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11569AB-11A6-43ED-8866-C7F3AC6DD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657E631-4CF9-4369-A7B2-91BB3B923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D86507-F3D3-F747-A009-2AAEF24585E3}" type="datetime1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03A09A-55B6-4C5A-80AC-6DBEA0119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4A3059D-3E94-4EF6-96D9-951523F4D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7640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92B9E9-4DB6-404F-AF57-71D02B5A1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8689C22-21E3-422E-9276-20D95104E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54423CB-323E-4022-AB40-A7B15FA4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E8346C-D92B-AB41-B141-896F6BF8D5DB}" type="datetime1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8261A3D-B0BC-482F-BEE0-1A1F48DEF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D5A7E62-5F0C-4210-82D1-C89C15044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8533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E2B3D-FADA-489D-A852-DFB15962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F1BC46-3EA3-4427-887A-3D340CFF40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DEC28AB-7D96-4599-AE6D-D079BC3A75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78D2232-690E-432F-A1D5-E44DF0723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8550DE-4423-7C42-A8C3-EE36B3113144}" type="datetime1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29501D-F432-48A1-9A4A-0F3D984DB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32A416-2BF7-402F-ACB6-B44BD458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833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A7712F-210A-4FE0-8EB7-A3E68923B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DFCBE7C-50CD-4C6F-B099-EAF2CAE13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546FFDC-C8FD-49E2-8132-A71474020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90EA858-3563-44C4-8074-7BD3B177D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C199B7A-F6B5-4526-AA8B-66B0452E35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A62169A-C0D4-4888-A5A1-BFE553447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0C315C-7D59-014D-9E75-C684B2DE93B1}" type="datetime1">
              <a:rPr lang="it-IT" smtClean="0"/>
              <a:t>11/02/26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2C0BFD2-79CD-4EBC-A55C-2F0810D0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1D3AD8-F6F6-4A39-89D0-7F853DC1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2843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797A88-9979-4D4C-B0DD-493057351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25B6884-9529-48B6-8640-A1329E45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71C2E9-B3E5-B048-A34A-16D3FBD4BA40}" type="datetime1">
              <a:rPr lang="it-IT" smtClean="0"/>
              <a:t>11/02/26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59D6A26-BBBC-4F16-A6A8-25256115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89C34D5-B22D-4BF4-8618-FF960F117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60609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229A832-0408-495B-9E6D-30475695E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4A60B20-9A49-464D-94A0-2766477C477F}" type="datetime1">
              <a:rPr lang="it-IT" smtClean="0"/>
              <a:t>11/02/26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5435D4-E9EE-471D-A32F-58A2612D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B4133A4-9C96-4E3D-B1DA-625E6F50F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52777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1E9D90-077B-42E9-B1DB-E8C240738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FD5E70-13E4-4F20-B1F2-35C7A3DAB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102804E-B1C1-49D1-9875-9030C2D44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CF01D4-8506-4EDA-AF30-CB223E56A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52E3315-E89C-7D4F-961F-215820A100C0}" type="datetime1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002A413-0A26-4532-AE4D-DC5E092B3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1CDF88-3378-44C2-B3E6-7709876C9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76922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14DA07-0A7B-4DA0-B6B8-E553D7E5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0DDAF56-86A1-49BD-8220-FD7CE32A0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7C11146-D0B1-47D1-BC85-F2DA8A91B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071A16F-DAEF-4AF3-B620-192BD0137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5578B4-456A-F24B-9634-6DE95D31C60C}" type="datetime1">
              <a:rPr lang="it-IT" smtClean="0"/>
              <a:t>11/02/26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5421E69-28A1-4872-BD84-D600C8011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CB20CA8-12EE-4E6D-AEF5-078F9313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52590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95D3AF-2EDD-4110-950A-473D85C7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180504F-84C5-42EA-84C5-16D163597B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DC5E017-18D9-4A83-8153-2C3FF00DD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353E5C4-D3DC-744B-BC7A-31B87567ACCE}" type="datetime1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2A4EA4-4F56-4A8C-9130-EA1961447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04B7BA2-A6D1-4BF7-B502-F0AC01159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34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992031-9E39-4E0A-875F-9CF74240F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86800" y="990600"/>
            <a:ext cx="2590800" cy="5105400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6503F0C-66C4-431B-85EE-31C71495F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14400" y="990600"/>
            <a:ext cx="7569200" cy="510540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A46E06-4734-4956-A711-FF275A677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0E7595-6911-9743-BADA-D0AED29BBE4C}" type="datetime1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D496C9-937F-485D-B315-D4E4A844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9147EB-6BF7-44E3-9945-85D983C99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011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E7C78D9-CD80-D942-90ED-8F5512E1C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5616782-1ECE-D645-897C-9C685A0D4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114EF8-5598-AF48-AE17-32B6E10AC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27DBF-49E9-C74C-A641-9CC46EA80ECB}" type="datetimeFigureOut">
              <a:rPr lang="it-IT" smtClean="0"/>
              <a:t>11/02/26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6C2C75-0A77-DB48-B5F6-A2D12882A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EC222A-D3CB-D748-94A0-3AD3D9713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0CDDB4-3D3B-D540-B546-7A230B254B3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582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EBE3122-1B25-4156-9CFF-5424A7F3F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990600"/>
            <a:ext cx="10363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0079FE2-22B9-48D9-813D-43CC18C882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FFF36B-2A7D-43B8-AB4A-23074E6AFD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245C9311-5FD6-6847-A074-B2CA3DF751DB}" type="datetime1">
              <a:rPr lang="it-IT" smtClean="0"/>
              <a:t>11/02/26</a:t>
            </a:fld>
            <a:endParaRPr 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50210B-8B72-492C-BFA9-704CBDC140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it-IT"/>
              <a:t>Musei e Covid19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381682A-A876-4219-B42B-6FE321FAF4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6C387D2-B016-1841-BCE7-82212C4237EF}" type="slidenum">
              <a:rPr lang="it-IT" smtClean="0"/>
              <a:t>‹N›</a:t>
            </a:fld>
            <a:endParaRPr lang="it-IT"/>
          </a:p>
        </p:txBody>
      </p:sp>
      <p:pic>
        <p:nvPicPr>
          <p:cNvPr id="1035" name="Picture 11">
            <a:extLst>
              <a:ext uri="{FF2B5EF4-FFF2-40B4-BE49-F238E27FC236}">
                <a16:creationId xmlns:a16="http://schemas.microsoft.com/office/drawing/2014/main" id="{7EE90C76-710D-438A-AC48-9B8D9392B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7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302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5.jpeg"/><Relationship Id="rId5" Type="http://schemas.openxmlformats.org/officeDocument/2006/relationships/image" Target="../media/image40.png"/><Relationship Id="rId4" Type="http://schemas.microsoft.com/office/2014/relationships/chartEx" Target="../charts/chartEx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5.jpeg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9.xml"/><Relationship Id="rId5" Type="http://schemas.openxmlformats.org/officeDocument/2006/relationships/image" Target="../media/image5.jpeg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1.xml"/><Relationship Id="rId6" Type="http://schemas.openxmlformats.org/officeDocument/2006/relationships/image" Target="../media/image5.jpeg"/><Relationship Id="rId5" Type="http://schemas.openxmlformats.org/officeDocument/2006/relationships/image" Target="../media/image8.png"/><Relationship Id="rId4" Type="http://schemas.microsoft.com/office/2014/relationships/chartEx" Target="../charts/chartEx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5.jpeg"/><Relationship Id="rId4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16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chart" Target="../charts/chart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9.xml"/><Relationship Id="rId6" Type="http://schemas.openxmlformats.org/officeDocument/2006/relationships/chart" Target="../charts/chart8.xml"/><Relationship Id="rId5" Type="http://schemas.openxmlformats.org/officeDocument/2006/relationships/image" Target="../media/image5.jpe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hart" Target="../charts/chart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5.xml"/><Relationship Id="rId5" Type="http://schemas.openxmlformats.org/officeDocument/2006/relationships/chart" Target="../charts/chart15.xml"/><Relationship Id="rId4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3" Type="http://schemas.openxmlformats.org/officeDocument/2006/relationships/notesSlide" Target="../notesSlides/notesSlide16.xml"/><Relationship Id="rId7" Type="http://schemas.openxmlformats.org/officeDocument/2006/relationships/chart" Target="../charts/chart16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7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0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7" Type="http://schemas.openxmlformats.org/officeDocument/2006/relationships/comments" Target="../comments/comment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1.xml"/><Relationship Id="rId6" Type="http://schemas.openxmlformats.org/officeDocument/2006/relationships/image" Target="../media/image5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2.xml"/><Relationship Id="rId6" Type="http://schemas.openxmlformats.org/officeDocument/2006/relationships/comments" Target="../comments/comment2.xml"/><Relationship Id="rId5" Type="http://schemas.openxmlformats.org/officeDocument/2006/relationships/chart" Target="../charts/chart18.xml"/><Relationship Id="rId4" Type="http://schemas.openxmlformats.org/officeDocument/2006/relationships/image" Target="../media/image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4.xml"/><Relationship Id="rId6" Type="http://schemas.openxmlformats.org/officeDocument/2006/relationships/chart" Target="../charts/chart20.xml"/><Relationship Id="rId5" Type="http://schemas.openxmlformats.org/officeDocument/2006/relationships/image" Target="../media/image5.jpeg"/><Relationship Id="rId4" Type="http://schemas.openxmlformats.org/officeDocument/2006/relationships/chart" Target="../charts/char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37.xml"/><Relationship Id="rId5" Type="http://schemas.openxmlformats.org/officeDocument/2006/relationships/chart" Target="../charts/chart21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jpeg"/><Relationship Id="rId4" Type="http://schemas.openxmlformats.org/officeDocument/2006/relationships/chart" Target="../charts/char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jpeg"/><Relationship Id="rId4" Type="http://schemas.openxmlformats.org/officeDocument/2006/relationships/chart" Target="../charts/char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3.xml"/><Relationship Id="rId4" Type="http://schemas.openxmlformats.org/officeDocument/2006/relationships/chart" Target="../charts/chart2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8.xml"/><Relationship Id="rId3" Type="http://schemas.openxmlformats.org/officeDocument/2006/relationships/notesSlide" Target="../notesSlides/notesSlide25.xml"/><Relationship Id="rId7" Type="http://schemas.openxmlformats.org/officeDocument/2006/relationships/chart" Target="../charts/chart27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5.xml"/><Relationship Id="rId6" Type="http://schemas.openxmlformats.org/officeDocument/2006/relationships/image" Target="../media/image12.jpe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notesSlide" Target="../notesSlides/notesSlide26.xml"/><Relationship Id="rId7" Type="http://schemas.openxmlformats.org/officeDocument/2006/relationships/chart" Target="../charts/chart29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8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8.xml"/><Relationship Id="rId1" Type="http://schemas.openxmlformats.org/officeDocument/2006/relationships/themeOverride" Target="../theme/themeOverride51.xml"/><Relationship Id="rId6" Type="http://schemas.openxmlformats.org/officeDocument/2006/relationships/image" Target="../media/image5.jpeg"/><Relationship Id="rId5" Type="http://schemas.openxmlformats.org/officeDocument/2006/relationships/image" Target="../media/image9.png"/><Relationship Id="rId4" Type="http://schemas.openxmlformats.org/officeDocument/2006/relationships/chart" Target="../charts/chart3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5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4.xml"/><Relationship Id="rId4" Type="http://schemas.openxmlformats.org/officeDocument/2006/relationships/image" Target="../media/image11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37.xml"/><Relationship Id="rId4" Type="http://schemas.openxmlformats.org/officeDocument/2006/relationships/chart" Target="../charts/chart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3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1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46.xml"/><Relationship Id="rId4" Type="http://schemas.openxmlformats.org/officeDocument/2006/relationships/chart" Target="../charts/chart4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4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8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49.xml"/><Relationship Id="rId4" Type="http://schemas.openxmlformats.org/officeDocument/2006/relationships/image" Target="../media/image5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50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Relationship Id="rId4" Type="http://schemas.openxmlformats.org/officeDocument/2006/relationships/chart" Target="../charts/chart5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Relationship Id="rId5" Type="http://schemas.openxmlformats.org/officeDocument/2006/relationships/chart" Target="../charts/chart52.xml"/><Relationship Id="rId4" Type="http://schemas.openxmlformats.org/officeDocument/2006/relationships/image" Target="../media/image11.sv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e-mo.org/fileadmin/Dateien/public/NEMO_documents/NEMO_COVID19_FollowUpReport_11.1.2021.pdf" TargetMode="External"/><Relationship Id="rId3" Type="http://schemas.openxmlformats.org/officeDocument/2006/relationships/hyperlink" Target="https://icom.museum/wp-content/uploads/2021/07/Museums-and-Covid-19_third-ICOM-report.pdf" TargetMode="External"/><Relationship Id="rId7" Type="http://schemas.openxmlformats.org/officeDocument/2006/relationships/hyperlink" Target="https://master.unibo.it/turismoculturale/it/progetti/futurismi-le-indagini-del-master-per-capire-come-il-covid-19-ha-cambiato-il-turismo-culturale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stat.it/it/archivio/264586" TargetMode="External"/><Relationship Id="rId11" Type="http://schemas.openxmlformats.org/officeDocument/2006/relationships/hyperlink" Target="https://unesdoc.unesco.org/ark:/48223/pf0000376729_eng" TargetMode="External"/><Relationship Id="rId5" Type="http://schemas.openxmlformats.org/officeDocument/2006/relationships/hyperlink" Target="https://www.istat.it/it/archivio/251882" TargetMode="External"/><Relationship Id="rId10" Type="http://schemas.openxmlformats.org/officeDocument/2006/relationships/hyperlink" Target="https://bbcc.ibc.regione.emilia-romagna.it/" TargetMode="External"/><Relationship Id="rId4" Type="http://schemas.openxmlformats.org/officeDocument/2006/relationships/hyperlink" Target="https://www.istat.it/it/files/2020/05/I-musei-statali-al-tempo-del-Covid-19.pdf" TargetMode="External"/><Relationship Id="rId9" Type="http://schemas.openxmlformats.org/officeDocument/2006/relationships/hyperlink" Target="https://www.emiliaromagnaosservatorioculturaecreativita.i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>
            <a:extLst>
              <a:ext uri="{FF2B5EF4-FFF2-40B4-BE49-F238E27FC236}">
                <a16:creationId xmlns:a16="http://schemas.microsoft.com/office/drawing/2014/main" id="{5F3E2C98-54EE-8D4D-A413-BD0A95ACC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6364" y="25400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alt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9487F6-5198-E842-8E07-3710B494E781}"/>
              </a:ext>
            </a:extLst>
          </p:cNvPr>
          <p:cNvSpPr txBox="1"/>
          <p:nvPr/>
        </p:nvSpPr>
        <p:spPr>
          <a:xfrm>
            <a:off x="734289" y="1747966"/>
            <a:ext cx="5306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Settore Patrimonio culturale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Settore innovazione digitale, dei dati e della tecnologia</a:t>
            </a:r>
          </a:p>
        </p:txBody>
      </p:sp>
      <p:pic>
        <p:nvPicPr>
          <p:cNvPr id="8" name="Immagine 7" descr="Immagine che contiene testo, quotidiano&#10;&#10;Descrizione generata automaticamente">
            <a:extLst>
              <a:ext uri="{FF2B5EF4-FFF2-40B4-BE49-F238E27FC236}">
                <a16:creationId xmlns:a16="http://schemas.microsoft.com/office/drawing/2014/main" id="{0FE20F46-23EC-5916-2C0F-124C6BAE8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8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9B0FF7-1129-4446-BCED-F0653433D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46" y="1033421"/>
            <a:ext cx="8082455" cy="4791158"/>
          </a:xfrm>
        </p:spPr>
        <p:txBody>
          <a:bodyPr anchor="ctr"/>
          <a:lstStyle/>
          <a:p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 musei in Emilia-Romagna</a:t>
            </a:r>
          </a:p>
          <a:p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Arriva il Covid19: </a:t>
            </a:r>
          </a:p>
          <a:p>
            <a:pPr lvl="1"/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la situazione internazionale</a:t>
            </a:r>
          </a:p>
          <a:p>
            <a:pPr lvl="1"/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la situazione in Emilia-Romagna</a:t>
            </a:r>
          </a:p>
          <a:p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Le percezioni strategiche di fronte alla pandemia</a:t>
            </a:r>
          </a:p>
          <a:p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Il digitale ai tempi del Covid19</a:t>
            </a:r>
          </a:p>
          <a:p>
            <a:r>
              <a:rPr lang="it-IT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Fonti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D2450158-485A-EB48-B687-A3650FB9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</p:spTree>
    <p:extLst>
      <p:ext uri="{BB962C8B-B14F-4D97-AF65-F5344CB8AC3E}">
        <p14:creationId xmlns:p14="http://schemas.microsoft.com/office/powerpoint/2010/main" val="23457459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F4306F-57DC-C340-A3BE-390B63531B8C}"/>
              </a:ext>
            </a:extLst>
          </p:cNvPr>
          <p:cNvSpPr txBox="1"/>
          <p:nvPr/>
        </p:nvSpPr>
        <p:spPr>
          <a:xfrm>
            <a:off x="3770305" y="1167462"/>
            <a:ext cx="498245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I Musei in Emilia-Romagna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C62EF48-49BA-4CA0-8E85-F18D47E5442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78" t="11347" r="5721" b="21582"/>
          <a:stretch/>
        </p:blipFill>
        <p:spPr>
          <a:xfrm>
            <a:off x="1053152" y="2038646"/>
            <a:ext cx="10416763" cy="401088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noFill/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D07A3AB1-D742-DC4F-AFD2-2A5EDF982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</p:spTree>
    <p:extLst>
      <p:ext uri="{BB962C8B-B14F-4D97-AF65-F5344CB8AC3E}">
        <p14:creationId xmlns:p14="http://schemas.microsoft.com/office/powerpoint/2010/main" val="20639484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4="http://schemas.microsoft.com/office/drawing/2016/5/10/chartex">
        <mc:Choice Requires="cx4">
          <p:graphicFrame>
            <p:nvGraphicFramePr>
              <p:cNvPr id="2" name="Grafico 1">
                <a:extLst>
                  <a:ext uri="{FF2B5EF4-FFF2-40B4-BE49-F238E27FC236}">
                    <a16:creationId xmlns:a16="http://schemas.microsoft.com/office/drawing/2014/main" id="{80257BDD-49CE-42F9-9270-77B63E40065A}"/>
                  </a:ext>
                </a:extLst>
              </p:cNvPr>
              <p:cNvGraphicFramePr/>
              <p:nvPr/>
            </p:nvGraphicFramePr>
            <p:xfrm>
              <a:off x="3284013" y="911819"/>
              <a:ext cx="8143137" cy="527198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2" name="Grafico 1">
                <a:extLst>
                  <a:ext uri="{FF2B5EF4-FFF2-40B4-BE49-F238E27FC236}">
                    <a16:creationId xmlns:a16="http://schemas.microsoft.com/office/drawing/2014/main" id="{80257BDD-49CE-42F9-9270-77B63E40065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84013" y="911819"/>
                <a:ext cx="8143137" cy="5271988"/>
              </a:xfrm>
              <a:prstGeom prst="rect">
                <a:avLst/>
              </a:prstGeom>
            </p:spPr>
          </p:pic>
        </mc:Fallback>
      </mc:AlternateContent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5AE01488-B914-B042-9AD9-5283EC3DD378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A85EE42-C3B1-B343-9E98-38126789E102}"/>
              </a:ext>
            </a:extLst>
          </p:cNvPr>
          <p:cNvSpPr txBox="1"/>
          <p:nvPr/>
        </p:nvSpPr>
        <p:spPr>
          <a:xfrm>
            <a:off x="399473" y="1612882"/>
            <a:ext cx="298918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Distribuzione per Provincia</a:t>
            </a:r>
          </a:p>
        </p:txBody>
      </p:sp>
      <p:sp>
        <p:nvSpPr>
          <p:cNvPr id="10" name="Segnaposto piè di pagina 3">
            <a:extLst>
              <a:ext uri="{FF2B5EF4-FFF2-40B4-BE49-F238E27FC236}">
                <a16:creationId xmlns:a16="http://schemas.microsoft.com/office/drawing/2014/main" id="{1ABB35A0-AB49-C647-891F-F14CB9F18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3EB17F-29B5-D04B-A557-AAC01D76663D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Banca dati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PatER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8" name="Immagine 7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D3B8E05F-6E34-8F41-A737-BAB6F16D4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8597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7">
            <a:extLst>
              <a:ext uri="{FF2B5EF4-FFF2-40B4-BE49-F238E27FC236}">
                <a16:creationId xmlns:a16="http://schemas.microsoft.com/office/drawing/2014/main" id="{6038413A-AFD6-A24D-AE1F-F1286CA5831A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315C998-78AD-7441-8068-F2241DC60A05}"/>
              </a:ext>
            </a:extLst>
          </p:cNvPr>
          <p:cNvSpPr txBox="1"/>
          <p:nvPr/>
        </p:nvSpPr>
        <p:spPr>
          <a:xfrm>
            <a:off x="6451290" y="1627700"/>
            <a:ext cx="5376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Presenza di almeno un museo nel territorio comunale</a:t>
            </a:r>
          </a:p>
        </p:txBody>
      </p:sp>
      <p:sp>
        <p:nvSpPr>
          <p:cNvPr id="16" name="Segnaposto piè di pagina 3">
            <a:extLst>
              <a:ext uri="{FF2B5EF4-FFF2-40B4-BE49-F238E27FC236}">
                <a16:creationId xmlns:a16="http://schemas.microsoft.com/office/drawing/2014/main" id="{FBAAAA79-9B08-AF40-A1DC-7FE833D4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936EE8DB-6704-2445-B1E5-67F525533A0F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Banca dati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PatER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8" name="Immagine 7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565425E6-687C-2E47-9E66-0BF7444C0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pic>
        <p:nvPicPr>
          <p:cNvPr id="4" name="Immagine 3" descr="Immagine che contiene mappa&#10;&#10;Descrizione generata automaticamente">
            <a:extLst>
              <a:ext uri="{FF2B5EF4-FFF2-40B4-BE49-F238E27FC236}">
                <a16:creationId xmlns:a16="http://schemas.microsoft.com/office/drawing/2014/main" id="{C4B66957-85E5-4220-9A67-0050F0671F9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2" t="15764" r="6531" b="16948"/>
          <a:stretch/>
        </p:blipFill>
        <p:spPr>
          <a:xfrm>
            <a:off x="186789" y="2316861"/>
            <a:ext cx="6142430" cy="330026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DF0AE15C-8A13-414A-B42C-ADAC08928586}"/>
              </a:ext>
            </a:extLst>
          </p:cNvPr>
          <p:cNvSpPr txBox="1"/>
          <p:nvPr/>
        </p:nvSpPr>
        <p:spPr>
          <a:xfrm>
            <a:off x="1140369" y="1625366"/>
            <a:ext cx="3454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Densità dei musei per Comune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ACC5F2B8-AC9B-4B0D-BDA5-A8A15668B6C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42" r="3105"/>
          <a:stretch/>
        </p:blipFill>
        <p:spPr>
          <a:xfrm>
            <a:off x="6224477" y="2281633"/>
            <a:ext cx="5707938" cy="333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951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422EBFA4-CA4B-2849-9E68-BA1D0A35A6FE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00000000-0008-0000-0D00-000003000000}"/>
              </a:ext>
            </a:extLst>
          </p:cNvPr>
          <p:cNvGraphicFramePr>
            <a:graphicFrameLocks/>
          </p:cNvGraphicFramePr>
          <p:nvPr/>
        </p:nvGraphicFramePr>
        <p:xfrm>
          <a:off x="-1541881" y="1270931"/>
          <a:ext cx="7687540" cy="47472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0CE1C1CA-03ED-2C48-AFC7-FCFFEECBF6E0}"/>
              </a:ext>
            </a:extLst>
          </p:cNvPr>
          <p:cNvSpPr txBox="1"/>
          <p:nvPr/>
        </p:nvSpPr>
        <p:spPr>
          <a:xfrm>
            <a:off x="4417208" y="1160127"/>
            <a:ext cx="2807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Distribuzione per titolarità</a:t>
            </a:r>
          </a:p>
        </p:txBody>
      </p:sp>
      <p:graphicFrame>
        <p:nvGraphicFramePr>
          <p:cNvPr id="7" name="Grafico 6">
            <a:extLst>
              <a:ext uri="{FF2B5EF4-FFF2-40B4-BE49-F238E27FC236}">
                <a16:creationId xmlns:a16="http://schemas.microsoft.com/office/drawing/2014/main" id="{5ED853BD-D3B5-AD46-95C6-0078C14CAE5E}"/>
              </a:ext>
            </a:extLst>
          </p:cNvPr>
          <p:cNvGraphicFramePr>
            <a:graphicFrameLocks/>
          </p:cNvGraphicFramePr>
          <p:nvPr/>
        </p:nvGraphicFramePr>
        <p:xfrm>
          <a:off x="4808483" y="1524535"/>
          <a:ext cx="7336341" cy="46044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Segnaposto piè di pagina 3">
            <a:extLst>
              <a:ext uri="{FF2B5EF4-FFF2-40B4-BE49-F238E27FC236}">
                <a16:creationId xmlns:a16="http://schemas.microsoft.com/office/drawing/2014/main" id="{FA894E49-7746-F34F-AE48-AD97AA469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39A38A6-6A15-254E-9E42-D93FFDCB7F4F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pic>
        <p:nvPicPr>
          <p:cNvPr id="9" name="Immagine 8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A044FC31-88EE-784D-B3F1-49F94E8AD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671853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422EBFA4-CA4B-2849-9E68-BA1D0A35A6FE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A7D9848-54C4-6943-9796-4FDA6885FA14}"/>
              </a:ext>
            </a:extLst>
          </p:cNvPr>
          <p:cNvSpPr txBox="1"/>
          <p:nvPr/>
        </p:nvSpPr>
        <p:spPr>
          <a:xfrm>
            <a:off x="9076989" y="2308637"/>
            <a:ext cx="2830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Distribuzione per tipologia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7067E8A6-BAA6-C349-A385-FD06A24C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843CAA3-3E1D-3D47-B4DB-32C56985F25A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Banca dati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PatER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00000000-0008-0000-0300-000002000000}"/>
              </a:ext>
            </a:extLst>
          </p:cNvPr>
          <p:cNvGraphicFramePr>
            <a:graphicFrameLocks/>
          </p:cNvGraphicFramePr>
          <p:nvPr/>
        </p:nvGraphicFramePr>
        <p:xfrm>
          <a:off x="642938" y="1185862"/>
          <a:ext cx="8501062" cy="4902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8" name="Immagine 7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912C675B-4EC1-B149-99A1-131E16022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4505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422EBFA4-CA4B-2849-9E68-BA1D0A35A6FE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2B33C5F-75CF-204A-A750-1EE3F67D078D}"/>
              </a:ext>
            </a:extLst>
          </p:cNvPr>
          <p:cNvSpPr txBox="1"/>
          <p:nvPr/>
        </p:nvSpPr>
        <p:spPr>
          <a:xfrm>
            <a:off x="5096164" y="1087002"/>
            <a:ext cx="3311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Anno di apertura al pubblico</a:t>
            </a:r>
          </a:p>
        </p:txBody>
      </p:sp>
      <p:sp>
        <p:nvSpPr>
          <p:cNvPr id="10" name="Segnaposto piè di pagina 3">
            <a:extLst>
              <a:ext uri="{FF2B5EF4-FFF2-40B4-BE49-F238E27FC236}">
                <a16:creationId xmlns:a16="http://schemas.microsoft.com/office/drawing/2014/main" id="{2F978E17-C319-964D-9AED-1BF4106C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12" name="Grafico 11">
                <a:extLst>
                  <a:ext uri="{FF2B5EF4-FFF2-40B4-BE49-F238E27FC236}">
                    <a16:creationId xmlns:a16="http://schemas.microsoft.com/office/drawing/2014/main" id="{41352ECB-F6C1-4526-B951-FCC08283D083}"/>
                  </a:ext>
                </a:extLst>
              </p:cNvPr>
              <p:cNvGraphicFramePr/>
              <p:nvPr/>
            </p:nvGraphicFramePr>
            <p:xfrm>
              <a:off x="2076262" y="1625724"/>
              <a:ext cx="8039476" cy="444025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4"/>
              </a:graphicData>
            </a:graphic>
          </p:graphicFrame>
        </mc:Choice>
        <mc:Fallback xmlns="">
          <p:pic>
            <p:nvPicPr>
              <p:cNvPr id="12" name="Grafico 11">
                <a:extLst>
                  <a:ext uri="{FF2B5EF4-FFF2-40B4-BE49-F238E27FC236}">
                    <a16:creationId xmlns:a16="http://schemas.microsoft.com/office/drawing/2014/main" id="{41352ECB-F6C1-4526-B951-FCC08283D0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6262" y="1625724"/>
                <a:ext cx="8039476" cy="4440255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9911A4E-4CF3-4892-A166-377FC75B99BD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Banca dati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PatER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3" name="Immagine 2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01FF1018-57F1-4AE4-A931-AB8069209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320237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Banca dati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PatER</a:t>
            </a:r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2BCDF1A-94AD-8043-AA17-352177B037A7}"/>
              </a:ext>
            </a:extLst>
          </p:cNvPr>
          <p:cNvSpPr txBox="1"/>
          <p:nvPr/>
        </p:nvSpPr>
        <p:spPr>
          <a:xfrm>
            <a:off x="3760639" y="1267936"/>
            <a:ext cx="483927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/>
                <a:ea typeface="ＭＳ Ｐゴシック"/>
                <a:cs typeface="+mn-cs"/>
              </a:rPr>
              <a:t>Tipologia di musei per anno di apertura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highlight>
                <a:srgbClr val="FFFF00"/>
              </a:highlight>
              <a:uLnTx/>
              <a:uFillTx/>
              <a:latin typeface="Arial Narrow"/>
              <a:ea typeface="ＭＳ Ｐゴシック"/>
              <a:cs typeface="+mn-cs"/>
            </a:endParaRPr>
          </a:p>
        </p:txBody>
      </p:sp>
      <p:pic>
        <p:nvPicPr>
          <p:cNvPr id="3" name="Immagine 2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BF6085BE-7387-4392-B142-ED76350BE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A8FC6F17-CFE1-47FD-A9F3-AF232E9C7B78}"/>
              </a:ext>
            </a:extLst>
          </p:cNvPr>
          <p:cNvGraphicFramePr>
            <a:graphicFrameLocks/>
          </p:cNvGraphicFramePr>
          <p:nvPr/>
        </p:nvGraphicFramePr>
        <p:xfrm>
          <a:off x="956006" y="1839201"/>
          <a:ext cx="10587790" cy="4135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5431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egnaposto piè di pagina 3">
            <a:extLst>
              <a:ext uri="{FF2B5EF4-FFF2-40B4-BE49-F238E27FC236}">
                <a16:creationId xmlns:a16="http://schemas.microsoft.com/office/drawing/2014/main" id="{922A959B-F7B9-9B4D-BEE3-8AAD8E088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9EFB61D-F762-C445-9285-B11013EB7364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00000000-0008-0000-1200-000006000000}"/>
              </a:ext>
            </a:extLst>
          </p:cNvPr>
          <p:cNvGraphicFramePr>
            <a:graphicFrameLocks/>
          </p:cNvGraphicFramePr>
          <p:nvPr/>
        </p:nvGraphicFramePr>
        <p:xfrm>
          <a:off x="1124042" y="1606613"/>
          <a:ext cx="10112480" cy="4464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D243F7BE-0177-424F-B1D3-4690A0A20945}"/>
              </a:ext>
            </a:extLst>
          </p:cNvPr>
          <p:cNvSpPr txBox="1"/>
          <p:nvPr/>
        </p:nvSpPr>
        <p:spPr>
          <a:xfrm>
            <a:off x="3145313" y="1167533"/>
            <a:ext cx="6069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it-IT"/>
            </a:defPPr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Dimensione dei musei in base al numero di addetti</a:t>
            </a:r>
          </a:p>
        </p:txBody>
      </p:sp>
      <p:pic>
        <p:nvPicPr>
          <p:cNvPr id="9" name="Immagine 8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0CFBCA18-2671-5143-8BDE-478887450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9014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432B65F7-7903-5E4C-ADAF-05386B52F55D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6F5F601-9913-4044-9053-55E0BDA14EED}"/>
              </a:ext>
            </a:extLst>
          </p:cNvPr>
          <p:cNvSpPr txBox="1"/>
          <p:nvPr/>
        </p:nvSpPr>
        <p:spPr>
          <a:xfrm>
            <a:off x="3470655" y="1107619"/>
            <a:ext cx="487417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it-IT"/>
            </a:defPPr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/>
                <a:ea typeface="ＭＳ Ｐゴシック"/>
                <a:cs typeface="Arial Narrow" panose="020B0604020202020204" pitchFamily="34" charset="0"/>
              </a:rPr>
              <a:t>Relazione dimensione/visitatori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sp>
        <p:nvSpPr>
          <p:cNvPr id="13" name="Segnaposto piè di pagina 3">
            <a:extLst>
              <a:ext uri="{FF2B5EF4-FFF2-40B4-BE49-F238E27FC236}">
                <a16:creationId xmlns:a16="http://schemas.microsoft.com/office/drawing/2014/main" id="{9608E1C5-733D-BA41-A69E-AC99F566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E40B04F-5D40-E54F-9C19-B3BBF1196595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2020</a:t>
            </a:r>
          </a:p>
        </p:txBody>
      </p:sp>
      <p:pic>
        <p:nvPicPr>
          <p:cNvPr id="9" name="Immagine 8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08354EC0-DB77-8F48-B6CA-9E7B9B6E2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00000000-0008-0000-0800-000004000000}"/>
              </a:ext>
            </a:extLst>
          </p:cNvPr>
          <p:cNvGraphicFramePr>
            <a:graphicFrameLocks/>
          </p:cNvGraphicFramePr>
          <p:nvPr/>
        </p:nvGraphicFramePr>
        <p:xfrm>
          <a:off x="0" y="1725332"/>
          <a:ext cx="5907740" cy="4310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00000000-0008-0000-0800-000002000000}"/>
              </a:ext>
            </a:extLst>
          </p:cNvPr>
          <p:cNvGraphicFramePr>
            <a:graphicFrameLocks/>
          </p:cNvGraphicFramePr>
          <p:nvPr/>
        </p:nvGraphicFramePr>
        <p:xfrm>
          <a:off x="6132353" y="1725332"/>
          <a:ext cx="5875020" cy="4310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868499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ttore diritto 7">
            <a:extLst>
              <a:ext uri="{FF2B5EF4-FFF2-40B4-BE49-F238E27FC236}">
                <a16:creationId xmlns:a16="http://schemas.microsoft.com/office/drawing/2014/main" id="{BA81725F-6056-B147-97CA-1E85D47D07CA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938A4E-B7FF-0F41-A7B4-7064A6FC57B6}"/>
              </a:ext>
            </a:extLst>
          </p:cNvPr>
          <p:cNvSpPr txBox="1"/>
          <p:nvPr/>
        </p:nvSpPr>
        <p:spPr>
          <a:xfrm>
            <a:off x="1329058" y="1125877"/>
            <a:ext cx="351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Relazione numero musei/visitatori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0BBDAD45-20CE-FD46-A3C5-C5B49F04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E27B082C-549F-834C-95B7-3C0FAF5B0B32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2020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9E1A68D-EEA9-5943-9511-A99FB2E82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072" y="6291587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magine 14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C648F1DB-56A4-114C-B3AB-F776BCC60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00000000-0008-0000-0100-000013000000}"/>
              </a:ext>
            </a:extLst>
          </p:cNvPr>
          <p:cNvGraphicFramePr>
            <a:graphicFrameLocks/>
          </p:cNvGraphicFramePr>
          <p:nvPr/>
        </p:nvGraphicFramePr>
        <p:xfrm>
          <a:off x="-12660" y="1607432"/>
          <a:ext cx="6203268" cy="4550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97830CA8-818F-4811-99CE-F6714A8A2132}"/>
              </a:ext>
            </a:extLst>
          </p:cNvPr>
          <p:cNvGraphicFramePr>
            <a:graphicFrameLocks/>
          </p:cNvGraphicFramePr>
          <p:nvPr/>
        </p:nvGraphicFramePr>
        <p:xfrm>
          <a:off x="5977622" y="1607432"/>
          <a:ext cx="6133696" cy="4549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4" name="CasellaDiTesto 3">
            <a:extLst>
              <a:ext uri="{FF2B5EF4-FFF2-40B4-BE49-F238E27FC236}">
                <a16:creationId xmlns:a16="http://schemas.microsoft.com/office/drawing/2014/main" id="{678C7B6E-2090-422C-A4E0-07B8831C29BA}"/>
              </a:ext>
            </a:extLst>
          </p:cNvPr>
          <p:cNvSpPr txBox="1"/>
          <p:nvPr/>
        </p:nvSpPr>
        <p:spPr>
          <a:xfrm>
            <a:off x="6947109" y="1125877"/>
            <a:ext cx="4194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Relazione numero musei/personale</a:t>
            </a:r>
          </a:p>
        </p:txBody>
      </p:sp>
    </p:spTree>
    <p:extLst>
      <p:ext uri="{BB962C8B-B14F-4D97-AF65-F5344CB8AC3E}">
        <p14:creationId xmlns:p14="http://schemas.microsoft.com/office/powerpoint/2010/main" val="3696591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F4306F-57DC-C340-A3BE-390B63531B8C}"/>
              </a:ext>
            </a:extLst>
          </p:cNvPr>
          <p:cNvSpPr txBox="1"/>
          <p:nvPr/>
        </p:nvSpPr>
        <p:spPr>
          <a:xfrm>
            <a:off x="2981753" y="1203435"/>
            <a:ext cx="62284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Arriva il Covid19: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la situazione internazionale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648F1399-2DDF-5841-8EED-9B5DD4BE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46A10140-074B-452A-BB69-FE322740FC59}"/>
              </a:ext>
            </a:extLst>
          </p:cNvPr>
          <p:cNvGraphicFramePr>
            <a:graphicFrameLocks/>
          </p:cNvGraphicFramePr>
          <p:nvPr/>
        </p:nvGraphicFramePr>
        <p:xfrm>
          <a:off x="2394109" y="2660994"/>
          <a:ext cx="3262086" cy="2993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3BB391F9-A326-421B-B4CE-23A4240E8896}"/>
              </a:ext>
            </a:extLst>
          </p:cNvPr>
          <p:cNvGraphicFramePr>
            <a:graphicFrameLocks/>
          </p:cNvGraphicFramePr>
          <p:nvPr/>
        </p:nvGraphicFramePr>
        <p:xfrm>
          <a:off x="6535807" y="2660993"/>
          <a:ext cx="2957286" cy="2993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665823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2468C19-4474-458C-9FEA-578539241718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6E86783-C51A-B044-A629-B2B60139A8DC}"/>
              </a:ext>
            </a:extLst>
          </p:cNvPr>
          <p:cNvSpPr txBox="1"/>
          <p:nvPr/>
        </p:nvSpPr>
        <p:spPr>
          <a:xfrm>
            <a:off x="5234060" y="1258656"/>
            <a:ext cx="216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Aperture/Chiusure</a:t>
            </a:r>
          </a:p>
        </p:txBody>
      </p:sp>
      <p:pic>
        <p:nvPicPr>
          <p:cNvPr id="8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00000000-0008-0000-0000-0000100000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924" t="7924" r="7924" b="7924"/>
          <a:stretch/>
        </p:blipFill>
        <p:spPr>
          <a:xfrm>
            <a:off x="11574947" y="6271082"/>
            <a:ext cx="320566" cy="310312"/>
          </a:xfrm>
          <a:prstGeom prst="rect">
            <a:avLst/>
          </a:prstGeom>
        </p:spPr>
      </p:pic>
      <p:sp>
        <p:nvSpPr>
          <p:cNvPr id="25" name="Segnaposto piè di pagina 3">
            <a:extLst>
              <a:ext uri="{FF2B5EF4-FFF2-40B4-BE49-F238E27FC236}">
                <a16:creationId xmlns:a16="http://schemas.microsoft.com/office/drawing/2014/main" id="{CFC55032-3900-B049-9CC5-DB5D96AE9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F33D15C7-8C2D-8343-9A93-42F2A28EC878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</a:t>
            </a:r>
          </a:p>
        </p:txBody>
      </p:sp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A8E0191F-FE9D-464D-A77F-83C1BE6F9449}"/>
              </a:ext>
            </a:extLst>
          </p:cNvPr>
          <p:cNvGraphicFramePr>
            <a:graphicFrameLocks/>
          </p:cNvGraphicFramePr>
          <p:nvPr/>
        </p:nvGraphicFramePr>
        <p:xfrm>
          <a:off x="38735" y="1937442"/>
          <a:ext cx="4443869" cy="2642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afico 16">
            <a:extLst>
              <a:ext uri="{FF2B5EF4-FFF2-40B4-BE49-F238E27FC236}">
                <a16:creationId xmlns:a16="http://schemas.microsoft.com/office/drawing/2014/main" id="{2B5C8FF2-930E-46FA-ADB9-DF9F14B78948}"/>
              </a:ext>
            </a:extLst>
          </p:cNvPr>
          <p:cNvGraphicFramePr>
            <a:graphicFrameLocks/>
          </p:cNvGraphicFramePr>
          <p:nvPr/>
        </p:nvGraphicFramePr>
        <p:xfrm>
          <a:off x="3799195" y="3219932"/>
          <a:ext cx="4806000" cy="28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9" name="Grafico 18">
            <a:extLst>
              <a:ext uri="{FF2B5EF4-FFF2-40B4-BE49-F238E27FC236}">
                <a16:creationId xmlns:a16="http://schemas.microsoft.com/office/drawing/2014/main" id="{BBE0ADB5-8844-466D-9F21-11004C9FDB73}"/>
              </a:ext>
            </a:extLst>
          </p:cNvPr>
          <p:cNvGraphicFramePr>
            <a:graphicFrameLocks/>
          </p:cNvGraphicFramePr>
          <p:nvPr/>
        </p:nvGraphicFramePr>
        <p:xfrm>
          <a:off x="7559654" y="1867820"/>
          <a:ext cx="4806000" cy="282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241566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E0AA37E-1679-43A4-9FF8-40AE606BCB18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7432398-029C-0845-8D61-58BCE93DD357}"/>
              </a:ext>
            </a:extLst>
          </p:cNvPr>
          <p:cNvSpPr txBox="1"/>
          <p:nvPr/>
        </p:nvSpPr>
        <p:spPr>
          <a:xfrm>
            <a:off x="3219549" y="1129176"/>
            <a:ext cx="5921463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Aperture/chiusure in Europa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highlight>
                <a:srgbClr val="FFFF00"/>
              </a:highlight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7F89A963-B8CE-674F-A0DB-7CD8933A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2AD2B38-35A6-9649-A676-3593F651AAFF}"/>
              </a:ext>
            </a:extLst>
          </p:cNvPr>
          <p:cNvSpPr txBox="1"/>
          <p:nvPr/>
        </p:nvSpPr>
        <p:spPr>
          <a:xfrm>
            <a:off x="399472" y="6304395"/>
            <a:ext cx="223615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183D89F1-9053-8F41-BF66-69EE2ACC9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97" y="6294297"/>
            <a:ext cx="486794" cy="2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B1D435A6-7071-4540-9F7B-5F50E8DB1941}"/>
              </a:ext>
            </a:extLst>
          </p:cNvPr>
          <p:cNvSpPr txBox="1"/>
          <p:nvPr/>
        </p:nvSpPr>
        <p:spPr>
          <a:xfrm>
            <a:off x="10895527" y="5180570"/>
            <a:ext cx="211744" cy="18122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graphicFrame>
        <p:nvGraphicFramePr>
          <p:cNvPr id="24" name="Grafico 23">
            <a:extLst>
              <a:ext uri="{FF2B5EF4-FFF2-40B4-BE49-F238E27FC236}">
                <a16:creationId xmlns:a16="http://schemas.microsoft.com/office/drawing/2014/main" id="{C74E9AB0-9090-4129-BF96-8241E29CC34B}"/>
              </a:ext>
            </a:extLst>
          </p:cNvPr>
          <p:cNvGraphicFramePr>
            <a:graphicFrameLocks/>
          </p:cNvGraphicFramePr>
          <p:nvPr/>
        </p:nvGraphicFramePr>
        <p:xfrm>
          <a:off x="3415606" y="1664763"/>
          <a:ext cx="5529351" cy="4332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11769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F78C80E1-87FD-4451-9912-41B07B129FBC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96EA997B-5743-8E42-9A61-BCFC075268F7}"/>
              </a:ext>
            </a:extLst>
          </p:cNvPr>
          <p:cNvSpPr txBox="1"/>
          <p:nvPr/>
        </p:nvSpPr>
        <p:spPr>
          <a:xfrm>
            <a:off x="1325998" y="1940051"/>
            <a:ext cx="4191598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1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Dalla riapertura del museo dopo il primo </a:t>
            </a:r>
            <a:r>
              <a:rPr kumimoji="0" lang="it-IT" sz="1600" b="0" i="1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lockdown</a:t>
            </a: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AB4506-393D-C043-8553-4B703E849403}"/>
              </a:ext>
            </a:extLst>
          </p:cNvPr>
          <p:cNvSpPr txBox="1"/>
          <p:nvPr/>
        </p:nvSpPr>
        <p:spPr>
          <a:xfrm>
            <a:off x="4322618" y="1319938"/>
            <a:ext cx="354676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Perdita dei visitatori nel 2020 e nel 2021</a:t>
            </a:r>
          </a:p>
        </p:txBody>
      </p:sp>
      <p:sp>
        <p:nvSpPr>
          <p:cNvPr id="17" name="Segnaposto piè di pagina 3">
            <a:extLst>
              <a:ext uri="{FF2B5EF4-FFF2-40B4-BE49-F238E27FC236}">
                <a16:creationId xmlns:a16="http://schemas.microsoft.com/office/drawing/2014/main" id="{A6A4C29E-A6E4-7A4D-9505-3B435948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985EBAE-1C64-A54D-B6C0-01E7F5FDA34F}"/>
              </a:ext>
            </a:extLst>
          </p:cNvPr>
          <p:cNvSpPr txBox="1"/>
          <p:nvPr/>
        </p:nvSpPr>
        <p:spPr>
          <a:xfrm>
            <a:off x="399473" y="6304395"/>
            <a:ext cx="230338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NEMO 2021 – ICOM 2021</a:t>
            </a:r>
          </a:p>
        </p:txBody>
      </p:sp>
      <p:pic>
        <p:nvPicPr>
          <p:cNvPr id="19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B36B5711-2A8A-1544-AA2F-15FA0DF35EA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924" t="7924" r="7924" b="7924"/>
          <a:stretch/>
        </p:blipFill>
        <p:spPr>
          <a:xfrm>
            <a:off x="11475817" y="6297929"/>
            <a:ext cx="320566" cy="310312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CEC2F954-5F0F-C24D-B3A1-EC83F4F5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8212" y="6324777"/>
            <a:ext cx="486794" cy="2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3" name="Grafico 22">
            <a:extLst>
              <a:ext uri="{FF2B5EF4-FFF2-40B4-BE49-F238E27FC236}">
                <a16:creationId xmlns:a16="http://schemas.microsoft.com/office/drawing/2014/main" id="{F09094B1-1672-4687-8281-A3245B3040C3}"/>
              </a:ext>
            </a:extLst>
          </p:cNvPr>
          <p:cNvGraphicFramePr>
            <a:graphicFrameLocks/>
          </p:cNvGraphicFramePr>
          <p:nvPr/>
        </p:nvGraphicFramePr>
        <p:xfrm>
          <a:off x="6200105" y="1981477"/>
          <a:ext cx="5750595" cy="3538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5" name="Grafico 24">
            <a:extLst>
              <a:ext uri="{FF2B5EF4-FFF2-40B4-BE49-F238E27FC236}">
                <a16:creationId xmlns:a16="http://schemas.microsoft.com/office/drawing/2014/main" id="{5B51C78D-98EA-4E39-BBD9-72507024D1BB}"/>
              </a:ext>
            </a:extLst>
          </p:cNvPr>
          <p:cNvGraphicFramePr>
            <a:graphicFrameLocks/>
          </p:cNvGraphicFramePr>
          <p:nvPr/>
        </p:nvGraphicFramePr>
        <p:xfrm>
          <a:off x="950194" y="2124635"/>
          <a:ext cx="4733123" cy="38223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8767568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F4306F-57DC-C340-A3BE-390B63531B8C}"/>
              </a:ext>
            </a:extLst>
          </p:cNvPr>
          <p:cNvSpPr txBox="1"/>
          <p:nvPr/>
        </p:nvSpPr>
        <p:spPr>
          <a:xfrm>
            <a:off x="3415644" y="1272615"/>
            <a:ext cx="5969904" cy="12003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Arriva il Covid19: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la situazione in Emilia-Romagna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ABE6C2-3033-094C-BEB3-A04A813046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319" y="2600375"/>
            <a:ext cx="8795919" cy="3449146"/>
          </a:xfrm>
          <a:prstGeom prst="rect">
            <a:avLst/>
          </a:prstGeom>
          <a:noFill/>
        </p:spPr>
      </p:pic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8870673E-6D27-9F45-B8A3-062C3D556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C3E435AE-2AFB-4B4C-AAB1-1A4933FF6280}"/>
              </a:ext>
            </a:extLst>
          </p:cNvPr>
          <p:cNvSpPr/>
          <p:nvPr/>
        </p:nvSpPr>
        <p:spPr bwMode="auto">
          <a:xfrm>
            <a:off x="9711559" y="2610885"/>
            <a:ext cx="315310" cy="1719377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307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1E6DD627-C0C7-194E-B922-D06E6EE9E025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034D3C2-A80C-5C40-8C26-D2A24AA73F67}"/>
              </a:ext>
            </a:extLst>
          </p:cNvPr>
          <p:cNvSpPr txBox="1"/>
          <p:nvPr/>
        </p:nvSpPr>
        <p:spPr>
          <a:xfrm>
            <a:off x="3220397" y="1307249"/>
            <a:ext cx="575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Rapporto 2019/2020 per numero di visitatori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51A4A623-D25F-1047-9BFC-DB1296A306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7" t="16299" r="8933" b="20137"/>
          <a:stretch/>
        </p:blipFill>
        <p:spPr>
          <a:xfrm>
            <a:off x="5959424" y="2119540"/>
            <a:ext cx="6226776" cy="3441104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691D9E82-E4DB-4038-9C65-0836599697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36" t="18197" r="9644" b="22628"/>
          <a:stretch/>
        </p:blipFill>
        <p:spPr>
          <a:xfrm>
            <a:off x="89941" y="2245710"/>
            <a:ext cx="6117785" cy="3272303"/>
          </a:xfrm>
          <a:prstGeom prst="rect">
            <a:avLst/>
          </a:prstGeom>
          <a:ln>
            <a:noFill/>
          </a:ln>
        </p:spPr>
      </p:pic>
      <p:sp>
        <p:nvSpPr>
          <p:cNvPr id="12" name="Segnaposto piè di pagina 3">
            <a:extLst>
              <a:ext uri="{FF2B5EF4-FFF2-40B4-BE49-F238E27FC236}">
                <a16:creationId xmlns:a16="http://schemas.microsoft.com/office/drawing/2014/main" id="{7CD6524A-A5C3-9444-A520-139857579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D355517-442E-6049-87A2-37C6EA9B0016}"/>
              </a:ext>
            </a:extLst>
          </p:cNvPr>
          <p:cNvSpPr txBox="1"/>
          <p:nvPr/>
        </p:nvSpPr>
        <p:spPr>
          <a:xfrm>
            <a:off x="399473" y="6304395"/>
            <a:ext cx="21008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2020 - ISTAT 2021</a:t>
            </a:r>
          </a:p>
        </p:txBody>
      </p:sp>
      <p:pic>
        <p:nvPicPr>
          <p:cNvPr id="15" name="Immagine 14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4AAD986F-D8B5-CB41-890D-1EDD6EC3D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30226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09CE3A36-41DB-D347-A553-BEDD98AA6184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1386D1-89B3-1246-95F5-DDCAAB406739}"/>
              </a:ext>
            </a:extLst>
          </p:cNvPr>
          <p:cNvSpPr txBox="1"/>
          <p:nvPr/>
        </p:nvSpPr>
        <p:spPr>
          <a:xfrm>
            <a:off x="4588021" y="1154336"/>
            <a:ext cx="31845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Numero visitatori 2011-2020</a:t>
            </a:r>
          </a:p>
        </p:txBody>
      </p:sp>
      <p:sp>
        <p:nvSpPr>
          <p:cNvPr id="10" name="Segnaposto piè di pagina 3">
            <a:extLst>
              <a:ext uri="{FF2B5EF4-FFF2-40B4-BE49-F238E27FC236}">
                <a16:creationId xmlns:a16="http://schemas.microsoft.com/office/drawing/2014/main" id="{E5761BA0-6EBB-914C-82A7-880D08B8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D853E91-1983-494F-AE77-D27507A08C99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pic>
        <p:nvPicPr>
          <p:cNvPr id="13" name="Immagine 12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2835AF9B-1835-014D-BDB7-2538822DD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graphicFrame>
        <p:nvGraphicFramePr>
          <p:cNvPr id="24" name="Grafico 23">
            <a:extLst>
              <a:ext uri="{FF2B5EF4-FFF2-40B4-BE49-F238E27FC236}">
                <a16:creationId xmlns:a16="http://schemas.microsoft.com/office/drawing/2014/main" id="{00000000-0008-0000-0F00-000004000000}"/>
              </a:ext>
            </a:extLst>
          </p:cNvPr>
          <p:cNvGraphicFramePr>
            <a:graphicFrameLocks/>
          </p:cNvGraphicFramePr>
          <p:nvPr/>
        </p:nvGraphicFramePr>
        <p:xfrm>
          <a:off x="946545" y="1651098"/>
          <a:ext cx="10467471" cy="4385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Freccia in su 6">
            <a:extLst>
              <a:ext uri="{FF2B5EF4-FFF2-40B4-BE49-F238E27FC236}">
                <a16:creationId xmlns:a16="http://schemas.microsoft.com/office/drawing/2014/main" id="{00000000-0008-0000-0F00-000007000000}"/>
              </a:ext>
            </a:extLst>
          </p:cNvPr>
          <p:cNvSpPr/>
          <p:nvPr/>
        </p:nvSpPr>
        <p:spPr>
          <a:xfrm>
            <a:off x="3295015" y="2749550"/>
            <a:ext cx="118872" cy="91948"/>
          </a:xfrm>
          <a:prstGeom prst="upArrow">
            <a:avLst/>
          </a:prstGeom>
          <a:solidFill>
            <a:srgbClr val="70AD47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sp>
        <p:nvSpPr>
          <p:cNvPr id="26" name="Freccia in su 7">
            <a:extLst>
              <a:ext uri="{FF2B5EF4-FFF2-40B4-BE49-F238E27FC236}">
                <a16:creationId xmlns:a16="http://schemas.microsoft.com/office/drawing/2014/main" id="{00000000-0008-0000-0F00-000008000000}"/>
              </a:ext>
            </a:extLst>
          </p:cNvPr>
          <p:cNvSpPr/>
          <p:nvPr/>
        </p:nvSpPr>
        <p:spPr>
          <a:xfrm rot="10800000">
            <a:off x="9180195" y="3636152"/>
            <a:ext cx="278892" cy="264668"/>
          </a:xfrm>
          <a:prstGeom prst="upArrow">
            <a:avLst/>
          </a:prstGeom>
          <a:solidFill>
            <a:srgbClr val="FF0000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sp>
        <p:nvSpPr>
          <p:cNvPr id="27" name="Freccia in su 4">
            <a:extLst>
              <a:ext uri="{FF2B5EF4-FFF2-40B4-BE49-F238E27FC236}">
                <a16:creationId xmlns:a16="http://schemas.microsoft.com/office/drawing/2014/main" id="{00000000-0008-0000-0F00-000005000000}"/>
              </a:ext>
            </a:extLst>
          </p:cNvPr>
          <p:cNvSpPr/>
          <p:nvPr/>
        </p:nvSpPr>
        <p:spPr>
          <a:xfrm>
            <a:off x="4858385" y="2644775"/>
            <a:ext cx="118872" cy="94488"/>
          </a:xfrm>
          <a:prstGeom prst="upArrow">
            <a:avLst/>
          </a:prstGeom>
          <a:solidFill>
            <a:srgbClr val="70AD47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sp>
        <p:nvSpPr>
          <p:cNvPr id="28" name="Freccia in su 5">
            <a:extLst>
              <a:ext uri="{FF2B5EF4-FFF2-40B4-BE49-F238E27FC236}">
                <a16:creationId xmlns:a16="http://schemas.microsoft.com/office/drawing/2014/main" id="{00000000-0008-0000-0F00-000006000000}"/>
              </a:ext>
            </a:extLst>
          </p:cNvPr>
          <p:cNvSpPr/>
          <p:nvPr/>
        </p:nvSpPr>
        <p:spPr>
          <a:xfrm>
            <a:off x="6240780" y="2523490"/>
            <a:ext cx="118872" cy="91948"/>
          </a:xfrm>
          <a:prstGeom prst="upArrow">
            <a:avLst/>
          </a:prstGeom>
          <a:solidFill>
            <a:srgbClr val="70AD47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sp>
        <p:nvSpPr>
          <p:cNvPr id="29" name="Freccia in su 8">
            <a:extLst>
              <a:ext uri="{FF2B5EF4-FFF2-40B4-BE49-F238E27FC236}">
                <a16:creationId xmlns:a16="http://schemas.microsoft.com/office/drawing/2014/main" id="{00000000-0008-0000-0F00-000009000000}"/>
              </a:ext>
            </a:extLst>
          </p:cNvPr>
          <p:cNvSpPr/>
          <p:nvPr/>
        </p:nvSpPr>
        <p:spPr>
          <a:xfrm>
            <a:off x="7749117" y="2477516"/>
            <a:ext cx="143593" cy="91948"/>
          </a:xfrm>
          <a:prstGeom prst="upArrow">
            <a:avLst/>
          </a:prstGeom>
          <a:solidFill>
            <a:srgbClr val="70AD47"/>
          </a:solidFill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1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ＭＳ Ｐゴシック"/>
              <a:cs typeface="+mn-cs"/>
            </a:endParaRPr>
          </a:p>
        </p:txBody>
      </p:sp>
      <p:sp>
        <p:nvSpPr>
          <p:cNvPr id="30" name="CasellaDiTesto 1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SpPr txBox="1"/>
          <p:nvPr/>
        </p:nvSpPr>
        <p:spPr>
          <a:xfrm>
            <a:off x="2885440" y="2091055"/>
            <a:ext cx="957580" cy="607060"/>
          </a:xfrm>
          <a:prstGeom prst="rect">
            <a:avLst/>
          </a:prstGeom>
          <a:solidFill>
            <a:sysClr val="window" lastClr="FFFFFF"/>
          </a:solidFill>
          <a:ln w="9525" cmpd="sng">
            <a:solidFill>
              <a:sysClr val="window" lastClr="FFFFFF">
                <a:shade val="50000"/>
              </a:sysClr>
            </a:solidFill>
          </a:ln>
          <a:effectLst/>
        </p:spPr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(incremento medio annuo del 5,23%)</a:t>
            </a:r>
          </a:p>
        </p:txBody>
      </p:sp>
    </p:spTree>
    <p:extLst>
      <p:ext uri="{BB962C8B-B14F-4D97-AF65-F5344CB8AC3E}">
        <p14:creationId xmlns:p14="http://schemas.microsoft.com/office/powerpoint/2010/main" val="356555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E0D93626-0990-46A4-929C-C337A1180D5C}"/>
              </a:ext>
            </a:extLst>
          </p:cNvPr>
          <p:cNvGraphicFramePr>
            <a:graphicFrameLocks/>
          </p:cNvGraphicFramePr>
          <p:nvPr/>
        </p:nvGraphicFramePr>
        <p:xfrm>
          <a:off x="401001" y="1767973"/>
          <a:ext cx="5522400" cy="41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422EBFA4-CA4B-2849-9E68-BA1D0A35A6FE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Segnaposto piè di pagina 3">
            <a:extLst>
              <a:ext uri="{FF2B5EF4-FFF2-40B4-BE49-F238E27FC236}">
                <a16:creationId xmlns:a16="http://schemas.microsoft.com/office/drawing/2014/main" id="{2F978E17-C319-964D-9AED-1BF4106C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A61A273-F94C-4AFB-B36A-9C33C14B00B8}"/>
              </a:ext>
            </a:extLst>
          </p:cNvPr>
          <p:cNvSpPr txBox="1"/>
          <p:nvPr/>
        </p:nvSpPr>
        <p:spPr>
          <a:xfrm>
            <a:off x="3105687" y="1295562"/>
            <a:ext cx="6727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ＭＳ Ｐゴシック"/>
                <a:cs typeface="+mn-cs"/>
              </a:rPr>
              <a:t>Andamento presenze turistiche a livello comunale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149D69-2410-4DAF-AF86-D93287AD869E}"/>
              </a:ext>
            </a:extLst>
          </p:cNvPr>
          <p:cNvSpPr txBox="1"/>
          <p:nvPr/>
        </p:nvSpPr>
        <p:spPr>
          <a:xfrm>
            <a:off x="399473" y="6304395"/>
            <a:ext cx="305610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Regione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Emilia-Romagna</a:t>
            </a: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ＭＳ Ｐゴシック"/>
              <a:cs typeface="Calibri" panose="020F0502020204030204" pitchFamily="34" charset="0"/>
            </a:endParaRPr>
          </a:p>
        </p:txBody>
      </p:sp>
      <p:pic>
        <p:nvPicPr>
          <p:cNvPr id="9" name="Immagine 8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65562170-A4B9-4CD1-B9E5-54E4B7223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graphicFrame>
        <p:nvGraphicFramePr>
          <p:cNvPr id="19" name="Grafico 18">
            <a:extLst>
              <a:ext uri="{FF2B5EF4-FFF2-40B4-BE49-F238E27FC236}">
                <a16:creationId xmlns:a16="http://schemas.microsoft.com/office/drawing/2014/main" id="{87B21A6B-17A7-45B4-ACA0-77BB27024DCA}"/>
              </a:ext>
            </a:extLst>
          </p:cNvPr>
          <p:cNvGraphicFramePr>
            <a:graphicFrameLocks/>
          </p:cNvGraphicFramePr>
          <p:nvPr/>
        </p:nvGraphicFramePr>
        <p:xfrm>
          <a:off x="6268599" y="1782373"/>
          <a:ext cx="5522400" cy="41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40361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D081198C-33D2-B642-BE18-55385A534A40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0C64ACD-923C-CD40-BD06-7447FB633BC2}"/>
              </a:ext>
            </a:extLst>
          </p:cNvPr>
          <p:cNvSpPr txBox="1"/>
          <p:nvPr/>
        </p:nvSpPr>
        <p:spPr>
          <a:xfrm>
            <a:off x="3859645" y="1149929"/>
            <a:ext cx="4641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Il personale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pre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/post lockdown</a:t>
            </a:r>
          </a:p>
        </p:txBody>
      </p:sp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EE272B3E-6B98-9545-BEE5-99A846AB5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5E33322-78EE-9941-AB49-3E925C3D21C7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pic>
        <p:nvPicPr>
          <p:cNvPr id="14" name="Immagine 13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BC1DAB55-5B28-674F-86F3-D90980170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B94BA6-E8EF-294F-84D2-AEE8E93B4850}"/>
              </a:ext>
            </a:extLst>
          </p:cNvPr>
          <p:cNvSpPr txBox="1"/>
          <p:nvPr/>
        </p:nvSpPr>
        <p:spPr>
          <a:xfrm>
            <a:off x="9618786" y="5723809"/>
            <a:ext cx="24224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*Il dato dei Volontari e Stagisti dopo il </a:t>
            </a:r>
            <a:r>
              <a:rPr kumimoji="0" lang="it-IT" sz="1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lockdown</a:t>
            </a: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 non è stato rilevato nel questionario Istat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00000000-0008-0000-1000-000003000000}"/>
              </a:ext>
            </a:extLst>
          </p:cNvPr>
          <p:cNvGraphicFramePr>
            <a:graphicFrameLocks/>
          </p:cNvGraphicFramePr>
          <p:nvPr/>
        </p:nvGraphicFramePr>
        <p:xfrm>
          <a:off x="1322969" y="1593648"/>
          <a:ext cx="9546062" cy="45302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38D730B6-1107-6642-9B35-A3FBA52301AA}"/>
              </a:ext>
            </a:extLst>
          </p:cNvPr>
          <p:cNvSpPr/>
          <p:nvPr/>
        </p:nvSpPr>
        <p:spPr bwMode="auto">
          <a:xfrm>
            <a:off x="1434353" y="5585011"/>
            <a:ext cx="9434678" cy="129833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2DC899F-7C7D-8743-AC16-3D7E7FC3A59D}"/>
              </a:ext>
            </a:extLst>
          </p:cNvPr>
          <p:cNvSpPr/>
          <p:nvPr/>
        </p:nvSpPr>
        <p:spPr bwMode="auto">
          <a:xfrm>
            <a:off x="1434353" y="5486400"/>
            <a:ext cx="385482" cy="17032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t-IT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433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58616332-5086-7144-B662-9E07ABD1B523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3FE4D9-14ED-E543-8973-8CD647D2F18A}"/>
              </a:ext>
            </a:extLst>
          </p:cNvPr>
          <p:cNvSpPr txBox="1"/>
          <p:nvPr/>
        </p:nvSpPr>
        <p:spPr>
          <a:xfrm>
            <a:off x="2479792" y="1183006"/>
            <a:ext cx="75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Stima delle perdite durante il periodo della chiusura*</a:t>
            </a:r>
          </a:p>
        </p:txBody>
      </p:sp>
      <p:graphicFrame>
        <p:nvGraphicFramePr>
          <p:cNvPr id="14" name="Grafico 13">
            <a:extLst>
              <a:ext uri="{FF2B5EF4-FFF2-40B4-BE49-F238E27FC236}">
                <a16:creationId xmlns:a16="http://schemas.microsoft.com/office/drawing/2014/main" id="{84214B50-6075-424C-BED0-82774751B459}"/>
              </a:ext>
            </a:extLst>
          </p:cNvPr>
          <p:cNvGraphicFramePr>
            <a:graphicFrameLocks/>
          </p:cNvGraphicFramePr>
          <p:nvPr/>
        </p:nvGraphicFramePr>
        <p:xfrm>
          <a:off x="1" y="1685673"/>
          <a:ext cx="5933090" cy="3756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7DED9E51-4D7B-44A4-917C-11F544D7BB11}"/>
              </a:ext>
            </a:extLst>
          </p:cNvPr>
          <p:cNvGraphicFramePr>
            <a:graphicFrameLocks/>
          </p:cNvGraphicFramePr>
          <p:nvPr/>
        </p:nvGraphicFramePr>
        <p:xfrm>
          <a:off x="6258909" y="1668471"/>
          <a:ext cx="5644054" cy="44364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3B79EC68-95B8-7B4E-B17D-659B8F34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23242F7-3236-5C4B-B258-0E8F01181992}"/>
              </a:ext>
            </a:extLst>
          </p:cNvPr>
          <p:cNvSpPr txBox="1"/>
          <p:nvPr/>
        </p:nvSpPr>
        <p:spPr>
          <a:xfrm>
            <a:off x="399472" y="6304395"/>
            <a:ext cx="2653009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Monitoraggio RER 2020</a:t>
            </a:r>
          </a:p>
        </p:txBody>
      </p:sp>
      <p:pic>
        <p:nvPicPr>
          <p:cNvPr id="13" name="Immagine 12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20DA2EB7-E6C3-044E-945D-726CB32F4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399AB0-B6B4-B244-8152-75586B59D66D}"/>
              </a:ext>
            </a:extLst>
          </p:cNvPr>
          <p:cNvSpPr txBox="1"/>
          <p:nvPr/>
        </p:nvSpPr>
        <p:spPr>
          <a:xfrm>
            <a:off x="9396" y="5433058"/>
            <a:ext cx="19449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*Fasi di rilevazione:</a:t>
            </a:r>
            <a:br>
              <a:rPr kumimoji="0" lang="it-IT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</a:br>
            <a:r>
              <a:rPr kumimoji="0" lang="it-IT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-     24 Febbraio – 31 Marzo 2020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1 Aprile – 30 Aprile 2020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it-IT" sz="11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1 Maggio – 15 Giugno 2020</a:t>
            </a:r>
          </a:p>
        </p:txBody>
      </p:sp>
    </p:spTree>
    <p:extLst>
      <p:ext uri="{BB962C8B-B14F-4D97-AF65-F5344CB8AC3E}">
        <p14:creationId xmlns:p14="http://schemas.microsoft.com/office/powerpoint/2010/main" val="3058741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58616332-5086-7144-B662-9E07ABD1B523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33FE4D9-14ED-E543-8973-8CD647D2F18A}"/>
              </a:ext>
            </a:extLst>
          </p:cNvPr>
          <p:cNvSpPr txBox="1"/>
          <p:nvPr/>
        </p:nvSpPr>
        <p:spPr>
          <a:xfrm>
            <a:off x="2401165" y="1193609"/>
            <a:ext cx="755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Le iniziative annullate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D8BF725B-5520-46AC-9BAF-6FA244D0ECD4}"/>
              </a:ext>
            </a:extLst>
          </p:cNvPr>
          <p:cNvGraphicFramePr>
            <a:graphicFrameLocks/>
          </p:cNvGraphicFramePr>
          <p:nvPr/>
        </p:nvGraphicFramePr>
        <p:xfrm>
          <a:off x="1987489" y="1618683"/>
          <a:ext cx="3750540" cy="4502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6B277F2B-30BC-475A-9398-243A94FB3882}"/>
              </a:ext>
            </a:extLst>
          </p:cNvPr>
          <p:cNvGraphicFramePr>
            <a:graphicFrameLocks/>
          </p:cNvGraphicFramePr>
          <p:nvPr/>
        </p:nvGraphicFramePr>
        <p:xfrm>
          <a:off x="6834715" y="1910582"/>
          <a:ext cx="3657600" cy="3958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egnaposto piè di pagina 3">
            <a:extLst>
              <a:ext uri="{FF2B5EF4-FFF2-40B4-BE49-F238E27FC236}">
                <a16:creationId xmlns:a16="http://schemas.microsoft.com/office/drawing/2014/main" id="{5B851174-A366-C04F-9046-05CC3B7A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D15312D-E761-1446-B074-83918CCC4614}"/>
              </a:ext>
            </a:extLst>
          </p:cNvPr>
          <p:cNvSpPr txBox="1"/>
          <p:nvPr/>
        </p:nvSpPr>
        <p:spPr>
          <a:xfrm>
            <a:off x="399473" y="6304395"/>
            <a:ext cx="261266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Monitoraggio RER 2020</a:t>
            </a:r>
          </a:p>
        </p:txBody>
      </p:sp>
      <p:pic>
        <p:nvPicPr>
          <p:cNvPr id="16" name="Immagine 15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9FBAC0A1-1B49-1C47-BEA5-1956A55FE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0FD5779-E15D-7543-BB16-4C37CC4EA939}"/>
              </a:ext>
            </a:extLst>
          </p:cNvPr>
          <p:cNvSpPr txBox="1"/>
          <p:nvPr/>
        </p:nvSpPr>
        <p:spPr>
          <a:xfrm>
            <a:off x="7025017" y="1578889"/>
            <a:ext cx="346219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Perdita media per museo/istituto (in euro)</a:t>
            </a:r>
          </a:p>
        </p:txBody>
      </p:sp>
    </p:spTree>
    <p:extLst>
      <p:ext uri="{BB962C8B-B14F-4D97-AF65-F5344CB8AC3E}">
        <p14:creationId xmlns:p14="http://schemas.microsoft.com/office/powerpoint/2010/main" val="3855813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CD62804-6790-4FEB-ACEA-525AC4FD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D159611C-0B8A-2940-9FE5-BFE48778FAE0}"/>
              </a:ext>
            </a:extLst>
          </p:cNvPr>
          <p:cNvGraphicFramePr>
            <a:graphicFrameLocks/>
          </p:cNvGraphicFramePr>
          <p:nvPr/>
        </p:nvGraphicFramePr>
        <p:xfrm>
          <a:off x="673121" y="1069907"/>
          <a:ext cx="11004603" cy="5900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F4306F-57DC-C340-A3BE-390B63531B8C}"/>
              </a:ext>
            </a:extLst>
          </p:cNvPr>
          <p:cNvSpPr txBox="1"/>
          <p:nvPr/>
        </p:nvSpPr>
        <p:spPr>
          <a:xfrm>
            <a:off x="1702935" y="1542871"/>
            <a:ext cx="8954694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Le percezioni strategiche di fronte alla pandemia</a:t>
            </a:r>
          </a:p>
        </p:txBody>
      </p:sp>
    </p:spTree>
    <p:extLst>
      <p:ext uri="{BB962C8B-B14F-4D97-AF65-F5344CB8AC3E}">
        <p14:creationId xmlns:p14="http://schemas.microsoft.com/office/powerpoint/2010/main" val="116044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B34796E2-5595-47E2-8C69-B9DEE6806F34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3744E25-F4B9-FD43-B827-71FFABEF9525}"/>
              </a:ext>
            </a:extLst>
          </p:cNvPr>
          <p:cNvSpPr txBox="1"/>
          <p:nvPr/>
        </p:nvSpPr>
        <p:spPr>
          <a:xfrm>
            <a:off x="4158387" y="1289349"/>
            <a:ext cx="515341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Nuove fonti di finanziamento attivate in periodo pandemico</a:t>
            </a:r>
          </a:p>
        </p:txBody>
      </p:sp>
      <p:sp>
        <p:nvSpPr>
          <p:cNvPr id="15" name="Segnaposto piè di pagina 3">
            <a:extLst>
              <a:ext uri="{FF2B5EF4-FFF2-40B4-BE49-F238E27FC236}">
                <a16:creationId xmlns:a16="http://schemas.microsoft.com/office/drawing/2014/main" id="{7B7DEEB7-41A7-1A43-A054-EEE69064A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C15F9E9-8777-AD40-BC03-3FE786B2C9FA}"/>
              </a:ext>
            </a:extLst>
          </p:cNvPr>
          <p:cNvSpPr txBox="1"/>
          <p:nvPr/>
        </p:nvSpPr>
        <p:spPr>
          <a:xfrm>
            <a:off x="399472" y="6304395"/>
            <a:ext cx="231683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2021 - NEMO 2021</a:t>
            </a:r>
          </a:p>
        </p:txBody>
      </p:sp>
      <p:pic>
        <p:nvPicPr>
          <p:cNvPr id="29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F1620011-3380-3B43-8C55-602ACA62A3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924" t="7924" r="7924" b="7924"/>
          <a:stretch/>
        </p:blipFill>
        <p:spPr>
          <a:xfrm>
            <a:off x="10979393" y="6304318"/>
            <a:ext cx="320566" cy="310312"/>
          </a:xfrm>
          <a:prstGeom prst="rect">
            <a:avLst/>
          </a:prstGeom>
        </p:spPr>
      </p:pic>
      <p:pic>
        <p:nvPicPr>
          <p:cNvPr id="30" name="Immagine 29">
            <a:extLst>
              <a:ext uri="{FF2B5EF4-FFF2-40B4-BE49-F238E27FC236}">
                <a16:creationId xmlns:a16="http://schemas.microsoft.com/office/drawing/2014/main" id="{9CE56480-4F3A-604D-842E-D8ED08A90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7831" y="6328840"/>
            <a:ext cx="486794" cy="26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Grafico 31">
            <a:extLst>
              <a:ext uri="{FF2B5EF4-FFF2-40B4-BE49-F238E27FC236}">
                <a16:creationId xmlns:a16="http://schemas.microsoft.com/office/drawing/2014/main" id="{B4C343C2-2067-49E9-B5DC-F3DED24575F8}"/>
              </a:ext>
            </a:extLst>
          </p:cNvPr>
          <p:cNvGraphicFramePr>
            <a:graphicFrameLocks/>
          </p:cNvGraphicFramePr>
          <p:nvPr/>
        </p:nvGraphicFramePr>
        <p:xfrm>
          <a:off x="37276" y="2222963"/>
          <a:ext cx="5752495" cy="3451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4" name="Grafico 33">
            <a:extLst>
              <a:ext uri="{FF2B5EF4-FFF2-40B4-BE49-F238E27FC236}">
                <a16:creationId xmlns:a16="http://schemas.microsoft.com/office/drawing/2014/main" id="{B907D121-9685-4CDF-9EC9-84AADE47C864}"/>
              </a:ext>
            </a:extLst>
          </p:cNvPr>
          <p:cNvGraphicFramePr>
            <a:graphicFrameLocks/>
          </p:cNvGraphicFramePr>
          <p:nvPr/>
        </p:nvGraphicFramePr>
        <p:xfrm>
          <a:off x="5744060" y="2307780"/>
          <a:ext cx="6764020" cy="2929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1825584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80C95852-6D0F-4530-A245-0E90D09823CC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97086F4-302D-154E-AD91-F7FCA3459F09}"/>
              </a:ext>
            </a:extLst>
          </p:cNvPr>
          <p:cNvSpPr txBox="1"/>
          <p:nvPr/>
        </p:nvSpPr>
        <p:spPr>
          <a:xfrm>
            <a:off x="4120814" y="1259610"/>
            <a:ext cx="355831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Criticità evidenziate</a:t>
            </a:r>
          </a:p>
        </p:txBody>
      </p:sp>
      <p:sp>
        <p:nvSpPr>
          <p:cNvPr id="12" name="Segnaposto piè di pagina 3">
            <a:extLst>
              <a:ext uri="{FF2B5EF4-FFF2-40B4-BE49-F238E27FC236}">
                <a16:creationId xmlns:a16="http://schemas.microsoft.com/office/drawing/2014/main" id="{7B7D8BCC-FC5E-444D-9A23-4752F7460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C6EBD5D4-3873-BE40-90BE-C4025EA73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97" y="6294297"/>
            <a:ext cx="486794" cy="2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337C91D4-AD05-4EE1-9154-10196B99B26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7924" t="7924" r="7924" b="7924"/>
          <a:stretch/>
        </p:blipFill>
        <p:spPr>
          <a:xfrm>
            <a:off x="10979393" y="6304318"/>
            <a:ext cx="320566" cy="310312"/>
          </a:xfrm>
          <a:prstGeom prst="rect">
            <a:avLst/>
          </a:prstGeom>
        </p:spPr>
      </p:pic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90E1D5CF-3340-4760-ADC2-3310AC3B557C}"/>
              </a:ext>
            </a:extLst>
          </p:cNvPr>
          <p:cNvSpPr txBox="1"/>
          <p:nvPr/>
        </p:nvSpPr>
        <p:spPr>
          <a:xfrm>
            <a:off x="399472" y="6304395"/>
            <a:ext cx="2316833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2021 - NEMO 2021</a:t>
            </a:r>
          </a:p>
        </p:txBody>
      </p:sp>
      <p:graphicFrame>
        <p:nvGraphicFramePr>
          <p:cNvPr id="18" name="Grafico 17">
            <a:extLst>
              <a:ext uri="{FF2B5EF4-FFF2-40B4-BE49-F238E27FC236}">
                <a16:creationId xmlns:a16="http://schemas.microsoft.com/office/drawing/2014/main" id="{D44B69B1-72FB-4F5B-A455-D49CE93B5BC8}"/>
              </a:ext>
            </a:extLst>
          </p:cNvPr>
          <p:cNvGraphicFramePr>
            <a:graphicFrameLocks/>
          </p:cNvGraphicFramePr>
          <p:nvPr/>
        </p:nvGraphicFramePr>
        <p:xfrm>
          <a:off x="466164" y="1915257"/>
          <a:ext cx="5100918" cy="40177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Grafico 19">
            <a:extLst>
              <a:ext uri="{FF2B5EF4-FFF2-40B4-BE49-F238E27FC236}">
                <a16:creationId xmlns:a16="http://schemas.microsoft.com/office/drawing/2014/main" id="{B59D5CFE-BF85-4DB1-A37E-0627B403F988}"/>
              </a:ext>
            </a:extLst>
          </p:cNvPr>
          <p:cNvGraphicFramePr>
            <a:graphicFrameLocks/>
          </p:cNvGraphicFramePr>
          <p:nvPr/>
        </p:nvGraphicFramePr>
        <p:xfrm>
          <a:off x="6624919" y="2413416"/>
          <a:ext cx="4849377" cy="37584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48A3901-66BF-B74E-A7C7-453775E2F9BB}"/>
              </a:ext>
            </a:extLst>
          </p:cNvPr>
          <p:cNvSpPr txBox="1"/>
          <p:nvPr/>
        </p:nvSpPr>
        <p:spPr>
          <a:xfrm>
            <a:off x="7270450" y="1958185"/>
            <a:ext cx="355831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Adeguamenti pianificati</a:t>
            </a:r>
          </a:p>
        </p:txBody>
      </p:sp>
    </p:spTree>
    <p:extLst>
      <p:ext uri="{BB962C8B-B14F-4D97-AF65-F5344CB8AC3E}">
        <p14:creationId xmlns:p14="http://schemas.microsoft.com/office/powerpoint/2010/main" val="3317007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diritto 7">
            <a:extLst>
              <a:ext uri="{FF2B5EF4-FFF2-40B4-BE49-F238E27FC236}">
                <a16:creationId xmlns:a16="http://schemas.microsoft.com/office/drawing/2014/main" id="{E834DFE5-70BB-9045-A2CD-82103671229A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00000000-0008-0000-1600-000002000000}"/>
              </a:ext>
            </a:extLst>
          </p:cNvPr>
          <p:cNvGraphicFramePr>
            <a:graphicFrameLocks/>
          </p:cNvGraphicFramePr>
          <p:nvPr/>
        </p:nvGraphicFramePr>
        <p:xfrm>
          <a:off x="930336" y="1245488"/>
          <a:ext cx="10499892" cy="4936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egnaposto piè di pagina 3">
            <a:extLst>
              <a:ext uri="{FF2B5EF4-FFF2-40B4-BE49-F238E27FC236}">
                <a16:creationId xmlns:a16="http://schemas.microsoft.com/office/drawing/2014/main" id="{CF921B6A-8CB4-DB44-BE8C-6F7FF164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2D40B7B-F167-DC45-9BE4-37DE7C6313BA}"/>
              </a:ext>
            </a:extLst>
          </p:cNvPr>
          <p:cNvSpPr txBox="1"/>
          <p:nvPr/>
        </p:nvSpPr>
        <p:spPr>
          <a:xfrm>
            <a:off x="4149359" y="1202653"/>
            <a:ext cx="4061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Investimenti strategici auspicati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498FBA48-BFC3-B94B-B650-3A5783495D25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6DD5BD9E-B6C7-8E46-A59B-D39E89B64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072" y="6291587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magine 20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2BEBA5C6-8AFC-D149-9082-FD33159A9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3796" y="6317684"/>
            <a:ext cx="497461" cy="26578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60873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8A8B73-4019-D649-93EB-F3C0AC9FA23F}"/>
              </a:ext>
            </a:extLst>
          </p:cNvPr>
          <p:cNvSpPr txBox="1"/>
          <p:nvPr/>
        </p:nvSpPr>
        <p:spPr>
          <a:xfrm>
            <a:off x="3383692" y="1059397"/>
            <a:ext cx="5593198" cy="64633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Il digitale ai tempi del Covid19</a:t>
            </a:r>
          </a:p>
        </p:txBody>
      </p:sp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8680E2C7-5F7F-C344-B165-CD47AF11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49F914D7-1AE8-364B-B3C8-8BD8E216317E}"/>
              </a:ext>
            </a:extLst>
          </p:cNvPr>
          <p:cNvGraphicFramePr>
            <a:graphicFrameLocks/>
          </p:cNvGraphicFramePr>
          <p:nvPr/>
        </p:nvGraphicFramePr>
        <p:xfrm>
          <a:off x="1717285" y="1613649"/>
          <a:ext cx="9162267" cy="451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82682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CD62804-6790-4FEB-ACEA-525AC4FDA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Immagine 5">
            <a:extLst>
              <a:ext uri="{FF2B5EF4-FFF2-40B4-BE49-F238E27FC236}">
                <a16:creationId xmlns:a16="http://schemas.microsoft.com/office/drawing/2014/main" id="{9CD0B923-2532-2A41-A042-130A5195E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28" y="1606078"/>
            <a:ext cx="10434708" cy="450717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2C45079F-9498-2B40-B770-1C36260CB7F6}"/>
              </a:ext>
            </a:extLst>
          </p:cNvPr>
          <p:cNvSpPr txBox="1"/>
          <p:nvPr/>
        </p:nvSpPr>
        <p:spPr>
          <a:xfrm>
            <a:off x="3127946" y="1142636"/>
            <a:ext cx="5936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Prima del Covid-19: Musei digitali – Media degli indicatori</a:t>
            </a:r>
          </a:p>
        </p:txBody>
      </p:sp>
      <p:sp>
        <p:nvSpPr>
          <p:cNvPr id="9" name="Segnaposto piè di pagina 3">
            <a:extLst>
              <a:ext uri="{FF2B5EF4-FFF2-40B4-BE49-F238E27FC236}">
                <a16:creationId xmlns:a16="http://schemas.microsoft.com/office/drawing/2014/main" id="{1E806627-CA25-8A4C-9301-E6B143249709}"/>
              </a:ext>
            </a:extLst>
          </p:cNvPr>
          <p:cNvSpPr txBox="1">
            <a:spLocks/>
          </p:cNvSpPr>
          <p:nvPr/>
        </p:nvSpPr>
        <p:spPr bwMode="auto">
          <a:xfrm>
            <a:off x="399473" y="6304395"/>
            <a:ext cx="1156161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it-IT"/>
            </a:defPPr>
            <a:lvl1pPr marL="0" algn="ct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1EA37F4C-C7F5-324F-8F6F-0716418C4478}"/>
              </a:ext>
            </a:extLst>
          </p:cNvPr>
          <p:cNvSpPr txBox="1"/>
          <p:nvPr/>
        </p:nvSpPr>
        <p:spPr>
          <a:xfrm>
            <a:off x="399472" y="6304395"/>
            <a:ext cx="308331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Osservatorio CC su dati ISTAT 2020</a:t>
            </a:r>
          </a:p>
        </p:txBody>
      </p:sp>
      <p:pic>
        <p:nvPicPr>
          <p:cNvPr id="14" name="Immagine 13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3C6A2232-85A3-8D48-9152-06F82BE1D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C51ED9D-BF43-4E47-BBED-E73DDB993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4072" y="6291587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9162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FCCB938-E718-5E49-AE59-FF335D966FC4}"/>
              </a:ext>
            </a:extLst>
          </p:cNvPr>
          <p:cNvSpPr txBox="1"/>
          <p:nvPr/>
        </p:nvSpPr>
        <p:spPr>
          <a:xfrm>
            <a:off x="3490315" y="1026660"/>
            <a:ext cx="562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Prima del Covid-19: il digitale nei musei</a:t>
            </a:r>
          </a:p>
        </p:txBody>
      </p:sp>
      <p:pic>
        <p:nvPicPr>
          <p:cNvPr id="14" name="Immagine 13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3BC88587-E107-D64F-8351-730B2DF6D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1967E64-8A97-A84A-9E1C-035B6F682E9B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2020</a:t>
            </a:r>
          </a:p>
        </p:txBody>
      </p:sp>
      <p:graphicFrame>
        <p:nvGraphicFramePr>
          <p:cNvPr id="11" name="Grafico 10">
            <a:extLst>
              <a:ext uri="{FF2B5EF4-FFF2-40B4-BE49-F238E27FC236}">
                <a16:creationId xmlns:a16="http://schemas.microsoft.com/office/drawing/2014/main" id="{00000000-0008-0000-0900-000002000000}"/>
              </a:ext>
            </a:extLst>
          </p:cNvPr>
          <p:cNvGraphicFramePr>
            <a:graphicFrameLocks/>
          </p:cNvGraphicFramePr>
          <p:nvPr/>
        </p:nvGraphicFramePr>
        <p:xfrm>
          <a:off x="1760035" y="1593517"/>
          <a:ext cx="9090211" cy="4526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3" name="Connettore 1 2">
            <a:extLst>
              <a:ext uri="{FF2B5EF4-FFF2-40B4-BE49-F238E27FC236}">
                <a16:creationId xmlns:a16="http://schemas.microsoft.com/office/drawing/2014/main" id="{425ADF4C-5D36-024E-9C55-2A8717BCF211}"/>
              </a:ext>
            </a:extLst>
          </p:cNvPr>
          <p:cNvCxnSpPr/>
          <p:nvPr/>
        </p:nvCxnSpPr>
        <p:spPr bwMode="auto">
          <a:xfrm>
            <a:off x="1836133" y="2487701"/>
            <a:ext cx="282388" cy="0"/>
          </a:xfrm>
          <a:prstGeom prst="line">
            <a:avLst/>
          </a:prstGeom>
          <a:ln w="19050">
            <a:solidFill>
              <a:srgbClr val="92D050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D35B1A7-FCB0-E540-9F1C-603FBE9822B1}"/>
              </a:ext>
            </a:extLst>
          </p:cNvPr>
          <p:cNvSpPr txBox="1"/>
          <p:nvPr/>
        </p:nvSpPr>
        <p:spPr>
          <a:xfrm>
            <a:off x="1696914" y="2268417"/>
            <a:ext cx="1655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/>
                <a:ea typeface="ＭＳ Ｐゴシック"/>
                <a:cs typeface="+mn-cs"/>
              </a:rPr>
              <a:t>*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285DAEB-C1F0-204B-89CD-E995A6947947}"/>
              </a:ext>
            </a:extLst>
          </p:cNvPr>
          <p:cNvSpPr txBox="1"/>
          <p:nvPr/>
        </p:nvSpPr>
        <p:spPr>
          <a:xfrm>
            <a:off x="11095892" y="5486415"/>
            <a:ext cx="947949" cy="56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*Riguarda solo i «Musei, gallerie o raccolta»</a:t>
            </a:r>
          </a:p>
        </p:txBody>
      </p:sp>
    </p:spTree>
    <p:extLst>
      <p:ext uri="{BB962C8B-B14F-4D97-AF65-F5344CB8AC3E}">
        <p14:creationId xmlns:p14="http://schemas.microsoft.com/office/powerpoint/2010/main" val="336707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80254A2-B7B1-8149-A2D2-FE99FE1FFC0F}"/>
              </a:ext>
            </a:extLst>
          </p:cNvPr>
          <p:cNvSpPr txBox="1"/>
          <p:nvPr/>
        </p:nvSpPr>
        <p:spPr>
          <a:xfrm>
            <a:off x="3189656" y="1063943"/>
            <a:ext cx="598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Variazioni d’uso dei servizi digitali durante la pandemia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highlight>
                <a:srgbClr val="FFFF00"/>
              </a:highlight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pic>
        <p:nvPicPr>
          <p:cNvPr id="24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B694FC77-AED6-2F4B-890D-681296CFB0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924" t="7924" r="7924" b="7924"/>
          <a:stretch/>
        </p:blipFill>
        <p:spPr>
          <a:xfrm>
            <a:off x="11624384" y="6279636"/>
            <a:ext cx="286149" cy="276995"/>
          </a:xfrm>
          <a:prstGeom prst="rect">
            <a:avLst/>
          </a:prstGeom>
        </p:spPr>
      </p:pic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8F16DB22-1B4E-43D4-86A4-C6E498C62639}"/>
              </a:ext>
            </a:extLst>
          </p:cNvPr>
          <p:cNvGraphicFramePr>
            <a:graphicFrameLocks/>
          </p:cNvGraphicFramePr>
          <p:nvPr/>
        </p:nvGraphicFramePr>
        <p:xfrm>
          <a:off x="2307688" y="1557911"/>
          <a:ext cx="7745187" cy="4612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486292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NEMO 2021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28465E0-96DE-E44D-AE31-7EAA7D36D66A}"/>
              </a:ext>
            </a:extLst>
          </p:cNvPr>
          <p:cNvSpPr txBox="1"/>
          <p:nvPr/>
        </p:nvSpPr>
        <p:spPr>
          <a:xfrm>
            <a:off x="3169864" y="1173247"/>
            <a:ext cx="585227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Variazioni d’uso dei servizi digitali durante la pandemia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C1D01880-C65C-634E-8739-8CB6D66CE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97" y="6294297"/>
            <a:ext cx="486794" cy="2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Grafico 10">
            <a:extLst>
              <a:ext uri="{FF2B5EF4-FFF2-40B4-BE49-F238E27FC236}">
                <a16:creationId xmlns:a16="http://schemas.microsoft.com/office/drawing/2014/main" id="{14179EDF-4A7E-44E4-970D-2A8AB9B771E9}"/>
              </a:ext>
            </a:extLst>
          </p:cNvPr>
          <p:cNvGraphicFramePr>
            <a:graphicFrameLocks/>
          </p:cNvGraphicFramePr>
          <p:nvPr/>
        </p:nvGraphicFramePr>
        <p:xfrm>
          <a:off x="1170039" y="1953204"/>
          <a:ext cx="10304257" cy="396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04708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191441B-0239-1444-8FB9-F30C67E84B97}"/>
              </a:ext>
            </a:extLst>
          </p:cNvPr>
          <p:cNvSpPr txBox="1"/>
          <p:nvPr/>
        </p:nvSpPr>
        <p:spPr>
          <a:xfrm>
            <a:off x="993993" y="1241369"/>
            <a:ext cx="4114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Rapporto dimensione museo/aumento capacità digitali</a:t>
            </a:r>
          </a:p>
        </p:txBody>
      </p:sp>
      <p:cxnSp>
        <p:nvCxnSpPr>
          <p:cNvPr id="5" name="Connettore diritto 7">
            <a:extLst>
              <a:ext uri="{FF2B5EF4-FFF2-40B4-BE49-F238E27FC236}">
                <a16:creationId xmlns:a16="http://schemas.microsoft.com/office/drawing/2014/main" id="{67710EA1-3686-5D46-891D-1760AB8306A4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46EE642C-7364-764C-9C7F-B597D4F1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2B0208-1C5D-2642-B821-EB44350643D1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NEMO 2021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DAA8BD9-40FB-4D4C-9702-36C6AD1E4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297" y="6294297"/>
            <a:ext cx="486794" cy="25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BB7095-6C28-4457-BE7F-F99E6A652874}"/>
              </a:ext>
            </a:extLst>
          </p:cNvPr>
          <p:cNvSpPr txBox="1"/>
          <p:nvPr/>
        </p:nvSpPr>
        <p:spPr>
          <a:xfrm>
            <a:off x="5865497" y="1297506"/>
            <a:ext cx="5998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Percezione del bisogno di supporto in ambito digitale</a:t>
            </a:r>
          </a:p>
        </p:txBody>
      </p:sp>
      <p:graphicFrame>
        <p:nvGraphicFramePr>
          <p:cNvPr id="16" name="Grafico 15">
            <a:extLst>
              <a:ext uri="{FF2B5EF4-FFF2-40B4-BE49-F238E27FC236}">
                <a16:creationId xmlns:a16="http://schemas.microsoft.com/office/drawing/2014/main" id="{3ADE626E-3E3F-478A-8DA0-EE41FCAA8AA2}"/>
              </a:ext>
            </a:extLst>
          </p:cNvPr>
          <p:cNvGraphicFramePr>
            <a:graphicFrameLocks/>
          </p:cNvGraphicFramePr>
          <p:nvPr/>
        </p:nvGraphicFramePr>
        <p:xfrm>
          <a:off x="536135" y="2422063"/>
          <a:ext cx="5115832" cy="3009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Grafico 17">
            <a:extLst>
              <a:ext uri="{FF2B5EF4-FFF2-40B4-BE49-F238E27FC236}">
                <a16:creationId xmlns:a16="http://schemas.microsoft.com/office/drawing/2014/main" id="{EB1A0FB2-4631-4A9C-9F0F-AC1B88610AB3}"/>
              </a:ext>
            </a:extLst>
          </p:cNvPr>
          <p:cNvGraphicFramePr>
            <a:graphicFrameLocks/>
          </p:cNvGraphicFramePr>
          <p:nvPr/>
        </p:nvGraphicFramePr>
        <p:xfrm>
          <a:off x="6451614" y="2356863"/>
          <a:ext cx="5115832" cy="30407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96850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FDFEC9C0-B124-8142-ABA1-9E77BEF21AE2}"/>
              </a:ext>
            </a:extLst>
          </p:cNvPr>
          <p:cNvSpPr txBox="1"/>
          <p:nvPr/>
        </p:nvSpPr>
        <p:spPr>
          <a:xfrm>
            <a:off x="2145570" y="1153361"/>
            <a:ext cx="7900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Presenza sui social network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11BAF305-B9BC-6746-A5E1-5F63E2A84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4803" y="6273711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0E4A218-6F83-784A-BBB7-A24A42F73E45}"/>
              </a:ext>
            </a:extLst>
          </p:cNvPr>
          <p:cNvSpPr txBox="1"/>
          <p:nvPr/>
        </p:nvSpPr>
        <p:spPr>
          <a:xfrm>
            <a:off x="399473" y="6304395"/>
            <a:ext cx="235423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Osservatorio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PoliMi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2021</a:t>
            </a:r>
          </a:p>
        </p:txBody>
      </p:sp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D03CFBCE-2373-4B74-A95B-E3B315E8E7DB}"/>
              </a:ext>
            </a:extLst>
          </p:cNvPr>
          <p:cNvGraphicFramePr>
            <a:graphicFrameLocks/>
          </p:cNvGraphicFramePr>
          <p:nvPr/>
        </p:nvGraphicFramePr>
        <p:xfrm>
          <a:off x="2360384" y="2145011"/>
          <a:ext cx="7471227" cy="35596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19909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C388E57-F628-174C-BE5F-BFBC2F647F1F}"/>
              </a:ext>
            </a:extLst>
          </p:cNvPr>
          <p:cNvSpPr txBox="1"/>
          <p:nvPr/>
        </p:nvSpPr>
        <p:spPr>
          <a:xfrm>
            <a:off x="2145570" y="1105040"/>
            <a:ext cx="79008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Presenza di tecnologie e applicazioni tecnologiche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61D7F909-69C6-894C-B212-FEEC77866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4803" y="6273711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F207934-2238-A24A-983B-EB2E606A4EA0}"/>
              </a:ext>
            </a:extLst>
          </p:cNvPr>
          <p:cNvSpPr txBox="1"/>
          <p:nvPr/>
        </p:nvSpPr>
        <p:spPr>
          <a:xfrm>
            <a:off x="399473" y="6304395"/>
            <a:ext cx="235423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Osservatorio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PoliMi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2021</a:t>
            </a:r>
          </a:p>
        </p:txBody>
      </p:sp>
      <p:graphicFrame>
        <p:nvGraphicFramePr>
          <p:cNvPr id="14" name="Grafico 13">
            <a:extLst>
              <a:ext uri="{FF2B5EF4-FFF2-40B4-BE49-F238E27FC236}">
                <a16:creationId xmlns:a16="http://schemas.microsoft.com/office/drawing/2014/main" id="{6777216C-027F-4417-B787-40BBDFC37751}"/>
              </a:ext>
            </a:extLst>
          </p:cNvPr>
          <p:cNvGraphicFramePr>
            <a:graphicFrameLocks/>
          </p:cNvGraphicFramePr>
          <p:nvPr/>
        </p:nvGraphicFramePr>
        <p:xfrm>
          <a:off x="3145604" y="1911545"/>
          <a:ext cx="5900787" cy="3841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281224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82B0645-7E35-0B44-8BB8-085DABC2DDB2}"/>
              </a:ext>
            </a:extLst>
          </p:cNvPr>
          <p:cNvSpPr txBox="1"/>
          <p:nvPr/>
        </p:nvSpPr>
        <p:spPr>
          <a:xfrm>
            <a:off x="2897620" y="1062908"/>
            <a:ext cx="65653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Investimenti in tecnologie digitali Gennaio 2020 - Aprile 2021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40FD6F0F-265B-4249-B671-BFF7C939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4803" y="6273711"/>
            <a:ext cx="335448" cy="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5993C2EC-1C2F-CF4D-8CED-3A41D0453841}"/>
              </a:ext>
            </a:extLst>
          </p:cNvPr>
          <p:cNvSpPr txBox="1"/>
          <p:nvPr/>
        </p:nvSpPr>
        <p:spPr>
          <a:xfrm>
            <a:off x="399473" y="6304395"/>
            <a:ext cx="2354237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Osservatorio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PoliMi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2021</a:t>
            </a:r>
          </a:p>
        </p:txBody>
      </p:sp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D1A84350-5672-4DCB-8953-C09843559DE4}"/>
              </a:ext>
            </a:extLst>
          </p:cNvPr>
          <p:cNvGraphicFramePr>
            <a:graphicFrameLocks/>
          </p:cNvGraphicFramePr>
          <p:nvPr/>
        </p:nvGraphicFramePr>
        <p:xfrm>
          <a:off x="2897619" y="1695644"/>
          <a:ext cx="6694615" cy="40994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800255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A8A8B73-4019-D649-93EB-F3C0AC9FA23F}"/>
              </a:ext>
            </a:extLst>
          </p:cNvPr>
          <p:cNvSpPr txBox="1"/>
          <p:nvPr/>
        </p:nvSpPr>
        <p:spPr>
          <a:xfrm>
            <a:off x="4018485" y="1090175"/>
            <a:ext cx="4323620" cy="58477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Uso delle piattaforme social</a:t>
            </a:r>
          </a:p>
        </p:txBody>
      </p:sp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8680E2C7-5F7F-C344-B165-CD47AF11A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49F914D7-1AE8-364B-B3C8-8BD8E216317E}"/>
              </a:ext>
            </a:extLst>
          </p:cNvPr>
          <p:cNvGraphicFramePr>
            <a:graphicFrameLocks/>
          </p:cNvGraphicFramePr>
          <p:nvPr/>
        </p:nvGraphicFramePr>
        <p:xfrm>
          <a:off x="1717285" y="1613649"/>
          <a:ext cx="9162267" cy="45173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Immagine 1">
            <a:extLst>
              <a:ext uri="{FF2B5EF4-FFF2-40B4-BE49-F238E27FC236}">
                <a16:creationId xmlns:a16="http://schemas.microsoft.com/office/drawing/2014/main" id="{3C0451E1-FF27-499C-9CEE-29D28DCAF4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8807" y="6423495"/>
            <a:ext cx="542591" cy="29263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0B80F4BE-371F-DA47-971B-7F78E49F0686}"/>
              </a:ext>
            </a:extLst>
          </p:cNvPr>
          <p:cNvSpPr txBox="1"/>
          <p:nvPr/>
        </p:nvSpPr>
        <p:spPr>
          <a:xfrm>
            <a:off x="399473" y="6304395"/>
            <a:ext cx="21145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Master </a:t>
            </a:r>
            <a:r>
              <a:rPr kumimoji="0" lang="it-I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UniBo</a:t>
            </a:r>
            <a:r>
              <a:rPr kumimoji="0" lang="it-I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527461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B384A55-4008-DC4B-AE11-F10520737744}"/>
              </a:ext>
            </a:extLst>
          </p:cNvPr>
          <p:cNvSpPr txBox="1"/>
          <p:nvPr/>
        </p:nvSpPr>
        <p:spPr>
          <a:xfrm>
            <a:off x="2888566" y="1217159"/>
            <a:ext cx="6414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Strumenti digitali: rapporto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/post lockdown</a:t>
            </a:r>
          </a:p>
        </p:txBody>
      </p:sp>
      <p:pic>
        <p:nvPicPr>
          <p:cNvPr id="14" name="Immagine 13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4EB6FC76-61C0-9846-8674-17058499A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25EF6ECF-B0BB-0E41-899B-7C14F8FCF444}"/>
              </a:ext>
            </a:extLst>
          </p:cNvPr>
          <p:cNvSpPr txBox="1"/>
          <p:nvPr/>
        </p:nvSpPr>
        <p:spPr>
          <a:xfrm>
            <a:off x="399473" y="6304395"/>
            <a:ext cx="21145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Master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UniBo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2020</a:t>
            </a:r>
          </a:p>
        </p:txBody>
      </p:sp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230242"/>
              </p:ext>
            </p:extLst>
          </p:nvPr>
        </p:nvGraphicFramePr>
        <p:xfrm>
          <a:off x="1375091" y="1426687"/>
          <a:ext cx="9441818" cy="464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250597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E0440C-81CA-C94A-A3EC-C509495E781C}"/>
              </a:ext>
            </a:extLst>
          </p:cNvPr>
          <p:cNvSpPr txBox="1"/>
          <p:nvPr/>
        </p:nvSpPr>
        <p:spPr>
          <a:xfrm>
            <a:off x="2248362" y="1212656"/>
            <a:ext cx="7863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Strumenti digitali introdotti durante il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lockdown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pic>
        <p:nvPicPr>
          <p:cNvPr id="11" name="Immagine 10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FC14AC6F-AC45-544D-B5C0-6B1DAAB44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9FDF3E12-819F-4A8F-A102-0CA444470982}"/>
              </a:ext>
            </a:extLst>
          </p:cNvPr>
          <p:cNvGraphicFramePr>
            <a:graphicFrameLocks/>
          </p:cNvGraphicFramePr>
          <p:nvPr/>
        </p:nvGraphicFramePr>
        <p:xfrm>
          <a:off x="1453842" y="1581990"/>
          <a:ext cx="9452880" cy="4594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D945FBDA-8670-DF4B-B2E5-BFBD8DA1E42E}"/>
              </a:ext>
            </a:extLst>
          </p:cNvPr>
          <p:cNvSpPr txBox="1"/>
          <p:nvPr/>
        </p:nvSpPr>
        <p:spPr>
          <a:xfrm>
            <a:off x="399473" y="6304395"/>
            <a:ext cx="21145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Master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UniBo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482412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E30D8A1-8F91-8B4C-B265-F012A8C51EC4}"/>
              </a:ext>
            </a:extLst>
          </p:cNvPr>
          <p:cNvSpPr txBox="1"/>
          <p:nvPr/>
        </p:nvSpPr>
        <p:spPr>
          <a:xfrm>
            <a:off x="2981123" y="1183099"/>
            <a:ext cx="6229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Rapporto competenze interne/esterne in ambito digitale</a:t>
            </a:r>
          </a:p>
        </p:txBody>
      </p:sp>
      <p:pic>
        <p:nvPicPr>
          <p:cNvPr id="14" name="Immagine 13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5BB6E5AE-5C66-0C45-8370-F8D38C494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00000000-0008-0000-1300-000002000000}"/>
              </a:ext>
            </a:extLst>
          </p:cNvPr>
          <p:cNvGraphicFramePr>
            <a:graphicFrameLocks/>
          </p:cNvGraphicFramePr>
          <p:nvPr/>
        </p:nvGraphicFramePr>
        <p:xfrm>
          <a:off x="1359031" y="1679862"/>
          <a:ext cx="9473938" cy="4369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2674127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1EEB6341-8A00-DE4F-8699-096E4D0D29C4}"/>
              </a:ext>
            </a:extLst>
          </p:cNvPr>
          <p:cNvSpPr txBox="1"/>
          <p:nvPr/>
        </p:nvSpPr>
        <p:spPr>
          <a:xfrm>
            <a:off x="557958" y="1648733"/>
            <a:ext cx="5106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Bisogni formativi rilevati</a:t>
            </a:r>
          </a:p>
        </p:txBody>
      </p:sp>
      <p:cxnSp>
        <p:nvCxnSpPr>
          <p:cNvPr id="6" name="Connettore diritto 7">
            <a:extLst>
              <a:ext uri="{FF2B5EF4-FFF2-40B4-BE49-F238E27FC236}">
                <a16:creationId xmlns:a16="http://schemas.microsoft.com/office/drawing/2014/main" id="{16DB1F38-626E-1B4F-B432-71E6F69AC735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piè di pagina 3">
            <a:extLst>
              <a:ext uri="{FF2B5EF4-FFF2-40B4-BE49-F238E27FC236}">
                <a16:creationId xmlns:a16="http://schemas.microsoft.com/office/drawing/2014/main" id="{4E03F974-FDCE-9444-800A-29758284A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pic>
        <p:nvPicPr>
          <p:cNvPr id="10" name="Immagine 9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5087A031-5250-2546-926D-0B521842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58027E2-3CF0-FD4E-97F9-3F6DF5ED9EA7}"/>
              </a:ext>
            </a:extLst>
          </p:cNvPr>
          <p:cNvSpPr txBox="1"/>
          <p:nvPr/>
        </p:nvSpPr>
        <p:spPr>
          <a:xfrm>
            <a:off x="399473" y="6304395"/>
            <a:ext cx="211451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Master </a:t>
            </a:r>
            <a:r>
              <a:rPr kumimoji="0" lang="it-IT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UniBo</a:t>
            </a: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 2020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7C495DD-263B-4BCB-A371-1C4BE7299BE8}"/>
              </a:ext>
            </a:extLst>
          </p:cNvPr>
          <p:cNvSpPr txBox="1"/>
          <p:nvPr/>
        </p:nvSpPr>
        <p:spPr>
          <a:xfrm>
            <a:off x="10278922" y="5434450"/>
            <a:ext cx="41956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8F4BBA02-0662-48AA-9C4C-9D2FBDE93A67}"/>
              </a:ext>
            </a:extLst>
          </p:cNvPr>
          <p:cNvSpPr txBox="1"/>
          <p:nvPr/>
        </p:nvSpPr>
        <p:spPr>
          <a:xfrm>
            <a:off x="7604887" y="1413995"/>
            <a:ext cx="2617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Propensione all’inserimento di nuove specifiche competenze tecnologiche</a:t>
            </a:r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EEB3ADB9-DE8E-4AB7-9C73-694E2529EF4A}"/>
              </a:ext>
            </a:extLst>
          </p:cNvPr>
          <p:cNvGraphicFramePr>
            <a:graphicFrameLocks/>
          </p:cNvGraphicFramePr>
          <p:nvPr/>
        </p:nvGraphicFramePr>
        <p:xfrm>
          <a:off x="159906" y="2179146"/>
          <a:ext cx="5719784" cy="36246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Grafico 14">
            <a:extLst>
              <a:ext uri="{FF2B5EF4-FFF2-40B4-BE49-F238E27FC236}">
                <a16:creationId xmlns:a16="http://schemas.microsoft.com/office/drawing/2014/main" id="{1178A9CA-787A-4B47-903F-483F768B538B}"/>
              </a:ext>
            </a:extLst>
          </p:cNvPr>
          <p:cNvGraphicFramePr>
            <a:graphicFrameLocks/>
          </p:cNvGraphicFramePr>
          <p:nvPr/>
        </p:nvGraphicFramePr>
        <p:xfrm>
          <a:off x="6096000" y="2179146"/>
          <a:ext cx="5719784" cy="3509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45315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2666456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0C605D6-47EE-4C41-A65B-7AC300646D88}"/>
              </a:ext>
            </a:extLst>
          </p:cNvPr>
          <p:cNvSpPr txBox="1"/>
          <p:nvPr/>
        </p:nvSpPr>
        <p:spPr>
          <a:xfrm>
            <a:off x="2635429" y="1234087"/>
            <a:ext cx="6921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Propensione all’investimento economico in ambito tecnologico</a:t>
            </a:r>
          </a:p>
        </p:txBody>
      </p:sp>
      <p:pic>
        <p:nvPicPr>
          <p:cNvPr id="15" name="Immagine 14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2ECFB17B-872D-1647-B55B-A05923340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11" name="Grafico 10">
            <a:extLst>
              <a:ext uri="{FF2B5EF4-FFF2-40B4-BE49-F238E27FC236}">
                <a16:creationId xmlns:a16="http://schemas.microsoft.com/office/drawing/2014/main" id="{86496115-D314-42F0-BF96-D82ECB77D47D}"/>
              </a:ext>
            </a:extLst>
          </p:cNvPr>
          <p:cNvGraphicFramePr>
            <a:graphicFrameLocks/>
          </p:cNvGraphicFramePr>
          <p:nvPr/>
        </p:nvGraphicFramePr>
        <p:xfrm>
          <a:off x="1721797" y="1770435"/>
          <a:ext cx="9202365" cy="4279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82460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0E09278A-B0DC-4B05-B29C-B9B9FD5FCE40}"/>
              </a:ext>
            </a:extLst>
          </p:cNvPr>
          <p:cNvSpPr txBox="1"/>
          <p:nvPr/>
        </p:nvSpPr>
        <p:spPr>
          <a:xfrm>
            <a:off x="6715124" y="4988434"/>
            <a:ext cx="4173456" cy="180324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C39F134-9A7A-4907-A033-0523A89089AF}"/>
              </a:ext>
            </a:extLst>
          </p:cNvPr>
          <p:cNvSpPr txBox="1"/>
          <p:nvPr/>
        </p:nvSpPr>
        <p:spPr>
          <a:xfrm>
            <a:off x="6715124" y="4113981"/>
            <a:ext cx="3595939" cy="169260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5927AB5-A3AC-4608-8877-B01413709D0F}"/>
              </a:ext>
            </a:extLst>
          </p:cNvPr>
          <p:cNvSpPr txBox="1"/>
          <p:nvPr/>
        </p:nvSpPr>
        <p:spPr>
          <a:xfrm>
            <a:off x="6715123" y="3620333"/>
            <a:ext cx="4570497" cy="30557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E4DA769-0CA6-4A8C-9454-B107B74181CD}"/>
              </a:ext>
            </a:extLst>
          </p:cNvPr>
          <p:cNvSpPr txBox="1"/>
          <p:nvPr/>
        </p:nvSpPr>
        <p:spPr>
          <a:xfrm>
            <a:off x="6715123" y="2766436"/>
            <a:ext cx="3319213" cy="25382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E185F71-B63F-4380-821F-094923A7812F}"/>
              </a:ext>
            </a:extLst>
          </p:cNvPr>
          <p:cNvSpPr txBox="1"/>
          <p:nvPr/>
        </p:nvSpPr>
        <p:spPr>
          <a:xfrm>
            <a:off x="6715124" y="2322641"/>
            <a:ext cx="4886325" cy="276999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ＭＳ Ｐゴシック"/>
              <a:cs typeface="+mn-cs"/>
            </a:endParaRPr>
          </a:p>
        </p:txBody>
      </p:sp>
      <p:graphicFrame>
        <p:nvGraphicFramePr>
          <p:cNvPr id="13" name="Grafico 12">
            <a:extLst>
              <a:ext uri="{FF2B5EF4-FFF2-40B4-BE49-F238E27FC236}">
                <a16:creationId xmlns:a16="http://schemas.microsoft.com/office/drawing/2014/main" id="{00000000-0008-0000-1600-000005000000}"/>
              </a:ext>
            </a:extLst>
          </p:cNvPr>
          <p:cNvGraphicFramePr>
            <a:graphicFrameLocks/>
          </p:cNvGraphicFramePr>
          <p:nvPr/>
        </p:nvGraphicFramePr>
        <p:xfrm>
          <a:off x="476712" y="-247211"/>
          <a:ext cx="11407140" cy="6677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5E41130-67A7-1A45-B4A7-D7688923AD39}"/>
              </a:ext>
            </a:extLst>
          </p:cNvPr>
          <p:cNvSpPr txBox="1"/>
          <p:nvPr/>
        </p:nvSpPr>
        <p:spPr>
          <a:xfrm>
            <a:off x="3440802" y="1169437"/>
            <a:ext cx="547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Attività strategiche su cui indirizzare gli investimenti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highlight>
                <a:srgbClr val="FFFF00"/>
              </a:highlight>
              <a:uLnTx/>
              <a:uFillTx/>
              <a:latin typeface="Arial Narrow" panose="020B0604020202020204" pitchFamily="34" charset="0"/>
              <a:ea typeface="ＭＳ Ｐゴシック"/>
              <a:cs typeface="Arial Narrow" panose="020B0604020202020204" pitchFamily="34" charset="0"/>
            </a:endParaRPr>
          </a:p>
        </p:txBody>
      </p:sp>
      <p:pic>
        <p:nvPicPr>
          <p:cNvPr id="18" name="Immagine 17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F73D29F1-1426-EE49-88DF-470AACB3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11" name="Grafico 10">
            <a:extLst>
              <a:ext uri="{FF2B5EF4-FFF2-40B4-BE49-F238E27FC236}">
                <a16:creationId xmlns:a16="http://schemas.microsoft.com/office/drawing/2014/main" id="{82482320-3770-44CC-82F7-86C4428CBC99}"/>
              </a:ext>
            </a:extLst>
          </p:cNvPr>
          <p:cNvGraphicFramePr>
            <a:graphicFrameLocks/>
          </p:cNvGraphicFramePr>
          <p:nvPr/>
        </p:nvGraphicFramePr>
        <p:xfrm>
          <a:off x="1076888" y="3128554"/>
          <a:ext cx="2995781" cy="2184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228770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2020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050F56-F68D-4647-9CDE-A326D7C87055}"/>
              </a:ext>
            </a:extLst>
          </p:cNvPr>
          <p:cNvSpPr txBox="1"/>
          <p:nvPr/>
        </p:nvSpPr>
        <p:spPr>
          <a:xfrm>
            <a:off x="2104809" y="1041674"/>
            <a:ext cx="798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Servizi non attivati per dimensione museale, pre-Covid19</a:t>
            </a:r>
          </a:p>
        </p:txBody>
      </p:sp>
      <p:pic>
        <p:nvPicPr>
          <p:cNvPr id="15" name="Immagine 14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1BCA6014-90DA-224B-B9B7-275363031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D8582E7E-9720-4ECB-8437-FED48D390A44}"/>
              </a:ext>
            </a:extLst>
          </p:cNvPr>
          <p:cNvGraphicFramePr>
            <a:graphicFrameLocks/>
          </p:cNvGraphicFramePr>
          <p:nvPr/>
        </p:nvGraphicFramePr>
        <p:xfrm>
          <a:off x="1800882" y="1476992"/>
          <a:ext cx="8758800" cy="455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5B1F0366-EBEE-B944-AAFF-AC06918F16C2}"/>
              </a:ext>
            </a:extLst>
          </p:cNvPr>
          <p:cNvSpPr txBox="1"/>
          <p:nvPr/>
        </p:nvSpPr>
        <p:spPr>
          <a:xfrm>
            <a:off x="11095892" y="5486415"/>
            <a:ext cx="947949" cy="56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*Riguarda solo i «Musei, gallerie o raccolta»</a:t>
            </a:r>
          </a:p>
        </p:txBody>
      </p:sp>
    </p:spTree>
    <p:extLst>
      <p:ext uri="{BB962C8B-B14F-4D97-AF65-F5344CB8AC3E}">
        <p14:creationId xmlns:p14="http://schemas.microsoft.com/office/powerpoint/2010/main" val="33189642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ISTAT 2021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30DE12D8-D294-9F47-86F7-305C3B1CF607}"/>
              </a:ext>
            </a:extLst>
          </p:cNvPr>
          <p:cNvSpPr txBox="1"/>
          <p:nvPr/>
        </p:nvSpPr>
        <p:spPr>
          <a:xfrm>
            <a:off x="2104809" y="1066533"/>
            <a:ext cx="7982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Servizi non attivati per dimensione museale, pandemia</a:t>
            </a:r>
          </a:p>
        </p:txBody>
      </p:sp>
      <p:pic>
        <p:nvPicPr>
          <p:cNvPr id="15" name="Immagine 14" descr="Iter amministrativo articoli 186 e 187 CdS nella regione Emilia Romagna –  Patente Alcolica">
            <a:extLst>
              <a:ext uri="{FF2B5EF4-FFF2-40B4-BE49-F238E27FC236}">
                <a16:creationId xmlns:a16="http://schemas.microsoft.com/office/drawing/2014/main" id="{F190A44F-EA12-E94A-8D11-8C124CA67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rgbClr val="70AD47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8923" y="6304395"/>
            <a:ext cx="547207" cy="292360"/>
          </a:xfrm>
          <a:prstGeom prst="rect">
            <a:avLst/>
          </a:prstGeom>
          <a:noFill/>
        </p:spPr>
      </p:pic>
      <p:graphicFrame>
        <p:nvGraphicFramePr>
          <p:cNvPr id="9" name="Grafico 8">
            <a:extLst>
              <a:ext uri="{FF2B5EF4-FFF2-40B4-BE49-F238E27FC236}">
                <a16:creationId xmlns:a16="http://schemas.microsoft.com/office/drawing/2014/main" id="{00000000-0008-0000-1200-000002000000}"/>
              </a:ext>
            </a:extLst>
          </p:cNvPr>
          <p:cNvGraphicFramePr>
            <a:graphicFrameLocks/>
          </p:cNvGraphicFramePr>
          <p:nvPr/>
        </p:nvGraphicFramePr>
        <p:xfrm>
          <a:off x="1555099" y="1538885"/>
          <a:ext cx="9250365" cy="4549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709705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60611E3E-B7F2-4659-8F74-1FD8D3DFD711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Segnaposto piè di pagina 3">
            <a:extLst>
              <a:ext uri="{FF2B5EF4-FFF2-40B4-BE49-F238E27FC236}">
                <a16:creationId xmlns:a16="http://schemas.microsoft.com/office/drawing/2014/main" id="{58700E26-1D29-F74C-A57E-C51AB7CB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4F8DFF6-4D85-0240-AD1A-06A516AD923C}"/>
              </a:ext>
            </a:extLst>
          </p:cNvPr>
          <p:cNvSpPr txBox="1"/>
          <p:nvPr/>
        </p:nvSpPr>
        <p:spPr>
          <a:xfrm>
            <a:off x="399473" y="6304395"/>
            <a:ext cx="1680882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/>
                <a:cs typeface="Calibri" panose="020F0502020204030204" pitchFamily="34" charset="0"/>
              </a:rPr>
              <a:t>Fonte: ICOM 2021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92BCDF1A-94AD-8043-AA17-352177B037A7}"/>
              </a:ext>
            </a:extLst>
          </p:cNvPr>
          <p:cNvSpPr txBox="1"/>
          <p:nvPr/>
        </p:nvSpPr>
        <p:spPr>
          <a:xfrm>
            <a:off x="3760641" y="992150"/>
            <a:ext cx="4839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 Narrow" panose="020B0604020202020204" pitchFamily="34" charset="0"/>
                <a:ea typeface="ＭＳ Ｐゴシック"/>
                <a:cs typeface="Arial Narrow" panose="020B0604020202020204" pitchFamily="34" charset="0"/>
              </a:rPr>
              <a:t>Servizi non attivati per dimensione museale</a:t>
            </a:r>
          </a:p>
        </p:txBody>
      </p:sp>
      <p:pic>
        <p:nvPicPr>
          <p:cNvPr id="22" name="Elemento grafico 15" descr="Globo terrestre: Americhe con riempimento a tinta unita">
            <a:extLst>
              <a:ext uri="{FF2B5EF4-FFF2-40B4-BE49-F238E27FC236}">
                <a16:creationId xmlns:a16="http://schemas.microsoft.com/office/drawing/2014/main" id="{182C5D85-3856-AC42-8B85-92447DD7D1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7924" t="7924" r="7924" b="7924"/>
          <a:stretch/>
        </p:blipFill>
        <p:spPr>
          <a:xfrm>
            <a:off x="11624384" y="6279636"/>
            <a:ext cx="286149" cy="276995"/>
          </a:xfrm>
          <a:prstGeom prst="rect">
            <a:avLst/>
          </a:prstGeom>
        </p:spPr>
      </p:pic>
      <p:graphicFrame>
        <p:nvGraphicFramePr>
          <p:cNvPr id="10" name="Grafico 9">
            <a:extLst>
              <a:ext uri="{FF2B5EF4-FFF2-40B4-BE49-F238E27FC236}">
                <a16:creationId xmlns:a16="http://schemas.microsoft.com/office/drawing/2014/main" id="{54F636F2-988F-46D4-B46E-E80CA488D4FC}"/>
              </a:ext>
            </a:extLst>
          </p:cNvPr>
          <p:cNvGraphicFramePr>
            <a:graphicFrameLocks/>
          </p:cNvGraphicFramePr>
          <p:nvPr/>
        </p:nvGraphicFramePr>
        <p:xfrm>
          <a:off x="1470000" y="1488913"/>
          <a:ext cx="9252000" cy="455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3277411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6B854F-C480-4089-982A-5429B9383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0276" y="980506"/>
            <a:ext cx="6751447" cy="555812"/>
          </a:xfrm>
        </p:spPr>
        <p:txBody>
          <a:bodyPr anchor="ctr"/>
          <a:lstStyle/>
          <a:p>
            <a:pPr algn="ctr"/>
            <a:r>
              <a:rPr lang="it-IT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rPr>
              <a:t>Fonti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6BFCB3C6-2ED8-4995-9635-F5EF5793EC75}"/>
              </a:ext>
            </a:extLst>
          </p:cNvPr>
          <p:cNvCxnSpPr/>
          <p:nvPr/>
        </p:nvCxnSpPr>
        <p:spPr>
          <a:xfrm>
            <a:off x="0" y="6176963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piè di pagina 3">
            <a:extLst>
              <a:ext uri="{FF2B5EF4-FFF2-40B4-BE49-F238E27FC236}">
                <a16:creationId xmlns:a16="http://schemas.microsoft.com/office/drawing/2014/main" id="{4A4E0070-845B-874C-967D-3A840F07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9473" y="6304395"/>
            <a:ext cx="11561618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0" i="0" u="none" strike="noStrike" kern="1200" cap="none" spc="0" normalizeH="0" baseline="0" noProof="0">
                <a:ln>
                  <a:noFill/>
                </a:ln>
                <a:solidFill>
                  <a:srgbClr val="FF5920"/>
                </a:solidFill>
                <a:effectLst/>
                <a:uLnTx/>
                <a:uFillTx/>
                <a:latin typeface="Calibri" panose="020F0502020204030204"/>
                <a:ea typeface="ＭＳ Ｐゴシック"/>
                <a:cs typeface="+mn-cs"/>
              </a:rPr>
              <a:t>Musei e Covid19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8E7F85D0-C394-45AE-88D5-BAA4281ED3C4}"/>
              </a:ext>
            </a:extLst>
          </p:cNvPr>
          <p:cNvSpPr>
            <a:spLocks noGrp="1"/>
          </p:cNvSpPr>
          <p:nvPr/>
        </p:nvSpPr>
        <p:spPr bwMode="auto">
          <a:xfrm>
            <a:off x="654251" y="1518045"/>
            <a:ext cx="11046460" cy="4581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Assessorato Cultura e Paesaggio della Regione Emilia-Romagna 2020, Monitoraggio effetti covid-19 sui comparti cultura - Spettacolo in Emilia-Romagna.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ICOM 2021, Museums, museum professionals and Covid-19: third survey </a:t>
            </a: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https://icom.museum/wp-content/uploads/2021/07/Museums-and-Covid-19_third-ICOM-report.pdf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ISTAT 2020, I musei statali al tempo del Covid-19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https://www.istat.it/it/files//2020/05/I-musei-statali-al-tempo-del-Covid-19.pdf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ISTAT 2020, Indagine su musei e istituzioni similari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https://www.istat.it/it/archivio/251882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ISTAT 2021, Indagine su musei e istituzioni similari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https://www.istat.it/it/archivio/264586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Master </a:t>
            </a:r>
            <a:r>
              <a:rPr lang="it-IT" sz="15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UniBo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2020 (Beretta A., Di Nicola T., Lunghi S., Tanzillo M., Visintin M.), Comunicazione, tecnologie e Covid-19 negli enti museali: indagine all’interno del Master in valorizzazione turistica e gestione del patrimonio culturale, 5a ed.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https://master.unibo.it/turismoculturale/it/progetti/futurismi-le-indagini-del-master-per-capire-come-il-covid-19-ha-cambiato-il-turismo-culturale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NEMO 2021, Follow-up survey on the impact of the COVID-19 pandemic on museums in Europe: final report </a:t>
            </a: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https://www.ne-mo.org/fileadmin/Dateien/public/NEMO_documents/NEMO_COVID19_FollowUpReport_11.1.2021.pdf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Osservatorio Cultura e Creatività, Regione Emilia Romagna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https://www.emiliaromagnaosservatorioculturaecreativita.it/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Osservatorio Innovazione Digitale nei Beni e Attività Culturali 2021, L’innovazione digitale nei musei italiani nel 2021, School of Management del Politecnico di Milano: Ricerca 2020-2021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PatER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 2021, banca dati </a:t>
            </a: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https://bbcc.ibc.regione.emilia-romagna.it/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Regione Emilia-Romagna, elaborazione a cura del Settore Innovazione digitale, dati, tecnologia e polo archivistico – Area statistica della Regione Emilia-Romagna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UNESCO 2021, Museums around the world in the face of COVID-19 </a:t>
            </a:r>
            <a:r>
              <a:rPr lang="en-US" sz="1500" dirty="0">
                <a:solidFill>
                  <a:srgbClr val="000000">
                    <a:lumMod val="75000"/>
                    <a:lumOff val="25000"/>
                  </a:srgbClr>
                </a:solidFill>
                <a:latin typeface="Arial Narrow" panose="020B0604020202020204" pitchFamily="34" charset="0"/>
                <a:cs typeface="Arial Narrow" panose="020B0604020202020204" pitchFamily="34" charset="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https://unesdoc.unesco.org/ark:/48223/pf0000376729_eng</a:t>
            </a:r>
            <a:endParaRPr lang="it-IT" sz="1500" dirty="0">
              <a:solidFill>
                <a:srgbClr val="000000">
                  <a:lumMod val="75000"/>
                  <a:lumOff val="25000"/>
                </a:srgbClr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arrow" panose="020B0604020202020204" pitchFamily="34" charset="0"/>
              <a:buChar char="•"/>
              <a:tabLst>
                <a:tab pos="457200" algn="l"/>
              </a:tabLst>
              <a:defRPr/>
            </a:pPr>
            <a:endParaRPr kumimoji="0" lang="en-US" sz="1500" b="0" i="0" u="sng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Arial Narrow" panose="020B0604020202020204" pitchFamily="34" charset="0"/>
              <a:ea typeface="Times New Roman" panose="02020603050405020304" pitchFamily="18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110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zione vuota">
  <a:themeElements>
    <a:clrScheme name="Presentazione vuo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Presentazione vuot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Presentazione vuo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vuo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vuo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vuo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vuo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vuo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vuo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6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6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9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2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5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7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2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0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1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2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4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7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3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3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5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8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4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1.xml><?xml version="1.0" encoding="utf-8"?>
<a:themeOverride xmlns:a="http://schemas.openxmlformats.org/drawingml/2006/main">
  <a:clrScheme name="Presentazione vuota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ppt/theme/themeOverride5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1784</Words>
  <Application>Microsoft Macintosh PowerPoint</Application>
  <PresentationFormat>Widescreen</PresentationFormat>
  <Paragraphs>290</Paragraphs>
  <Slides>47</Slides>
  <Notes>47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47</vt:i4>
      </vt:variant>
    </vt:vector>
  </HeadingPairs>
  <TitlesOfParts>
    <vt:vector size="53" baseType="lpstr">
      <vt:lpstr>Arial</vt:lpstr>
      <vt:lpstr>Arial Narrow</vt:lpstr>
      <vt:lpstr>Calibri</vt:lpstr>
      <vt:lpstr>Calibri Light</vt:lpstr>
      <vt:lpstr>Tema di Office</vt:lpstr>
      <vt:lpstr>Presentazione vuota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Fonti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Musei e Covid19</dc:title>
  <dc:creator>Matteo Fornaciari</dc:creator>
  <cp:lastModifiedBy>Luisa Mimmi</cp:lastModifiedBy>
  <cp:revision>4</cp:revision>
  <dcterms:created xsi:type="dcterms:W3CDTF">2022-04-01T18:15:17Z</dcterms:created>
  <dcterms:modified xsi:type="dcterms:W3CDTF">2026-02-11T08:00:17Z</dcterms:modified>
</cp:coreProperties>
</file>